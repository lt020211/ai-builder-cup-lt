
<file path=[Content_Types].xml><?xml version="1.0" encoding="utf-8"?>
<Types xmlns="http://schemas.openxmlformats.org/package/2006/content-types">
  <Default Extension="svg" ContentType="image/svg+xml"/>
  <Default Extension="png" ContentType="image/png"/>
  <Default Extension="xml" ContentType="application/xml"/>
  <Default Extension="rels" ContentType="application/vnd.openxmlformats-package.relationships+xml"/>
  <Override PartName="/ppt/theme/theme2.xml" ContentType="application/vnd.openxmlformats-officedocument.theme+xml"/>
  <Override PartName="/ppt/theme/theme1.xml" ContentType="application/vnd.openxmlformats-officedocument.theme+xml"/>
  <Override PartName="/ppt/slideLayouts/slideLayout1.xml" ContentType="application/vnd.openxmlformats-officedocument.presentationml.slideLayout+xml"/>
  <Override PartName="/ppt/presentation.xml" ContentType="application/vnd.openxmlformats-officedocument.presentationml.presentation.main+xml"/>
  <Override PartName="/ppt/slides/slide9.xml" ContentType="application/vnd.openxmlformats-officedocument.presentationml.slide+xml"/>
  <Override PartName="/docProps/app.xml" ContentType="application/vnd.openxmlformats-officedocument.extended-properties+xml"/>
  <Override PartName="/ppt/slides/slide3.xml" ContentType="application/vnd.openxmlformats-officedocument.presentationml.slide+xml"/>
  <Override PartName="/docProps/core.xml" ContentType="application/vnd.openxmlformats-package.core-properties+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docProps/custom.xml" ContentType="application/vnd.openxmlformats-officedocument.custom-properties+xml"/>
  <Override PartName="/ppt/slides/slide14.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2.xml" ContentType="application/vnd.openxmlformats-officedocument.presentationml.slide+xml"/>
  <Override PartName="/ppt/slides/slide1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slides/slide4.xml" ContentType="application/vnd.openxmlformats-officedocument.presentationml.slide+xml"/>
  <Override PartName="/ppt/slides/slide1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Types>
</file>

<file path=_rels/.rels><?xml version="1.0" encoding="UTF-8" standalone="yes"?><Relationships xmlns="http://schemas.openxmlformats.org/package/2006/relationships"><Relationship Id="rId3" Type="http://schemas.openxmlformats.org/officeDocument/2006/relationships/custom-properties" Target="docProps/custom.xml" /><Relationship Id="rId2" Type="http://schemas.openxmlformats.org/officeDocument/2006/relationships/extended-properties" Target="docProps/app.xml" /><Relationship Id="rId1" Type="http://schemas.openxmlformats.org/package/2006/relationships/metadata/core-properties" Target="docProps/core.xml" /><Relationship Id="rId0" Type="http://schemas.openxmlformats.org/officeDocument/2006/relationships/officeDocument" Target="ppt/presentation.xml" /></Relationships>
</file>

<file path=ppt/presentation.xml><?xml version="1.0" encoding="utf-8"?>
<p:presentation xmlns:r="http://schemas.openxmlformats.org/officeDocument/2006/relationships" xmlns:p="http://schemas.openxmlformats.org/presentationml/2006/main" xmlns:a="http://schemas.openxmlformats.org/drawingml/2006/main" firstSlideNum="1">
  <p:sldMasterIdLst>
    <p:sldMasterId id="2147483648" r:id="rId0"/>
  </p:sldMasterIdLst>
  <p:notesMasterIdLst>
    <p:notesMasterId r:id="rId16"/>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8" Type="http://schemas.openxmlformats.org/officeDocument/2006/relationships/slide" Target="slides/slide8.xml" /><Relationship Id="rId7" Type="http://schemas.openxmlformats.org/officeDocument/2006/relationships/slide" Target="slides/slide7.xml" /><Relationship Id="rId6" Type="http://schemas.openxmlformats.org/officeDocument/2006/relationships/slide" Target="slides/slide6.xml" /><Relationship Id="rId5" Type="http://schemas.openxmlformats.org/officeDocument/2006/relationships/slide" Target="slides/slide5.xml" /><Relationship Id="rId3" Type="http://schemas.openxmlformats.org/officeDocument/2006/relationships/slide" Target="slides/slide3.xml" /><Relationship Id="rId4" Type="http://schemas.openxmlformats.org/officeDocument/2006/relationships/slide" Target="slides/slide4.xml" /><Relationship Id="rId2" Type="http://schemas.openxmlformats.org/officeDocument/2006/relationships/slide" Target="slides/slide2.xml" /><Relationship Id="rId17" Type="http://schemas.openxmlformats.org/officeDocument/2006/relationships/presProps" Target="presProps.xml" /><Relationship Id="rId18" Type="http://schemas.openxmlformats.org/officeDocument/2006/relationships/tableStyles" Target="tableStyles.xml" /><Relationship Id="rId16" Type="http://schemas.openxmlformats.org/officeDocument/2006/relationships/notesMaster" Target="notesMasters/notesMaster1.xml" /><Relationship Id="rId19" Type="http://schemas.openxmlformats.org/officeDocument/2006/relationships/viewProps" Target="viewProps.xml" /><Relationship Id="rId15" Type="http://schemas.openxmlformats.org/officeDocument/2006/relationships/slide" Target="slides/slide15.xml" /><Relationship Id="rId9" Type="http://schemas.openxmlformats.org/officeDocument/2006/relationships/slide" Target="slides/slide9.xml" /><Relationship Id="rId14" Type="http://schemas.openxmlformats.org/officeDocument/2006/relationships/slide" Target="slides/slide14.xml" /><Relationship Id="rId13" Type="http://schemas.openxmlformats.org/officeDocument/2006/relationships/slide" Target="slides/slide13.xml" /><Relationship Id="rId12" Type="http://schemas.openxmlformats.org/officeDocument/2006/relationships/slide" Target="slides/slide12.xml" /><Relationship Id="rId11" Type="http://schemas.openxmlformats.org/officeDocument/2006/relationships/slide" Target="slides/slide11.xml" /><Relationship Id="rId10" Type="http://schemas.openxmlformats.org/officeDocument/2006/relationships/slide" Target="slides/slide10.xml" /><Relationship Id="rId1" Type="http://schemas.openxmlformats.org/officeDocument/2006/relationships/slide" Target="slides/slide1.xml" /><Relationship Id="rId0" Type="http://schemas.openxmlformats.org/officeDocument/2006/relationships/slideMaster" Target="slideMasters/slideMaster1.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 /><Relationship Id="rId0" Type="http://schemas.openxmlformats.org/officeDocument/2006/relationships/slideLayout" Target="../slideLayouts/slideLayout1.xml" /></Relationships>
</file>

<file path=ppt/slideMasters/slideMaster1.xml><?xml version="1.0" encoding="utf-8"?>
<p:sldMaster xmlns:r="http://schemas.openxmlformats.org/officeDocument/2006/relationships"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svg" /><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1" Type="http://schemas.openxmlformats.org/officeDocument/2006/relationships/image" Target="media/image3.svg" /><Relationship Id="rId0" Type="http://schemas.openxmlformats.org/officeDocument/2006/relationships/slideLayout" Target="../slideLayouts/slideLayout1.xml" /></Relationships>
</file>

<file path=ppt/slides/_rels/slide4.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2" Type="http://schemas.openxmlformats.org/officeDocument/2006/relationships/image" Target="media/image7.png" /><Relationship Id="rId1" Type="http://schemas.openxmlformats.org/officeDocument/2006/relationships/image" Target="media/image6.png" /><Relationship Id="rId0"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1" Type="http://schemas.openxmlformats.org/officeDocument/2006/relationships/image" Target="media/image3.svg" /><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1" Type="http://schemas.openxmlformats.org/officeDocument/2006/relationships/image" Target="media/image8.png" /><Relationship Id="rId0" Type="http://schemas.openxmlformats.org/officeDocument/2006/relationships/slideLayout" Target="../slideLayouts/slideLayout1.xml" /></Relationships>
</file>

<file path=ppt/slides/_rels/slide8.xml.rels><?xml version="1.0" encoding="UTF-8" standalone="yes"?><Relationships xmlns="http://schemas.openxmlformats.org/package/2006/relationships"><Relationship Id="rId1" Type="http://schemas.openxmlformats.org/officeDocument/2006/relationships/image" Target="media/image9.png" /><Relationship Id="rId0" Type="http://schemas.openxmlformats.org/officeDocument/2006/relationships/slideLayout" Target="../slideLayouts/slideLayout1.xml" /></Relationships>
</file>

<file path=ppt/slides/_rels/slide9.xml.rels><?xml version="1.0" encoding="UTF-8" standalone="yes"?><Relationships xmlns="http://schemas.openxmlformats.org/package/2006/relationships"><Relationship Id="rId1" Type="http://schemas.openxmlformats.org/officeDocument/2006/relationships/image" Target="media/image10.png" /><Relationship Id="rId0" Type="http://schemas.openxmlformats.org/officeDocument/2006/relationships/slideLayout" Target="../slideLayouts/slideLayout1.xml" /></Relationships>
</file>

<file path=ppt/slides/_rels/slide10.xml.rels><?xml version="1.0" encoding="UTF-8" standalone="yes"?><Relationships xmlns="http://schemas.openxmlformats.org/package/2006/relationships"><Relationship Id="rId1" Type="http://schemas.openxmlformats.org/officeDocument/2006/relationships/image" Target="media/image2.png" /><Relationship Id="rId0" Type="http://schemas.openxmlformats.org/officeDocument/2006/relationships/slideLayout" Target="../slideLayouts/slideLayout1.xml" /></Relationships>
</file>

<file path=ppt/slides/_rels/slide11.xml.rels><?xml version="1.0" encoding="UTF-8" standalone="yes"?><Relationships xmlns="http://schemas.openxmlformats.org/package/2006/relationships"><Relationship Id="rId1" Type="http://schemas.openxmlformats.org/officeDocument/2006/relationships/image" Target="media/image3.svg" /><Relationship Id="rId0" Type="http://schemas.openxmlformats.org/officeDocument/2006/relationships/slideLayout" Target="../slideLayouts/slideLayout1.xml" /></Relationships>
</file>

<file path=ppt/slides/_rels/slide12.xml.rels><?xml version="1.0" encoding="UTF-8" standalone="yes"?><Relationships xmlns="http://schemas.openxmlformats.org/package/2006/relationships"><Relationship Id="rId1" Type="http://schemas.openxmlformats.org/officeDocument/2006/relationships/image" Target="media/image4.png" /><Relationship Id="rId0" Type="http://schemas.openxmlformats.org/officeDocument/2006/relationships/slideLayout" Target="../slideLayouts/slideLayout1.xml" /></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5.xml.rels><?xml version="1.0" encoding="UTF-8" standalone="yes"?><Relationships xmlns="http://schemas.openxmlformats.org/package/2006/relationships"><Relationship Id="rId1" Type="http://schemas.openxmlformats.org/officeDocument/2006/relationships/image" Target="media/image3.svg" /><Relationship Id="rId0" Type="http://schemas.openxmlformats.org/officeDocument/2006/relationships/slideLayout" Target="../slideLayouts/slideLayout1.xml" /></Relationships>
</file>

<file path=ppt/slides/slide1.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 name="" descr="// 01: cover, preserving the supplied dark grid and large score.&#10;const FONT = 'Inter, &quot;Helvetica Neue&quot;, Arial, sans-serif';&#10;const MONO = '&quot;JetBrains Mono&quot;, &quot;SF Mono&quot;, Menlo, monospace';&#10;const BLUE = '#2F6BFF';&#10;const DEEP = 'linear-gradient(160deg, #0B1220 0%, #131E33 62%, #0B1220 100%)';&#10;&#10;const GRID_X = [0, 71, 142, 213, 284, 355, 426, 497, 568, 639, 710, 781, 852, 923, 994, 1065, 1136];&#10;const GRID_Y = [0, 64, 128, 192, 256, 320, 384, 448, 512, 576];&#10;&#10;const STEPS = ['Detection', 'Evidence collection', 'Diagnosis and plan', 'Action and verification'];&#10;&#10;&lt;Slide style={{ width: 1280, height: 720, padding: '72px', background: DEEP, fontFamily: FONT }}&gt;&#10;    &lt;Box style={{ position: 'relative', width: 1136, height: 576 }}&gt;&#10;&#10;        &lt;Box style={{ position: 'absolute', left: 0, top: 0, width: 1136, height: 576 }}&gt;&#10;            &lt;svg width={1136} height={576} viewBox='0 0 1136 576'&gt;&#10;                {GRID_X.map((x, i) =&gt; (&#10;                    &lt;line key={'gx' + i} x1={x} y1={0} x2={x} y2={576} stroke='rgba(255,255,255,0.05)' strokeWidth={1} /&gt;&#10;                ))}&#10;                {GRID_Y.map((y, i) =&gt; (&#10;                    &lt;line key={'gy' + i} x1={0} y1={y} x2={1136} y2={y} stroke='rgba(255,255,255,0.05)' strokeWidth={1} /&gt;&#10;                ))}&#10;            &lt;/svg&gt;&#10;        &lt;/Box&gt;&#10;&#10;        &lt;Box style={{ position: 'absolute', right: 0, top: 74, width: 660, alignItems: 'flex-end' }}&gt;&#10;            &lt;Text style={{ fontFamily: MONO, fontSize: 176, fontWeight: 700, color: 'rgba(47,107,255,0.17)', lineHeight: 1.02 }}&gt;11 /&lt;/Text&gt;&#10;            &lt;Text style={{ fontFamily: MONO, fontSize: 176, fontWeight: 700, color: 'rgba(47,107,255,0.17)', lineHeight: 1.02 }}&gt;14&lt;/Text&gt;&#10;        &lt;/Box&gt;&#10;&#10;        &lt;Box style={{ position: 'relative', width: 790, height: 576, justifyContent: 'center', gap: 22 }}&gt;&#10;            &lt;Text style={{ fontFamily: MONO, fontSize: 14, color: BLUE, letterSpacing: 3 }}&gt;AI BUILDER CUP 2026, JAPAC&lt;/Text&gt;&#10;            &lt;Text style={{ fontSize: 76, fontWeight: 700, color: '#FFFFFF', lineHeight: 1.08 }}&gt;Training Failure&lt;/Text&gt;&#10;            &lt;Text style={{ fontSize: 76, fontWeight: 700, color: '#FFFFFF', lineHeight: 1.08 }}&gt;Triage&lt;/Text&gt;&#10;            &lt;Box style={{ width: 96, height: 3, background: BLUE, marginTop: 10 }} /&gt;&#10;            &lt;Text style={{ fontSize: 20, color: '#94A3B8', lineHeight: 1.62, width: 720 }}&gt;&#10;                Evidence for deciding &lt;span style={{ color: '#E2E8F0' }}&gt;whether a training failure comes from software or GPU hardware&lt;/span&gt;, with risk controls for the proposed action.&#10;            &lt;/Text&gt;&#10;            &lt;Box style={{ flexDirection: 'row', gap: 10, marginTop: 12 }}&gt;&#10;                {STEPS.map((s, i) =&gt; (&#10;                    &lt;Box key={i} style={{ paddingTop: 7, paddingBottom: 7, paddingLeft: 13, paddingRight: 13, borderRadius: 5, background: 'rgba(255,255,255,0.07)', border: '1px solid rgba(255,255,255,0.13)' }}&gt;&#10;                        &lt;Text style={{ fontSize: 14, color: '#C7D2E0' }}&gt;{s}&lt;/Text&gt;&#10;                    &lt;/Box&gt;&#10;                ))}&#10;            &lt;/Box&gt;&#10;            &lt;Text style={{ fontFamily: MONO, fontSize: 13, color: 'rgba(255,255,255,0.42)', lineHeight: 1.5, width: 720 }}&gt;&#10;                11 / 14 is the joint classification and RMA rule score on 14 constructed cases&#10;            &lt;/Text&gt;&#10;        &lt;/Box&gt;&#10;&#10;        &lt;Box style={{ position: 'absolute', left: 0, bottom: 0, width: 1136, flexDirection: 'row', justifyContent: 'space-between', alignItems: 'flex-end' }}&gt;&#10;            &lt;Text style={{ fontFamily: MONO, fontSize: 14, color: 'rgba(255,255,255,0.52)' }}&gt;gpu-waste-auditor-2026.web.app&lt;/Text&gt;&#10;            &lt;Text style={{ fontSize: 14, color: 'rgba(255,255,255,0.52)' }}&gt;Sustainability &amp;amp; Social Impact&lt;/Text&gt;&#10;        &lt;/Box&gt;&#10;&#10;    &lt;/Box&gt;&#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gradFill>
            <a:gsLst>
              <a:gs pos="0">
                <a:srgbClr val="0B1220"/>
              </a:gs>
              <a:gs pos="62000">
                <a:srgbClr val="131E33"/>
              </a:gs>
              <a:gs pos="100000">
                <a:srgbClr val="0B1220"/>
              </a:gs>
            </a:gsLst>
            <a:lin ang="4200000" scaled="1"/>
          </a:gradFill>
          <a:ln/>
        </p:spPr>
        <p:txBody>
          <a:bodyPr/>
          <a:p/>
        </p:txBody>
      </p:sp>
      <p:pic>
        <p:nvPicPr>
          <p:cNvPr id="3" name=""/>
          <p:cNvPicPr>
            <a:picLocks noChangeAspect="1"/>
          </p:cNvPicPr>
          <p:nvPr/>
        </p:nvPicPr>
        <p:blipFill>
          <a:blip>
            <a:extLst>
              <a:ext uri="{96DAC541-7B7A-43D3-8B79-37D633B846F1}">
                <asvg:svgBlip r:embed="rId1"/>
              </a:ext>
            </a:extLst>
          </a:blip>
          <a:stretch>
            <a:fillRect/>
          </a:stretch>
        </p:blipFill>
        <p:spPr>
          <a:xfrm rot="0" flipH="0" flipV="0">
            <a:off x="685800" y="685800"/>
            <a:ext cx="10820400" cy="5486400"/>
          </a:xfrm>
          <a:prstGeom prst="rect">
            <a:avLst/>
          </a:prstGeom>
          <a:ln/>
        </p:spPr>
      </p:pic>
      <p:sp>
        <p:nvSpPr>
          <p:cNvPr id="4" name="" descr="{&quot;isTemplate&quot;:true,&quot;type&quot;:&quot;text&quot;}"/>
          <p:cNvSpPr txBox="1"/>
          <p:nvPr/>
        </p:nvSpPr>
        <p:spPr>
          <a:xfrm rot="0" flipH="0" flipV="0">
            <a:off x="7467600" y="1390650"/>
            <a:ext cx="4038600" cy="2057400"/>
          </a:xfrm>
          <a:prstGeom prst="rect"/>
        </p:spPr>
        <p:txBody>
          <a:bodyPr wrap="none" lIns="0" tIns="0" rIns="0" bIns="0"/>
          <a:p>
            <a:pPr>
              <a:lnSpc>
                <a:spcPct val="102000"/>
              </a:lnSpc>
            </a:pPr>
            <a:r>
              <a:rPr lang="en-US" sz="13200" b="1">
                <a:solidFill>
                  <a:srgbClr val="2F6BFF">
                    <a:alpha val="17000"/>
                  </a:srgbClr>
                </a:solidFill>
                <a:latin typeface="JetBrains Mono"/>
                <a:ea typeface="JetBrains Mono"/>
              </a:rPr>
              <a:t>11 /</a:t>
            </a:r>
            <a:endParaRPr/>
          </a:p>
        </p:txBody>
      </p:sp>
      <p:sp>
        <p:nvSpPr>
          <p:cNvPr id="5" name="" descr="{&quot;isTemplate&quot;:true,&quot;type&quot;:&quot;text&quot;}"/>
          <p:cNvSpPr txBox="1"/>
          <p:nvPr/>
        </p:nvSpPr>
        <p:spPr>
          <a:xfrm rot="0" flipH="0" flipV="0">
            <a:off x="9486900" y="3448050"/>
            <a:ext cx="2019300" cy="2057400"/>
          </a:xfrm>
          <a:prstGeom prst="rect"/>
        </p:spPr>
        <p:txBody>
          <a:bodyPr wrap="none" lIns="0" tIns="0" rIns="0" bIns="0"/>
          <a:p>
            <a:pPr>
              <a:lnSpc>
                <a:spcPct val="102000"/>
              </a:lnSpc>
            </a:pPr>
            <a:r>
              <a:rPr lang="en-US" sz="13200" b="1">
                <a:solidFill>
                  <a:srgbClr val="2F6BFF">
                    <a:alpha val="17000"/>
                  </a:srgbClr>
                </a:solidFill>
                <a:latin typeface="JetBrains Mono"/>
                <a:ea typeface="JetBrains Mono"/>
              </a:rPr>
              <a:t>14</a:t>
            </a:r>
            <a:endParaRPr/>
          </a:p>
        </p:txBody>
      </p:sp>
      <p:sp>
        <p:nvSpPr>
          <p:cNvPr id="6" name="" descr="{&quot;isTemplate&quot;:true,&quot;type&quot;:&quot;text&quot;}"/>
          <p:cNvSpPr txBox="1"/>
          <p:nvPr/>
        </p:nvSpPr>
        <p:spPr>
          <a:xfrm rot="0" flipH="0" flipV="0">
            <a:off x="685800" y="1028700"/>
            <a:ext cx="7524750" cy="161925"/>
          </a:xfrm>
          <a:prstGeom prst="rect"/>
        </p:spPr>
        <p:txBody>
          <a:bodyPr wrap="none" lIns="0" tIns="0" rIns="0" bIns="0"/>
          <a:p>
            <a:pPr>
              <a:lnSpc>
                <a:spcPct val="100000"/>
              </a:lnSpc>
            </a:pPr>
            <a:r>
              <a:rPr lang="en-US" sz="1050" spc="225">
                <a:solidFill>
                  <a:srgbClr val="2F6BFF"/>
                </a:solidFill>
                <a:latin typeface="JetBrains Mono"/>
                <a:ea typeface="JetBrains Mono"/>
              </a:rPr>
              <a:t>AI BUILDER CUP 2026, JAPAC</a:t>
            </a:r>
            <a:endParaRPr/>
          </a:p>
        </p:txBody>
      </p:sp>
      <p:sp>
        <p:nvSpPr>
          <p:cNvPr id="7" name="" descr="{&quot;isTemplate&quot;:true,&quot;type&quot;:&quot;text&quot;}"/>
          <p:cNvSpPr txBox="1"/>
          <p:nvPr/>
        </p:nvSpPr>
        <p:spPr>
          <a:xfrm rot="0" flipH="0" flipV="0">
            <a:off x="685800" y="1400175"/>
            <a:ext cx="7524750" cy="942975"/>
          </a:xfrm>
          <a:prstGeom prst="rect"/>
        </p:spPr>
        <p:txBody>
          <a:bodyPr wrap="none" lIns="0" tIns="0" rIns="0" bIns="0"/>
          <a:p>
            <a:pPr>
              <a:lnSpc>
                <a:spcPct val="108000"/>
              </a:lnSpc>
            </a:pPr>
            <a:r>
              <a:rPr lang="en-US" sz="5700" b="1">
                <a:solidFill>
                  <a:srgbClr val="FFFFFF"/>
                </a:solidFill>
                <a:latin typeface="Inter"/>
                <a:ea typeface="Inter"/>
              </a:rPr>
              <a:t>Training Failure</a:t>
            </a:r>
            <a:endParaRPr/>
          </a:p>
        </p:txBody>
      </p:sp>
      <p:sp>
        <p:nvSpPr>
          <p:cNvPr id="8" name="" descr="{&quot;isTemplate&quot;:true,&quot;type&quot;:&quot;text&quot;}"/>
          <p:cNvSpPr txBox="1"/>
          <p:nvPr/>
        </p:nvSpPr>
        <p:spPr>
          <a:xfrm rot="0" flipH="0" flipV="0">
            <a:off x="685800" y="2552700"/>
            <a:ext cx="7524750" cy="942975"/>
          </a:xfrm>
          <a:prstGeom prst="rect"/>
        </p:spPr>
        <p:txBody>
          <a:bodyPr wrap="none" lIns="0" tIns="0" rIns="0" bIns="0"/>
          <a:p>
            <a:pPr>
              <a:lnSpc>
                <a:spcPct val="108000"/>
              </a:lnSpc>
            </a:pPr>
            <a:r>
              <a:rPr lang="en-US" sz="5700" b="1">
                <a:solidFill>
                  <a:srgbClr val="FFFFFF"/>
                </a:solidFill>
                <a:latin typeface="Inter"/>
                <a:ea typeface="Inter"/>
              </a:rPr>
              <a:t>Triage</a:t>
            </a:r>
            <a:endParaRPr/>
          </a:p>
        </p:txBody>
      </p:sp>
      <p:sp>
        <p:nvSpPr>
          <p:cNvPr id="9" name=""/>
          <p:cNvSpPr/>
          <p:nvPr/>
        </p:nvSpPr>
        <p:spPr>
          <a:xfrm rot="0" flipH="0" flipV="0">
            <a:off x="685800" y="3800475"/>
            <a:ext cx="914400" cy="28575"/>
          </a:xfrm>
          <a:prstGeom prst="rect">
            <a:avLst/>
          </a:prstGeom>
          <a:solidFill>
            <a:srgbClr val="2F6BFF"/>
          </a:solidFill>
          <a:ln/>
        </p:spPr>
        <p:txBody>
          <a:bodyPr/>
          <a:p/>
        </p:txBody>
      </p:sp>
      <p:sp>
        <p:nvSpPr>
          <p:cNvPr id="10" name="" descr="{&quot;isTemplate&quot;:true,&quot;type&quot;:&quot;text&quot;}"/>
          <p:cNvSpPr txBox="1"/>
          <p:nvPr/>
        </p:nvSpPr>
        <p:spPr>
          <a:xfrm rot="0" flipH="0" flipV="0">
            <a:off x="685800" y="4038600"/>
            <a:ext cx="6858000" cy="742950"/>
          </a:xfrm>
          <a:prstGeom prst="rect"/>
        </p:spPr>
        <p:txBody>
          <a:bodyPr wrap="square" lIns="0" tIns="0" rIns="0" bIns="0">
            <a:normAutofit/>
          </a:bodyPr>
          <a:p>
            <a:pPr>
              <a:lnSpc>
                <a:spcPct val="162000"/>
              </a:lnSpc>
            </a:pPr>
            <a:r>
              <a:rPr lang="en-US" sz="1500">
                <a:solidFill>
                  <a:srgbClr val="94A3B8"/>
                </a:solidFill>
                <a:latin typeface="Inter"/>
                <a:ea typeface="Inter"/>
              </a:rPr>
              <a:t xml:space="preserve">Evidence for deciding </a:t>
            </a:r>
            <a:r>
              <a:rPr lang="en-US" sz="1500">
                <a:solidFill>
                  <a:srgbClr val="E2E8F0"/>
                </a:solidFill>
                <a:latin typeface="Inter"/>
                <a:ea typeface="Inter"/>
              </a:rPr>
              <a:t>whether a training failure comes from software or GPU hardware</a:t>
            </a:r>
            <a:r>
              <a:rPr lang="en-US" sz="1500">
                <a:solidFill>
                  <a:srgbClr val="94A3B8"/>
                </a:solidFill>
                <a:latin typeface="Inter"/>
                <a:ea typeface="Inter"/>
              </a:rPr>
              <a:t>, with risk controls for the proposed action.</a:t>
            </a:r>
            <a:endParaRPr/>
          </a:p>
        </p:txBody>
      </p:sp>
      <p:sp>
        <p:nvSpPr>
          <p:cNvPr id="11" name=""/>
          <p:cNvSpPr/>
          <p:nvPr/>
        </p:nvSpPr>
        <p:spPr>
          <a:xfrm rot="0" flipH="0" flipV="0">
            <a:off x="685800" y="5105400"/>
            <a:ext cx="828675" cy="295275"/>
          </a:xfrm>
          <a:prstGeom prst="roundRect">
            <a:avLst>
              <a:gd name="adj" fmla="val 16129"/>
            </a:avLst>
          </a:prstGeom>
          <a:solidFill>
            <a:srgbClr val="FFFFFF">
              <a:alpha val="7000"/>
            </a:srgbClr>
          </a:solidFill>
          <a:ln w="12700">
            <a:solidFill>
              <a:srgbClr val="FFFFFF">
                <a:alpha val="13000"/>
              </a:srgbClr>
            </a:solidFill>
            <a:prstDash val="solid"/>
          </a:ln>
        </p:spPr>
        <p:txBody>
          <a:bodyPr/>
          <a:p/>
        </p:txBody>
      </p:sp>
      <p:sp>
        <p:nvSpPr>
          <p:cNvPr id="12" name="" descr="{&quot;isTemplate&quot;:true,&quot;type&quot;:&quot;text&quot;}"/>
          <p:cNvSpPr txBox="1"/>
          <p:nvPr/>
        </p:nvSpPr>
        <p:spPr>
          <a:xfrm rot="0" flipH="0" flipV="0">
            <a:off x="809625" y="5172075"/>
            <a:ext cx="581025" cy="161925"/>
          </a:xfrm>
          <a:prstGeom prst="rect"/>
        </p:spPr>
        <p:txBody>
          <a:bodyPr wrap="none" lIns="0" tIns="0" rIns="0" bIns="0"/>
          <a:p>
            <a:pPr>
              <a:lnSpc>
                <a:spcPct val="100000"/>
              </a:lnSpc>
            </a:pPr>
            <a:r>
              <a:rPr lang="en-US" sz="1050">
                <a:solidFill>
                  <a:srgbClr val="C7D2E0"/>
                </a:solidFill>
                <a:latin typeface="Inter"/>
                <a:ea typeface="Inter"/>
              </a:rPr>
              <a:t>Detection</a:t>
            </a:r>
            <a:endParaRPr/>
          </a:p>
        </p:txBody>
      </p:sp>
      <p:sp>
        <p:nvSpPr>
          <p:cNvPr id="13" name=""/>
          <p:cNvSpPr/>
          <p:nvPr/>
        </p:nvSpPr>
        <p:spPr>
          <a:xfrm rot="0" flipH="0" flipV="0">
            <a:off x="1609725" y="5105400"/>
            <a:ext cx="1409700" cy="295275"/>
          </a:xfrm>
          <a:prstGeom prst="roundRect">
            <a:avLst>
              <a:gd name="adj" fmla="val 16129"/>
            </a:avLst>
          </a:prstGeom>
          <a:solidFill>
            <a:srgbClr val="FFFFFF">
              <a:alpha val="7000"/>
            </a:srgbClr>
          </a:solidFill>
          <a:ln w="12700">
            <a:solidFill>
              <a:srgbClr val="FFFFFF">
                <a:alpha val="13000"/>
              </a:srgbClr>
            </a:solidFill>
            <a:prstDash val="solid"/>
          </a:ln>
        </p:spPr>
        <p:txBody>
          <a:bodyPr/>
          <a:p/>
        </p:txBody>
      </p:sp>
      <p:sp>
        <p:nvSpPr>
          <p:cNvPr id="14" name="" descr="{&quot;isTemplate&quot;:true,&quot;type&quot;:&quot;text&quot;}"/>
          <p:cNvSpPr txBox="1"/>
          <p:nvPr/>
        </p:nvSpPr>
        <p:spPr>
          <a:xfrm rot="0" flipH="0" flipV="0">
            <a:off x="1733550" y="5172075"/>
            <a:ext cx="1162050" cy="161925"/>
          </a:xfrm>
          <a:prstGeom prst="rect"/>
        </p:spPr>
        <p:txBody>
          <a:bodyPr wrap="none" lIns="0" tIns="0" rIns="0" bIns="0"/>
          <a:p>
            <a:pPr>
              <a:lnSpc>
                <a:spcPct val="100000"/>
              </a:lnSpc>
            </a:pPr>
            <a:r>
              <a:rPr lang="en-US" sz="1050">
                <a:solidFill>
                  <a:srgbClr val="C7D2E0"/>
                </a:solidFill>
                <a:latin typeface="Inter"/>
                <a:ea typeface="Inter"/>
              </a:rPr>
              <a:t>Evidence collection</a:t>
            </a:r>
            <a:endParaRPr/>
          </a:p>
        </p:txBody>
      </p:sp>
      <p:sp>
        <p:nvSpPr>
          <p:cNvPr id="15" name=""/>
          <p:cNvSpPr/>
          <p:nvPr/>
        </p:nvSpPr>
        <p:spPr>
          <a:xfrm rot="0" flipH="0" flipV="0">
            <a:off x="3114675" y="5105400"/>
            <a:ext cx="1390650" cy="295275"/>
          </a:xfrm>
          <a:prstGeom prst="roundRect">
            <a:avLst>
              <a:gd name="adj" fmla="val 16129"/>
            </a:avLst>
          </a:prstGeom>
          <a:solidFill>
            <a:srgbClr val="FFFFFF">
              <a:alpha val="7000"/>
            </a:srgbClr>
          </a:solidFill>
          <a:ln w="12700">
            <a:solidFill>
              <a:srgbClr val="FFFFFF">
                <a:alpha val="13000"/>
              </a:srgbClr>
            </a:solidFill>
            <a:prstDash val="solid"/>
          </a:ln>
        </p:spPr>
        <p:txBody>
          <a:bodyPr/>
          <a:p/>
        </p:txBody>
      </p:sp>
      <p:sp>
        <p:nvSpPr>
          <p:cNvPr id="16" name="" descr="{&quot;isTemplate&quot;:true,&quot;type&quot;:&quot;text&quot;}"/>
          <p:cNvSpPr txBox="1"/>
          <p:nvPr/>
        </p:nvSpPr>
        <p:spPr>
          <a:xfrm rot="0" flipH="0" flipV="0">
            <a:off x="3238500" y="5172075"/>
            <a:ext cx="1143000" cy="161925"/>
          </a:xfrm>
          <a:prstGeom prst="rect"/>
        </p:spPr>
        <p:txBody>
          <a:bodyPr wrap="none" lIns="0" tIns="0" rIns="0" bIns="0"/>
          <a:p>
            <a:pPr>
              <a:lnSpc>
                <a:spcPct val="100000"/>
              </a:lnSpc>
            </a:pPr>
            <a:r>
              <a:rPr lang="en-US" sz="1050">
                <a:solidFill>
                  <a:srgbClr val="C7D2E0"/>
                </a:solidFill>
                <a:latin typeface="Inter"/>
                <a:ea typeface="Inter"/>
              </a:rPr>
              <a:t>Diagnosis and plan</a:t>
            </a:r>
            <a:endParaRPr/>
          </a:p>
        </p:txBody>
      </p:sp>
      <p:sp>
        <p:nvSpPr>
          <p:cNvPr id="17" name=""/>
          <p:cNvSpPr/>
          <p:nvPr/>
        </p:nvSpPr>
        <p:spPr>
          <a:xfrm rot="0" flipH="0" flipV="0">
            <a:off x="4600575" y="5105400"/>
            <a:ext cx="1581150" cy="295275"/>
          </a:xfrm>
          <a:prstGeom prst="roundRect">
            <a:avLst>
              <a:gd name="adj" fmla="val 16129"/>
            </a:avLst>
          </a:prstGeom>
          <a:solidFill>
            <a:srgbClr val="FFFFFF">
              <a:alpha val="7000"/>
            </a:srgbClr>
          </a:solidFill>
          <a:ln w="12700">
            <a:solidFill>
              <a:srgbClr val="FFFFFF">
                <a:alpha val="13000"/>
              </a:srgbClr>
            </a:solidFill>
            <a:prstDash val="solid"/>
          </a:ln>
        </p:spPr>
        <p:txBody>
          <a:bodyPr/>
          <a:p/>
        </p:txBody>
      </p:sp>
      <p:sp>
        <p:nvSpPr>
          <p:cNvPr id="18" name="" descr="{&quot;isTemplate&quot;:true,&quot;type&quot;:&quot;text&quot;}"/>
          <p:cNvSpPr txBox="1"/>
          <p:nvPr/>
        </p:nvSpPr>
        <p:spPr>
          <a:xfrm rot="0" flipH="0" flipV="0">
            <a:off x="4724400" y="5172075"/>
            <a:ext cx="1333500" cy="161925"/>
          </a:xfrm>
          <a:prstGeom prst="rect"/>
        </p:spPr>
        <p:txBody>
          <a:bodyPr wrap="none" lIns="0" tIns="0" rIns="0" bIns="0"/>
          <a:p>
            <a:pPr>
              <a:lnSpc>
                <a:spcPct val="100000"/>
              </a:lnSpc>
            </a:pPr>
            <a:r>
              <a:rPr lang="en-US" sz="1050">
                <a:solidFill>
                  <a:srgbClr val="C7D2E0"/>
                </a:solidFill>
                <a:latin typeface="Inter"/>
                <a:ea typeface="Inter"/>
              </a:rPr>
              <a:t>Action and verification</a:t>
            </a:r>
            <a:endParaRPr/>
          </a:p>
        </p:txBody>
      </p:sp>
      <p:sp>
        <p:nvSpPr>
          <p:cNvPr id="19" name="" descr="{&quot;isTemplate&quot;:true,&quot;type&quot;:&quot;text&quot;}"/>
          <p:cNvSpPr txBox="1"/>
          <p:nvPr/>
        </p:nvSpPr>
        <p:spPr>
          <a:xfrm rot="0" flipH="0" flipV="0">
            <a:off x="685800" y="5610225"/>
            <a:ext cx="6858000" cy="228600"/>
          </a:xfrm>
          <a:prstGeom prst="rect"/>
        </p:spPr>
        <p:txBody>
          <a:bodyPr wrap="none" lIns="0" tIns="0" rIns="0" bIns="0"/>
          <a:p>
            <a:pPr>
              <a:lnSpc>
                <a:spcPct val="150000"/>
              </a:lnSpc>
            </a:pPr>
            <a:r>
              <a:rPr lang="en-US" sz="975">
                <a:solidFill>
                  <a:srgbClr val="FFFFFF">
                    <a:alpha val="42000"/>
                  </a:srgbClr>
                </a:solidFill>
                <a:latin typeface="JetBrains Mono"/>
                <a:ea typeface="JetBrains Mono"/>
              </a:rPr>
              <a:t>11 / 14 is the joint classification and RMA rule score on 14 constructed cases</a:t>
            </a:r>
            <a:endParaRPr/>
          </a:p>
        </p:txBody>
      </p:sp>
      <p:sp>
        <p:nvSpPr>
          <p:cNvPr id="20" name="" descr="{&quot;isTemplate&quot;:true,&quot;type&quot;:&quot;text&quot;}"/>
          <p:cNvSpPr txBox="1"/>
          <p:nvPr/>
        </p:nvSpPr>
        <p:spPr>
          <a:xfrm rot="0" flipH="0" flipV="0">
            <a:off x="685800" y="6010275"/>
            <a:ext cx="2409825" cy="161925"/>
          </a:xfrm>
          <a:prstGeom prst="rect"/>
        </p:spPr>
        <p:txBody>
          <a:bodyPr wrap="none" lIns="0" tIns="0" rIns="0" bIns="0"/>
          <a:p>
            <a:pPr>
              <a:lnSpc>
                <a:spcPct val="100000"/>
              </a:lnSpc>
            </a:pPr>
            <a:r>
              <a:rPr lang="en-US" sz="1050">
                <a:solidFill>
                  <a:srgbClr val="FFFFFF">
                    <a:alpha val="52000"/>
                  </a:srgbClr>
                </a:solidFill>
                <a:latin typeface="JetBrains Mono"/>
                <a:ea typeface="JetBrains Mono"/>
              </a:rPr>
              <a:t>gpu-waste-auditor-2026.web.app</a:t>
            </a:r>
            <a:endParaRPr/>
          </a:p>
        </p:txBody>
      </p:sp>
      <p:sp>
        <p:nvSpPr>
          <p:cNvPr id="21" name="" descr="{&quot;isTemplate&quot;:true,&quot;type&quot;:&quot;text&quot;}"/>
          <p:cNvSpPr txBox="1"/>
          <p:nvPr/>
        </p:nvSpPr>
        <p:spPr>
          <a:xfrm rot="0" flipH="0" flipV="0">
            <a:off x="9734550" y="6010275"/>
            <a:ext cx="1771650" cy="161925"/>
          </a:xfrm>
          <a:prstGeom prst="rect"/>
        </p:spPr>
        <p:txBody>
          <a:bodyPr wrap="none" lIns="0" tIns="0" rIns="0" bIns="0"/>
          <a:p>
            <a:pPr>
              <a:lnSpc>
                <a:spcPct val="100000"/>
              </a:lnSpc>
            </a:pPr>
            <a:r>
              <a:rPr lang="en-US" sz="1050">
                <a:solidFill>
                  <a:srgbClr val="FFFFFF">
                    <a:alpha val="52000"/>
                  </a:srgbClr>
                </a:solidFill>
                <a:latin typeface="Inter"/>
                <a:ea typeface="Inter"/>
              </a:rPr>
              <a:t>Sustainability &amp; Social Impact</a:t>
            </a:r>
            <a:endParaRPr/>
          </a:p>
        </p:txBody>
      </p:sp>
    </p:spTree>
  </p:cSld>
</p:sld>
</file>

<file path=ppt/slides/slide2.xml><?xml version="1.0" encoding="utf-8"?>
<p:sld xmlns:p="http://schemas.openxmlformats.org/presentationml/2006/main" xmlns:a="http://schemas.openxmlformats.org/drawingml/2006/main">
  <p:cSld>
    <p:spTree>
      <p:nvGrpSpPr>
        <p:cNvPr id="164" name="" descr="// 02: overview with three chapter rows.&#10;const FONT = 'Inter, &quot;Helvetica Neue&quot;, Arial, sans-serif';&#10;const MONO = '&quot;JetBrains Mono&quot;, &quot;SF Mono&quot;, Menlo, monospace';&#10;const INK = '#0B1220';&#10;const BLUE = '#2F6BFF';&#10;const DIM = '#64748B';&#10;&#10;const CHAPTERS = [&#10;    { no: '01', title: 'The problem', desc: 'Hardware escalation depends on error frequency and ECC trends', range: '03 - 05' },&#10;    { no: '02', title: 'Application workflow', desc: 'Cluster inspection and action approval with state verification', range: '06 - 10' },&#10;    { no: '03', title: 'Evidence and limits', desc: 'Rule baseline of 11/14 and the unsupported artifact tier', range: '11 - 15' },&#10;];&#10;&#10;&lt;Slide style={{ width: 1280, height: 720, padding: '18px 72px', background: '#FFFFFF', fontFamily: FONT }}&gt;&#10;    &lt;Box style={{ width: 1136, height: 92, flexDirection: 'row', justifyContent: 'space-between', alignItems: 'flex-end' }}&gt;&#10;        &lt;Text style={{ fontSize: 34, fontWeight: 700, color: INK, lineHeight: 1.3 }}&gt;Submission overview&lt;/Text&gt;&#10;        &lt;Text style={{ fontFamily: MONO, fontSize: 14, color: DIM, lineHeight: 1.45 }}&gt;Roadmap&lt;/Text&gt;&#10;    &lt;/Box&gt;&#10;&#10;    &lt;Box style={{ width: 1136, height: 544, flexDirection: 'row', gap: 40 }}&gt;&#10;        &lt;Box style={{ width: 340, justifyContent: 'flex-start', gap: 18 }}&gt;&#10;            &lt;Box style={{ width: 3, height: 62, background: BLUE }} /&gt;&#10;            &lt;Text style={{ fontSize: 22, fontWeight: 600, color: INK, lineHeight: 1.5 }}&gt;&#10;                Training failure diagnosis and controlled actions&#10;            &lt;/Text&gt;&#10;            &lt;Text style={{ fontSize: 16, color: DIM, lineHeight: 1.6 }}&gt;&#10;                The deck covers the Xid 94 contrast, the browser application, and a reproducible rule benchmark.&#10;                Historical patrol measurements describe individual runs.&#10;            &lt;/Text&gt;&#10;            &lt;Text style={{ fontFamily: MONO, fontSize: 14, color: DIM, lineHeight: 1.6, marginTop: 6 }}&gt;&#10;                Six simulated nodes. Human approval for medium and high risk actions.&#10;            &lt;/Text&gt;&#10;        &lt;/Box&gt;&#10;&#10;        &lt;Box style={{ width: 756 }}&gt;&#10;            {CHAPTERS.map((c, i) =&gt; (&#10;                &lt;Box key={i} style={{&#10;                    width: 756, height: 180, flexDirection: 'row', alignItems: 'center', gap: 24,&#10;                    borderBottom: i &lt; 2 ? '1px solid #E6EBF3' : 'none',&#10;                }}&gt;&#10;                    &lt;Text style={{ fontFamily: MONO, fontSize: 40, fontWeight: 700, color: BLUE, width: 74 }}&gt;{c.no}&lt;/Text&gt;&#10;                    &lt;Box style={{ flex: 1 }}&gt;&#10;                        &lt;Text style={{ fontSize: 26, fontWeight: 600, color: INK, lineHeight: 1.4 }}&gt;{c.title}&lt;/Text&gt;&#10;                        &lt;Text style={{ fontSize: 15, color: DIM, lineHeight: 1.55, marginTop: 4 }}&gt;{c.desc}&lt;/Text&gt;&#10;                    &lt;/Box&gt;&#10;                    &lt;Text style={{ fontFamily: MONO, fontSize: 14, color: DIM }}&gt;{c.range}&lt;/Text&gt;&#10;                &lt;/Box&gt;&#10;            ))}&#10;        &lt;/Box&gt;&#10;    &lt;/Box&gt;&#10;&#10;    &lt;Box style={{ width: 1136, height: 48, flexDirection: 'row', justifyContent: 'space-between', alignItems: 'center' }}&gt;&#10;        &lt;Text style={{ fontSize: 14, color: DIM }}&gt;Training Failure Triage, AI Builder Cup 2026&lt;/Text&gt;&#10;        &lt;Text style={{ fontFamily: MONO, fontSize: 14, color: DIM }}&gt;02 / 15&lt;/Text&gt;&#10;    &lt;/Box&gt;&#10;&lt;/Slide&gt;&#10;"/>
        <p:cNvGrpSpPr/>
        <p:nvPr/>
      </p:nvGrpSpPr>
      <p:grpSpPr>
        <a:xfrm>
          <a:off x="0" y="0"/>
          <a:ext cx="0" cy="0"/>
          <a:chOff x="0" y="0"/>
          <a:chExt cx="0" cy="0"/>
        </a:xfrm>
      </p:grpSpPr>
      <p:sp>
        <p:nvSpPr>
          <p:cNvPr id="165" name=""/>
          <p:cNvSpPr/>
          <p:nvPr/>
        </p:nvSpPr>
        <p:spPr>
          <a:xfrm rot="0" flipH="0" flipV="0">
            <a:off x="0" y="0"/>
            <a:ext cx="12192000" cy="6858000"/>
          </a:xfrm>
          <a:prstGeom prst="rect">
            <a:avLst/>
          </a:prstGeom>
          <a:solidFill>
            <a:srgbClr val="FFFFFF"/>
          </a:solidFill>
          <a:ln/>
        </p:spPr>
        <p:txBody>
          <a:bodyPr/>
          <a:p/>
        </p:txBody>
      </p:sp>
      <p:sp>
        <p:nvSpPr>
          <p:cNvPr id="166" name="" descr="{&quot;isTemplate&quot;:true,&quot;type&quot;:&quot;text&quot;}"/>
          <p:cNvSpPr txBox="1"/>
          <p:nvPr/>
        </p:nvSpPr>
        <p:spPr>
          <a:xfrm rot="0" flipH="0" flipV="0">
            <a:off x="685800" y="533400"/>
            <a:ext cx="3276600" cy="514350"/>
          </a:xfrm>
          <a:prstGeom prst="rect"/>
        </p:spPr>
        <p:txBody>
          <a:bodyPr wrap="none" lIns="0" tIns="0" rIns="0" bIns="0"/>
          <a:p>
            <a:pPr>
              <a:lnSpc>
                <a:spcPct val="130000"/>
              </a:lnSpc>
            </a:pPr>
            <a:r>
              <a:rPr lang="en-US" sz="2550" b="1">
                <a:solidFill>
                  <a:srgbClr val="0B1220"/>
                </a:solidFill>
                <a:latin typeface="Inter"/>
                <a:ea typeface="Inter"/>
              </a:rPr>
              <a:t>Submission overview</a:t>
            </a:r>
            <a:endParaRPr/>
          </a:p>
        </p:txBody>
      </p:sp>
      <p:sp>
        <p:nvSpPr>
          <p:cNvPr id="167" name="" descr="{&quot;isTemplate&quot;:true,&quot;type&quot;:&quot;text&quot;}"/>
          <p:cNvSpPr txBox="1"/>
          <p:nvPr/>
        </p:nvSpPr>
        <p:spPr>
          <a:xfrm rot="0" flipH="0" flipV="0">
            <a:off x="10934700" y="809625"/>
            <a:ext cx="571500" cy="238125"/>
          </a:xfrm>
          <a:prstGeom prst="rect"/>
        </p:spPr>
        <p:txBody>
          <a:bodyPr wrap="none" lIns="0" tIns="0" rIns="0" bIns="0"/>
          <a:p>
            <a:pPr>
              <a:lnSpc>
                <a:spcPct val="145000"/>
              </a:lnSpc>
            </a:pPr>
            <a:r>
              <a:rPr lang="en-US" sz="1050">
                <a:solidFill>
                  <a:srgbClr val="64748B"/>
                </a:solidFill>
                <a:latin typeface="JetBrains Mono"/>
                <a:ea typeface="JetBrains Mono"/>
              </a:rPr>
              <a:t>Roadmap</a:t>
            </a:r>
            <a:endParaRPr/>
          </a:p>
        </p:txBody>
      </p:sp>
      <p:sp>
        <p:nvSpPr>
          <p:cNvPr id="168" name=""/>
          <p:cNvSpPr/>
          <p:nvPr/>
        </p:nvSpPr>
        <p:spPr>
          <a:xfrm rot="0" flipH="0" flipV="0">
            <a:off x="685800" y="1047750"/>
            <a:ext cx="28575" cy="590550"/>
          </a:xfrm>
          <a:prstGeom prst="rect">
            <a:avLst/>
          </a:prstGeom>
          <a:solidFill>
            <a:srgbClr val="2F6BFF"/>
          </a:solidFill>
          <a:ln/>
        </p:spPr>
        <p:txBody>
          <a:bodyPr/>
          <a:p/>
        </p:txBody>
      </p:sp>
      <p:sp>
        <p:nvSpPr>
          <p:cNvPr id="169" name="" descr="{&quot;isTemplate&quot;:true,&quot;type&quot;:&quot;text&quot;}"/>
          <p:cNvSpPr txBox="1"/>
          <p:nvPr/>
        </p:nvSpPr>
        <p:spPr>
          <a:xfrm rot="0" flipH="0" flipV="0">
            <a:off x="685800" y="1809750"/>
            <a:ext cx="3238500" cy="762000"/>
          </a:xfrm>
          <a:prstGeom prst="rect"/>
        </p:spPr>
        <p:txBody>
          <a:bodyPr wrap="square" lIns="0" tIns="0" rIns="0" bIns="0">
            <a:normAutofit/>
          </a:bodyPr>
          <a:p>
            <a:pPr>
              <a:lnSpc>
                <a:spcPct val="150000"/>
              </a:lnSpc>
            </a:pPr>
            <a:r>
              <a:rPr lang="en-US" sz="1650" b="1">
                <a:solidFill>
                  <a:srgbClr val="0B1220"/>
                </a:solidFill>
                <a:latin typeface="Inter"/>
                <a:ea typeface="Inter"/>
              </a:rPr>
              <a:t>Training failure diagnosis and controlled actions</a:t>
            </a:r>
            <a:endParaRPr/>
          </a:p>
        </p:txBody>
      </p:sp>
      <p:sp>
        <p:nvSpPr>
          <p:cNvPr id="170" name="" descr="{&quot;isTemplate&quot;:true,&quot;type&quot;:&quot;text&quot;}"/>
          <p:cNvSpPr txBox="1"/>
          <p:nvPr/>
        </p:nvSpPr>
        <p:spPr>
          <a:xfrm rot="0" flipH="0" flipV="0">
            <a:off x="685800" y="2743200"/>
            <a:ext cx="3238500" cy="1171575"/>
          </a:xfrm>
          <a:prstGeom prst="rect"/>
        </p:spPr>
        <p:txBody>
          <a:bodyPr wrap="square" lIns="0" tIns="0" rIns="0" bIns="0">
            <a:normAutofit/>
          </a:bodyPr>
          <a:p>
            <a:pPr>
              <a:lnSpc>
                <a:spcPct val="160000"/>
              </a:lnSpc>
            </a:pPr>
            <a:r>
              <a:rPr lang="en-US" sz="1200">
                <a:solidFill>
                  <a:srgbClr val="64748B"/>
                </a:solidFill>
                <a:latin typeface="Inter"/>
                <a:ea typeface="Inter"/>
              </a:rPr>
              <a:t>The deck covers the Xid 94 contrast, the browser application, and a reproducible rule benchmark. Historical patrol measurements describe individual runs.</a:t>
            </a:r>
            <a:endParaRPr/>
          </a:p>
        </p:txBody>
      </p:sp>
      <p:sp>
        <p:nvSpPr>
          <p:cNvPr id="171" name="" descr="{&quot;isTemplate&quot;:true,&quot;type&quot;:&quot;text&quot;}"/>
          <p:cNvSpPr txBox="1"/>
          <p:nvPr/>
        </p:nvSpPr>
        <p:spPr>
          <a:xfrm rot="0" flipH="0" flipV="0">
            <a:off x="685800" y="4143375"/>
            <a:ext cx="3238500" cy="514350"/>
          </a:xfrm>
          <a:prstGeom prst="rect"/>
        </p:spPr>
        <p:txBody>
          <a:bodyPr wrap="square" lIns="0" tIns="0" rIns="0" bIns="0">
            <a:normAutofit/>
          </a:bodyPr>
          <a:p>
            <a:pPr>
              <a:lnSpc>
                <a:spcPct val="160000"/>
              </a:lnSpc>
            </a:pPr>
            <a:r>
              <a:rPr lang="en-US" sz="1050">
                <a:solidFill>
                  <a:srgbClr val="64748B"/>
                </a:solidFill>
                <a:latin typeface="JetBrains Mono"/>
                <a:ea typeface="JetBrains Mono"/>
              </a:rPr>
              <a:t>Six simulated nodes. Human approval for medium and high risk actions.</a:t>
            </a:r>
            <a:endParaRPr/>
          </a:p>
        </p:txBody>
      </p:sp>
      <p:sp>
        <p:nvSpPr>
          <p:cNvPr id="172" name=""/>
          <p:cNvSpPr/>
          <p:nvPr/>
        </p:nvSpPr>
        <p:spPr>
          <a:xfrm rot="0" flipH="0" flipV="0">
            <a:off x="4305300" y="1047750"/>
            <a:ext cx="7200900" cy="1714500"/>
          </a:xfrm>
          <a:custGeom>
            <a:pathLst>
              <a:path w="756" h="180">
                <a:moveTo>
                  <a:pt x="0" y="179"/>
                </a:moveTo>
                <a:lnTo>
                  <a:pt x="756" y="179"/>
                </a:lnTo>
                <a:lnTo>
                  <a:pt x="756" y="180"/>
                </a:lnTo>
                <a:lnTo>
                  <a:pt x="0" y="180"/>
                </a:lnTo>
                <a:close/>
              </a:path>
            </a:pathLst>
          </a:custGeom>
          <a:solidFill>
            <a:srgbClr val="E6EBF3"/>
          </a:solidFill>
          <a:ln/>
        </p:spPr>
        <p:txBody>
          <a:bodyPr/>
          <a:p/>
        </p:txBody>
      </p:sp>
      <p:sp>
        <p:nvSpPr>
          <p:cNvPr id="173" name="" descr="{&quot;isTemplate&quot;:true,&quot;type&quot;:&quot;text&quot;}"/>
          <p:cNvSpPr txBox="1"/>
          <p:nvPr/>
        </p:nvSpPr>
        <p:spPr>
          <a:xfrm rot="0" flipH="0" flipV="0">
            <a:off x="4305300" y="1676400"/>
            <a:ext cx="704850" cy="457200"/>
          </a:xfrm>
          <a:prstGeom prst="rect"/>
        </p:spPr>
        <p:txBody>
          <a:bodyPr wrap="none" lIns="0" tIns="0" rIns="0" bIns="0"/>
          <a:p>
            <a:pPr>
              <a:lnSpc>
                <a:spcPct val="100000"/>
              </a:lnSpc>
            </a:pPr>
            <a:r>
              <a:rPr lang="en-US" sz="3000" b="1">
                <a:solidFill>
                  <a:srgbClr val="2F6BFF"/>
                </a:solidFill>
                <a:latin typeface="JetBrains Mono"/>
                <a:ea typeface="JetBrains Mono"/>
              </a:rPr>
              <a:t>01</a:t>
            </a:r>
            <a:endParaRPr/>
          </a:p>
        </p:txBody>
      </p:sp>
      <p:sp>
        <p:nvSpPr>
          <p:cNvPr id="174" name="" descr="{&quot;isTemplate&quot;:true,&quot;type&quot;:&quot;text&quot;}"/>
          <p:cNvSpPr txBox="1"/>
          <p:nvPr/>
        </p:nvSpPr>
        <p:spPr>
          <a:xfrm rot="0" flipH="0" flipV="0">
            <a:off x="5238750" y="1543050"/>
            <a:ext cx="5467350" cy="419100"/>
          </a:xfrm>
          <a:prstGeom prst="rect"/>
        </p:spPr>
        <p:txBody>
          <a:bodyPr wrap="none" lIns="0" tIns="0" rIns="0" bIns="0"/>
          <a:p>
            <a:pPr>
              <a:lnSpc>
                <a:spcPct val="140000"/>
              </a:lnSpc>
            </a:pPr>
            <a:r>
              <a:rPr lang="en-US" sz="1950" b="1">
                <a:solidFill>
                  <a:srgbClr val="0B1220"/>
                </a:solidFill>
                <a:latin typeface="Inter"/>
                <a:ea typeface="Inter"/>
              </a:rPr>
              <a:t>The problem</a:t>
            </a:r>
            <a:endParaRPr/>
          </a:p>
        </p:txBody>
      </p:sp>
      <p:sp>
        <p:nvSpPr>
          <p:cNvPr id="175" name="" descr="{&quot;isTemplate&quot;:true,&quot;type&quot;:&quot;text&quot;}"/>
          <p:cNvSpPr txBox="1"/>
          <p:nvPr/>
        </p:nvSpPr>
        <p:spPr>
          <a:xfrm rot="0" flipH="0" flipV="0">
            <a:off x="5238750" y="2000250"/>
            <a:ext cx="5467350" cy="266700"/>
          </a:xfrm>
          <a:prstGeom prst="rect"/>
        </p:spPr>
        <p:txBody>
          <a:bodyPr wrap="none" lIns="0" tIns="0" rIns="0" bIns="0"/>
          <a:p>
            <a:pPr>
              <a:lnSpc>
                <a:spcPct val="155000"/>
              </a:lnSpc>
            </a:pPr>
            <a:r>
              <a:rPr lang="en-US" sz="1125">
                <a:solidFill>
                  <a:srgbClr val="64748B"/>
                </a:solidFill>
                <a:latin typeface="Inter"/>
                <a:ea typeface="Inter"/>
              </a:rPr>
              <a:t>Hardware escalation depends on error frequency and ECC trends</a:t>
            </a:r>
            <a:endParaRPr/>
          </a:p>
        </p:txBody>
      </p:sp>
      <p:sp>
        <p:nvSpPr>
          <p:cNvPr id="176" name="" descr="{&quot;isTemplate&quot;:true,&quot;type&quot;:&quot;text&quot;}"/>
          <p:cNvSpPr txBox="1"/>
          <p:nvPr/>
        </p:nvSpPr>
        <p:spPr>
          <a:xfrm rot="0" flipH="0" flipV="0">
            <a:off x="10934700" y="1819275"/>
            <a:ext cx="571500" cy="161925"/>
          </a:xfrm>
          <a:prstGeom prst="rect"/>
        </p:spPr>
        <p:txBody>
          <a:bodyPr wrap="none" lIns="0" tIns="0" rIns="0" bIns="0"/>
          <a:p>
            <a:pPr>
              <a:lnSpc>
                <a:spcPct val="100000"/>
              </a:lnSpc>
            </a:pPr>
            <a:r>
              <a:rPr lang="en-US" sz="1050">
                <a:solidFill>
                  <a:srgbClr val="64748B"/>
                </a:solidFill>
                <a:latin typeface="JetBrains Mono"/>
                <a:ea typeface="JetBrains Mono"/>
              </a:rPr>
              <a:t>03 - 05</a:t>
            </a:r>
            <a:endParaRPr/>
          </a:p>
        </p:txBody>
      </p:sp>
      <p:sp>
        <p:nvSpPr>
          <p:cNvPr id="177" name=""/>
          <p:cNvSpPr/>
          <p:nvPr/>
        </p:nvSpPr>
        <p:spPr>
          <a:xfrm rot="0" flipH="0" flipV="0">
            <a:off x="4305300" y="2762250"/>
            <a:ext cx="7200900" cy="1714500"/>
          </a:xfrm>
          <a:custGeom>
            <a:pathLst>
              <a:path w="756" h="180">
                <a:moveTo>
                  <a:pt x="0" y="179"/>
                </a:moveTo>
                <a:lnTo>
                  <a:pt x="756" y="179"/>
                </a:lnTo>
                <a:lnTo>
                  <a:pt x="756" y="180"/>
                </a:lnTo>
                <a:lnTo>
                  <a:pt x="0" y="180"/>
                </a:lnTo>
                <a:close/>
              </a:path>
            </a:pathLst>
          </a:custGeom>
          <a:solidFill>
            <a:srgbClr val="E6EBF3"/>
          </a:solidFill>
          <a:ln/>
        </p:spPr>
        <p:txBody>
          <a:bodyPr/>
          <a:p/>
        </p:txBody>
      </p:sp>
      <p:sp>
        <p:nvSpPr>
          <p:cNvPr id="178" name="" descr="{&quot;isTemplate&quot;:true,&quot;type&quot;:&quot;text&quot;}"/>
          <p:cNvSpPr txBox="1"/>
          <p:nvPr/>
        </p:nvSpPr>
        <p:spPr>
          <a:xfrm rot="0" flipH="0" flipV="0">
            <a:off x="4305300" y="3390900"/>
            <a:ext cx="704850" cy="457200"/>
          </a:xfrm>
          <a:prstGeom prst="rect"/>
        </p:spPr>
        <p:txBody>
          <a:bodyPr wrap="none" lIns="0" tIns="0" rIns="0" bIns="0"/>
          <a:p>
            <a:pPr>
              <a:lnSpc>
                <a:spcPct val="100000"/>
              </a:lnSpc>
            </a:pPr>
            <a:r>
              <a:rPr lang="en-US" sz="3000" b="1">
                <a:solidFill>
                  <a:srgbClr val="2F6BFF"/>
                </a:solidFill>
                <a:latin typeface="JetBrains Mono"/>
                <a:ea typeface="JetBrains Mono"/>
              </a:rPr>
              <a:t>02</a:t>
            </a:r>
            <a:endParaRPr/>
          </a:p>
        </p:txBody>
      </p:sp>
      <p:sp>
        <p:nvSpPr>
          <p:cNvPr id="179" name="" descr="{&quot;isTemplate&quot;:true,&quot;type&quot;:&quot;text&quot;}"/>
          <p:cNvSpPr txBox="1"/>
          <p:nvPr/>
        </p:nvSpPr>
        <p:spPr>
          <a:xfrm rot="0" flipH="0" flipV="0">
            <a:off x="5238750" y="3257550"/>
            <a:ext cx="5467350" cy="419100"/>
          </a:xfrm>
          <a:prstGeom prst="rect"/>
        </p:spPr>
        <p:txBody>
          <a:bodyPr wrap="none" lIns="0" tIns="0" rIns="0" bIns="0"/>
          <a:p>
            <a:pPr>
              <a:lnSpc>
                <a:spcPct val="140000"/>
              </a:lnSpc>
            </a:pPr>
            <a:r>
              <a:rPr lang="en-US" sz="1950" b="1">
                <a:solidFill>
                  <a:srgbClr val="0B1220"/>
                </a:solidFill>
                <a:latin typeface="Inter"/>
                <a:ea typeface="Inter"/>
              </a:rPr>
              <a:t>Application workflow</a:t>
            </a:r>
            <a:endParaRPr/>
          </a:p>
        </p:txBody>
      </p:sp>
      <p:sp>
        <p:nvSpPr>
          <p:cNvPr id="180" name="" descr="{&quot;isTemplate&quot;:true,&quot;type&quot;:&quot;text&quot;}"/>
          <p:cNvSpPr txBox="1"/>
          <p:nvPr/>
        </p:nvSpPr>
        <p:spPr>
          <a:xfrm rot="0" flipH="0" flipV="0">
            <a:off x="5238750" y="3714750"/>
            <a:ext cx="5467350" cy="266700"/>
          </a:xfrm>
          <a:prstGeom prst="rect"/>
        </p:spPr>
        <p:txBody>
          <a:bodyPr wrap="none" lIns="0" tIns="0" rIns="0" bIns="0"/>
          <a:p>
            <a:pPr>
              <a:lnSpc>
                <a:spcPct val="155000"/>
              </a:lnSpc>
            </a:pPr>
            <a:r>
              <a:rPr lang="en-US" sz="1125">
                <a:solidFill>
                  <a:srgbClr val="64748B"/>
                </a:solidFill>
                <a:latin typeface="Inter"/>
                <a:ea typeface="Inter"/>
              </a:rPr>
              <a:t>Cluster inspection and action approval with state verification</a:t>
            </a:r>
            <a:endParaRPr/>
          </a:p>
        </p:txBody>
      </p:sp>
      <p:sp>
        <p:nvSpPr>
          <p:cNvPr id="181" name="" descr="{&quot;isTemplate&quot;:true,&quot;type&quot;:&quot;text&quot;}"/>
          <p:cNvSpPr txBox="1"/>
          <p:nvPr/>
        </p:nvSpPr>
        <p:spPr>
          <a:xfrm rot="0" flipH="0" flipV="0">
            <a:off x="10934700" y="3533775"/>
            <a:ext cx="571500" cy="161925"/>
          </a:xfrm>
          <a:prstGeom prst="rect"/>
        </p:spPr>
        <p:txBody>
          <a:bodyPr wrap="none" lIns="0" tIns="0" rIns="0" bIns="0"/>
          <a:p>
            <a:pPr>
              <a:lnSpc>
                <a:spcPct val="100000"/>
              </a:lnSpc>
            </a:pPr>
            <a:r>
              <a:rPr lang="en-US" sz="1050">
                <a:solidFill>
                  <a:srgbClr val="64748B"/>
                </a:solidFill>
                <a:latin typeface="JetBrains Mono"/>
                <a:ea typeface="JetBrains Mono"/>
              </a:rPr>
              <a:t>06 - 10</a:t>
            </a:r>
            <a:endParaRPr/>
          </a:p>
        </p:txBody>
      </p:sp>
      <p:sp>
        <p:nvSpPr>
          <p:cNvPr id="182" name="" descr="{&quot;isTemplate&quot;:true,&quot;type&quot;:&quot;text&quot;}"/>
          <p:cNvSpPr txBox="1"/>
          <p:nvPr/>
        </p:nvSpPr>
        <p:spPr>
          <a:xfrm rot="0" flipH="0" flipV="0">
            <a:off x="4305300" y="5105400"/>
            <a:ext cx="704850" cy="457200"/>
          </a:xfrm>
          <a:prstGeom prst="rect"/>
        </p:spPr>
        <p:txBody>
          <a:bodyPr wrap="none" lIns="0" tIns="0" rIns="0" bIns="0"/>
          <a:p>
            <a:pPr>
              <a:lnSpc>
                <a:spcPct val="100000"/>
              </a:lnSpc>
            </a:pPr>
            <a:r>
              <a:rPr lang="en-US" sz="3000" b="1">
                <a:solidFill>
                  <a:srgbClr val="2F6BFF"/>
                </a:solidFill>
                <a:latin typeface="JetBrains Mono"/>
                <a:ea typeface="JetBrains Mono"/>
              </a:rPr>
              <a:t>03</a:t>
            </a:r>
            <a:endParaRPr/>
          </a:p>
        </p:txBody>
      </p:sp>
      <p:sp>
        <p:nvSpPr>
          <p:cNvPr id="183" name="" descr="{&quot;isTemplate&quot;:true,&quot;type&quot;:&quot;text&quot;}"/>
          <p:cNvSpPr txBox="1"/>
          <p:nvPr/>
        </p:nvSpPr>
        <p:spPr>
          <a:xfrm rot="0" flipH="0" flipV="0">
            <a:off x="5238750" y="4972050"/>
            <a:ext cx="5467350" cy="419100"/>
          </a:xfrm>
          <a:prstGeom prst="rect"/>
        </p:spPr>
        <p:txBody>
          <a:bodyPr wrap="none" lIns="0" tIns="0" rIns="0" bIns="0"/>
          <a:p>
            <a:pPr>
              <a:lnSpc>
                <a:spcPct val="140000"/>
              </a:lnSpc>
            </a:pPr>
            <a:r>
              <a:rPr lang="en-US" sz="1950" b="1">
                <a:solidFill>
                  <a:srgbClr val="0B1220"/>
                </a:solidFill>
                <a:latin typeface="Inter"/>
                <a:ea typeface="Inter"/>
              </a:rPr>
              <a:t>Evidence and limits</a:t>
            </a:r>
            <a:endParaRPr/>
          </a:p>
        </p:txBody>
      </p:sp>
      <p:sp>
        <p:nvSpPr>
          <p:cNvPr id="184" name="" descr="{&quot;isTemplate&quot;:true,&quot;type&quot;:&quot;text&quot;}"/>
          <p:cNvSpPr txBox="1"/>
          <p:nvPr/>
        </p:nvSpPr>
        <p:spPr>
          <a:xfrm rot="0" flipH="0" flipV="0">
            <a:off x="5238750" y="5429250"/>
            <a:ext cx="5467350" cy="266700"/>
          </a:xfrm>
          <a:prstGeom prst="rect"/>
        </p:spPr>
        <p:txBody>
          <a:bodyPr wrap="none" lIns="0" tIns="0" rIns="0" bIns="0"/>
          <a:p>
            <a:pPr>
              <a:lnSpc>
                <a:spcPct val="155000"/>
              </a:lnSpc>
            </a:pPr>
            <a:r>
              <a:rPr lang="en-US" sz="1125">
                <a:solidFill>
                  <a:srgbClr val="64748B"/>
                </a:solidFill>
                <a:latin typeface="Inter"/>
                <a:ea typeface="Inter"/>
              </a:rPr>
              <a:t>Rule baseline of 11/14 and the unsupported artifact tier</a:t>
            </a:r>
            <a:endParaRPr/>
          </a:p>
        </p:txBody>
      </p:sp>
      <p:sp>
        <p:nvSpPr>
          <p:cNvPr id="185" name="" descr="{&quot;isTemplate&quot;:true,&quot;type&quot;:&quot;text&quot;}"/>
          <p:cNvSpPr txBox="1"/>
          <p:nvPr/>
        </p:nvSpPr>
        <p:spPr>
          <a:xfrm rot="0" flipH="0" flipV="0">
            <a:off x="10934700" y="5257800"/>
            <a:ext cx="571500" cy="161925"/>
          </a:xfrm>
          <a:prstGeom prst="rect"/>
        </p:spPr>
        <p:txBody>
          <a:bodyPr wrap="none" lIns="0" tIns="0" rIns="0" bIns="0"/>
          <a:p>
            <a:pPr>
              <a:lnSpc>
                <a:spcPct val="100000"/>
              </a:lnSpc>
            </a:pPr>
            <a:r>
              <a:rPr lang="en-US" sz="1050">
                <a:solidFill>
                  <a:srgbClr val="64748B"/>
                </a:solidFill>
                <a:latin typeface="JetBrains Mono"/>
                <a:ea typeface="JetBrains Mono"/>
              </a:rPr>
              <a:t>11 - 15</a:t>
            </a:r>
            <a:endParaRPr/>
          </a:p>
        </p:txBody>
      </p:sp>
      <p:sp>
        <p:nvSpPr>
          <p:cNvPr id="186" name="" descr="{&quot;isTemplate&quot;:true,&quot;type&quot;:&quot;text&quot;}"/>
          <p:cNvSpPr txBox="1"/>
          <p:nvPr/>
        </p:nvSpPr>
        <p:spPr>
          <a:xfrm rot="0" flipH="0" flipV="0">
            <a:off x="685800" y="6381750"/>
            <a:ext cx="2571750" cy="161925"/>
          </a:xfrm>
          <a:prstGeom prst="rect"/>
        </p:spPr>
        <p:txBody>
          <a:bodyPr wrap="none" lIns="0" tIns="0" rIns="0" bIns="0"/>
          <a:p>
            <a:pPr>
              <a:lnSpc>
                <a:spcPct val="100000"/>
              </a:lnSpc>
            </a:pPr>
            <a:r>
              <a:rPr lang="en-US" sz="1050">
                <a:solidFill>
                  <a:srgbClr val="64748B"/>
                </a:solidFill>
                <a:latin typeface="Inter"/>
                <a:ea typeface="Inter"/>
              </a:rPr>
              <a:t>Training Failure Triage, AI Builder Cup 2026</a:t>
            </a:r>
            <a:endParaRPr/>
          </a:p>
        </p:txBody>
      </p:sp>
      <p:sp>
        <p:nvSpPr>
          <p:cNvPr id="187" name="" descr="{&quot;isTemplate&quot;:true,&quot;type&quot;:&quot;text&quot;}"/>
          <p:cNvSpPr txBox="1"/>
          <p:nvPr/>
        </p:nvSpPr>
        <p:spPr>
          <a:xfrm rot="0" flipH="0" flipV="0">
            <a:off x="10934700" y="6381750"/>
            <a:ext cx="571500" cy="161925"/>
          </a:xfrm>
          <a:prstGeom prst="rect"/>
        </p:spPr>
        <p:txBody>
          <a:bodyPr wrap="none" lIns="0" tIns="0" rIns="0" bIns="0"/>
          <a:p>
            <a:pPr>
              <a:lnSpc>
                <a:spcPct val="100000"/>
              </a:lnSpc>
            </a:pPr>
            <a:r>
              <a:rPr lang="en-US" sz="1050">
                <a:solidFill>
                  <a:srgbClr val="64748B"/>
                </a:solidFill>
                <a:latin typeface="JetBrains Mono"/>
                <a:ea typeface="JetBrains Mono"/>
              </a:rPr>
              <a:t>02 / 15</a:t>
            </a:r>
            <a:endParaRPr/>
          </a:p>
        </p:txBody>
      </p:sp>
    </p:spTree>
  </p:cSld>
</p:sld>
</file>

<file path=ppt/slides/slide3.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88" name="" descr="// 03: problem section, preserving the large Xid 94.&#10;const FONT = 'Inter, &quot;Helvetica Neue&quot;, Arial, sans-serif';&#10;const MONO = '&quot;JetBrains Mono&quot;, &quot;SF Mono&quot;, Menlo, monospace';&#10;const BLUE = '#2F6BFF';&#10;const DEEP = 'linear-gradient(160deg, #0B1220 0%, #131E33 62%, #0B1220 100%)';&#10;&#10;const GRID_X = [0, 71, 142, 213, 284, 355, 426, 497, 568, 639, 710, 781, 852, 923, 994, 1065, 1136];&#10;const GRID_Y = [0, 64, 128, 192, 256, 320, 384, 448, 512, 576];&#10;&#10;&lt;Slide style={{ width: 1280, height: 720, padding: '72px', background: DEEP, fontFamily: FONT }}&gt;&#10;    &lt;Box style={{ position: 'relative', width: 1136, height: 576 }}&gt;&#10;&#10;        &lt;Box style={{ position: 'absolute', left: 0, top: 0, width: 1136, height: 576 }}&gt;&#10;            &lt;svg width={1136} height={576} viewBox='0 0 1136 576'&gt;&#10;                {GRID_X.map((x, i) =&gt; (&#10;                    &lt;line key={'gx' + i} x1={x} y1={0} x2={x} y2={576} stroke='rgba(255,255,255,0.045)' strokeWidth={1} /&gt;&#10;                ))}&#10;                {GRID_Y.map((y, i) =&gt; (&#10;                    &lt;line key={'gy' + i} x1={0} y1={y} x2={1136} y2={y} stroke='rgba(255,255,255,0.045)' strokeWidth={1} /&gt;&#10;                ))}&#10;            &lt;/svg&gt;&#10;        &lt;/Box&gt;&#10;&#10;        &lt;Box style={{ position: 'absolute', right: 0, top: 118, width: 620, alignItems: 'flex-end' }}&gt;&#10;            &lt;Text style={{ fontFamily: MONO, fontSize: 300, fontWeight: 700, color: 'rgba(229,72,77,0.15)', lineHeight: 1 }}&gt;94&lt;/Text&gt;&#10;        &lt;/Box&gt;&#10;&#10;        &lt;Box style={{ position: 'relative', width: 820, height: 576, justifyContent: 'center', gap: 18 }}&gt;&#10;            &lt;Text style={{ fontFamily: MONO, fontSize: 14, color: BLUE, letterSpacing: 3 }}&gt;CHAPTER 01&lt;/Text&gt;&#10;            &lt;Text style={{ fontSize: 64, fontWeight: 700, color: '#FFFFFF', lineHeight: 1.1 }}&gt;The problem&lt;/Text&gt;&#10;            &lt;Text style={{ fontSize: 24, color: '#94A3B8', lineHeight: 1.5 }}&gt;Hardware escalation after a training failure&lt;/Text&gt;&#10;            &lt;Box style={{ width: 88, height: 3, background: 'rgba(255,255,255,0.28)', marginTop: 14 }} /&gt;&#10;            &lt;Text style={{ fontSize: 18, color: '#C7D2E0', lineHeight: 1.65, width: 760 }}&gt;&#10;                Unnecessary repair removes a working GPU from the pool. Missed hardware deterioration can&#10;                cause repeated training failures. Error frequency and ECC history help distinguish these cases.&#10;            &lt;/Text&gt;&#10;        &lt;/Box&gt;&#10;&#10;        &lt;Box style={{ position: 'absolute', left: 0, bottom: 0, width: 1136, flexDirection: 'row', justifyContent: 'flex-end' }}&gt;&#10;            &lt;Text style={{ fontFamily: MONO, fontSize: 14, color: 'rgba(255,255,255,0.45)' }}&gt;03 / 15&lt;/Text&gt;&#10;        &lt;/Box&gt;&#10;&#10;    &lt;/Box&gt;&#10;&lt;/Slide&gt;&#10;"/>
        <p:cNvGrpSpPr/>
        <p:nvPr/>
      </p:nvGrpSpPr>
      <p:grpSpPr>
        <a:xfrm>
          <a:off x="0" y="0"/>
          <a:ext cx="0" cy="0"/>
          <a:chOff x="0" y="0"/>
          <a:chExt cx="0" cy="0"/>
        </a:xfrm>
      </p:grpSpPr>
      <p:sp>
        <p:nvSpPr>
          <p:cNvPr id="189" name=""/>
          <p:cNvSpPr/>
          <p:nvPr/>
        </p:nvSpPr>
        <p:spPr>
          <a:xfrm rot="0" flipH="0" flipV="0">
            <a:off x="0" y="0"/>
            <a:ext cx="12192000" cy="6858000"/>
          </a:xfrm>
          <a:prstGeom prst="rect">
            <a:avLst/>
          </a:prstGeom>
          <a:gradFill>
            <a:gsLst>
              <a:gs pos="0">
                <a:srgbClr val="0B1220"/>
              </a:gs>
              <a:gs pos="62000">
                <a:srgbClr val="131E33"/>
              </a:gs>
              <a:gs pos="100000">
                <a:srgbClr val="0B1220"/>
              </a:gs>
            </a:gsLst>
            <a:lin ang="4200000" scaled="1"/>
          </a:gradFill>
          <a:ln/>
        </p:spPr>
        <p:txBody>
          <a:bodyPr/>
          <a:p/>
        </p:txBody>
      </p:sp>
      <p:pic>
        <p:nvPicPr>
          <p:cNvPr id="190" name=""/>
          <p:cNvPicPr>
            <a:picLocks noChangeAspect="1"/>
          </p:cNvPicPr>
          <p:nvPr/>
        </p:nvPicPr>
        <p:blipFill>
          <a:blip>
            <a:extLst>
              <a:ext uri="{96DAC541-7B7A-43D3-8B79-37D633B846F1}">
                <asvg:svgBlip r:embed="rId1"/>
              </a:ext>
            </a:extLst>
          </a:blip>
          <a:stretch>
            <a:fillRect/>
          </a:stretch>
        </p:blipFill>
        <p:spPr>
          <a:xfrm rot="0" flipH="0" flipV="0">
            <a:off x="685800" y="685800"/>
            <a:ext cx="10820400" cy="5486400"/>
          </a:xfrm>
          <a:prstGeom prst="rect">
            <a:avLst/>
          </a:prstGeom>
          <a:ln/>
        </p:spPr>
      </p:pic>
      <p:sp>
        <p:nvSpPr>
          <p:cNvPr id="191" name="" descr="{&quot;isTemplate&quot;:true,&quot;type&quot;:&quot;text&quot;}"/>
          <p:cNvSpPr txBox="1"/>
          <p:nvPr/>
        </p:nvSpPr>
        <p:spPr>
          <a:xfrm rot="0" flipH="0" flipV="0">
            <a:off x="8058150" y="1809750"/>
            <a:ext cx="3448050" cy="3429000"/>
          </a:xfrm>
          <a:prstGeom prst="rect"/>
        </p:spPr>
        <p:txBody>
          <a:bodyPr wrap="none" lIns="0" tIns="0" rIns="0" bIns="0"/>
          <a:p>
            <a:pPr>
              <a:lnSpc>
                <a:spcPct val="100000"/>
              </a:lnSpc>
            </a:pPr>
            <a:r>
              <a:rPr lang="en-US" sz="22500" b="1">
                <a:solidFill>
                  <a:srgbClr val="E5484D">
                    <a:alpha val="15000"/>
                  </a:srgbClr>
                </a:solidFill>
                <a:latin typeface="JetBrains Mono"/>
                <a:ea typeface="JetBrains Mono"/>
              </a:rPr>
              <a:t>94</a:t>
            </a:r>
            <a:endParaRPr/>
          </a:p>
        </p:txBody>
      </p:sp>
      <p:sp>
        <p:nvSpPr>
          <p:cNvPr id="192" name="" descr="{&quot;isTemplate&quot;:true,&quot;type&quot;:&quot;text&quot;}"/>
          <p:cNvSpPr txBox="1"/>
          <p:nvPr/>
        </p:nvSpPr>
        <p:spPr>
          <a:xfrm rot="0" flipH="0" flipV="0">
            <a:off x="685800" y="1971675"/>
            <a:ext cx="7810500" cy="161925"/>
          </a:xfrm>
          <a:prstGeom prst="rect"/>
        </p:spPr>
        <p:txBody>
          <a:bodyPr wrap="none" lIns="0" tIns="0" rIns="0" bIns="0"/>
          <a:p>
            <a:pPr>
              <a:lnSpc>
                <a:spcPct val="100000"/>
              </a:lnSpc>
            </a:pPr>
            <a:r>
              <a:rPr lang="en-US" sz="1050" spc="225">
                <a:solidFill>
                  <a:srgbClr val="2F6BFF"/>
                </a:solidFill>
                <a:latin typeface="JetBrains Mono"/>
                <a:ea typeface="JetBrains Mono"/>
              </a:rPr>
              <a:t>CHAPTER 01</a:t>
            </a:r>
            <a:endParaRPr/>
          </a:p>
        </p:txBody>
      </p:sp>
      <p:sp>
        <p:nvSpPr>
          <p:cNvPr id="193" name="" descr="{&quot;isTemplate&quot;:true,&quot;type&quot;:&quot;text&quot;}"/>
          <p:cNvSpPr txBox="1"/>
          <p:nvPr/>
        </p:nvSpPr>
        <p:spPr>
          <a:xfrm rot="0" flipH="0" flipV="0">
            <a:off x="685800" y="2305050"/>
            <a:ext cx="7810500" cy="809625"/>
          </a:xfrm>
          <a:prstGeom prst="rect"/>
        </p:spPr>
        <p:txBody>
          <a:bodyPr wrap="none" lIns="0" tIns="0" rIns="0" bIns="0"/>
          <a:p>
            <a:pPr>
              <a:lnSpc>
                <a:spcPct val="110000"/>
              </a:lnSpc>
            </a:pPr>
            <a:r>
              <a:rPr lang="en-US" sz="4800" b="1">
                <a:solidFill>
                  <a:srgbClr val="FFFFFF"/>
                </a:solidFill>
                <a:latin typeface="Inter"/>
                <a:ea typeface="Inter"/>
              </a:rPr>
              <a:t>The problem</a:t>
            </a:r>
            <a:endParaRPr/>
          </a:p>
        </p:txBody>
      </p:sp>
      <p:sp>
        <p:nvSpPr>
          <p:cNvPr id="194" name="" descr="{&quot;isTemplate&quot;:true,&quot;type&quot;:&quot;text&quot;}"/>
          <p:cNvSpPr txBox="1"/>
          <p:nvPr/>
        </p:nvSpPr>
        <p:spPr>
          <a:xfrm rot="0" flipH="0" flipV="0">
            <a:off x="685800" y="3286125"/>
            <a:ext cx="7810500" cy="419100"/>
          </a:xfrm>
          <a:prstGeom prst="rect"/>
        </p:spPr>
        <p:txBody>
          <a:bodyPr wrap="none" lIns="0" tIns="0" rIns="0" bIns="0"/>
          <a:p>
            <a:pPr>
              <a:lnSpc>
                <a:spcPct val="150000"/>
              </a:lnSpc>
            </a:pPr>
            <a:r>
              <a:rPr lang="en-US" sz="1800">
                <a:solidFill>
                  <a:srgbClr val="94A3B8"/>
                </a:solidFill>
                <a:latin typeface="Inter"/>
                <a:ea typeface="Inter"/>
              </a:rPr>
              <a:t>Hardware escalation after a training failure</a:t>
            </a:r>
            <a:endParaRPr/>
          </a:p>
        </p:txBody>
      </p:sp>
      <p:sp>
        <p:nvSpPr>
          <p:cNvPr id="195" name=""/>
          <p:cNvSpPr/>
          <p:nvPr/>
        </p:nvSpPr>
        <p:spPr>
          <a:xfrm rot="0" flipH="0" flipV="0">
            <a:off x="685800" y="4010025"/>
            <a:ext cx="838200" cy="28575"/>
          </a:xfrm>
          <a:prstGeom prst="rect">
            <a:avLst/>
          </a:prstGeom>
          <a:solidFill>
            <a:srgbClr val="FFFFFF">
              <a:alpha val="28000"/>
            </a:srgbClr>
          </a:solidFill>
          <a:ln/>
        </p:spPr>
        <p:txBody>
          <a:bodyPr/>
          <a:p/>
        </p:txBody>
      </p:sp>
      <p:sp>
        <p:nvSpPr>
          <p:cNvPr id="196" name="" descr="{&quot;isTemplate&quot;:true,&quot;type&quot;:&quot;text&quot;}"/>
          <p:cNvSpPr txBox="1"/>
          <p:nvPr/>
        </p:nvSpPr>
        <p:spPr>
          <a:xfrm rot="0" flipH="0" flipV="0">
            <a:off x="685800" y="4210050"/>
            <a:ext cx="7239000" cy="685800"/>
          </a:xfrm>
          <a:prstGeom prst="rect"/>
        </p:spPr>
        <p:txBody>
          <a:bodyPr wrap="square" lIns="0" tIns="0" rIns="0" bIns="0">
            <a:normAutofit/>
          </a:bodyPr>
          <a:p>
            <a:pPr>
              <a:lnSpc>
                <a:spcPct val="165000"/>
              </a:lnSpc>
            </a:pPr>
            <a:r>
              <a:rPr lang="en-US" sz="1350">
                <a:solidFill>
                  <a:srgbClr val="C7D2E0"/>
                </a:solidFill>
                <a:latin typeface="Inter"/>
                <a:ea typeface="Inter"/>
              </a:rPr>
              <a:t>Unnecessary repair removes a working GPU from the pool. Missed hardware deterioration can cause repeated training failures. Error frequency and ECC history help distinguish these cases.</a:t>
            </a:r>
            <a:endParaRPr/>
          </a:p>
        </p:txBody>
      </p:sp>
      <p:sp>
        <p:nvSpPr>
          <p:cNvPr id="197" name="" descr="{&quot;isTemplate&quot;:true,&quot;type&quot;:&quot;text&quot;}"/>
          <p:cNvSpPr txBox="1"/>
          <p:nvPr/>
        </p:nvSpPr>
        <p:spPr>
          <a:xfrm rot="0" flipH="0" flipV="0">
            <a:off x="10934700" y="6010275"/>
            <a:ext cx="571500" cy="161925"/>
          </a:xfrm>
          <a:prstGeom prst="rect"/>
        </p:spPr>
        <p:txBody>
          <a:bodyPr wrap="none" lIns="0" tIns="0" rIns="0" bIns="0"/>
          <a:p>
            <a:pPr>
              <a:lnSpc>
                <a:spcPct val="100000"/>
              </a:lnSpc>
            </a:pPr>
            <a:r>
              <a:rPr lang="en-US" sz="1050">
                <a:solidFill>
                  <a:srgbClr val="FFFFFF">
                    <a:alpha val="45000"/>
                  </a:srgbClr>
                </a:solidFill>
                <a:latin typeface="JetBrains Mono"/>
                <a:ea typeface="JetBrains Mono"/>
              </a:rPr>
              <a:t>03 / 15</a:t>
            </a:r>
            <a:endParaRPr/>
          </a:p>
        </p:txBody>
      </p:sp>
    </p:spTree>
  </p:cSld>
</p:sld>
</file>

<file path=ppt/slides/slide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98" name="" descr="// 04: asymmetric comparison of escalation errors.&#10;const FONT = 'Inter, &quot;Helvetica Neue&quot;, Arial, sans-serif';&#10;const MONO = '&quot;JetBrains Mono&quot;, &quot;SF Mono&quot;, Menlo, monospace';&#10;const INK = '#0B1220';&#10;const BLUE = '#2F6BFF';&#10;const RED = '#E5484D';&#10;const PANEL = '#F1F4FA';&#10;const DIM = '#64748B';&#10;const BODY = '#1A2434';&#10;&#10;const WHY = [&#10;    'Xid 94 reports a contained memory error. The code alone does not establish whether hardware repair is required.',&#10;    'The two nodes differ in their 30-day Xid count and the direction of correctable ECC.',&#10;    'The rule baseline uses weighted signature matches. These cases also require an assessment of severity over time.',&#10;];&#10;&#10;&lt;Slide style={{ width: 1280, height: 720, padding: '18px 72px', background: '#FFFFFF', fontFamily: FONT }}&gt;&#10;    &lt;Box style={{ width: 1136, height: 92, flexDirection: 'row', justifyContent: 'space-between', alignItems: 'flex-end' }}&gt;&#10;        &lt;Text style={{ fontSize: 34, fontWeight: 700, color: INK, lineHeight: 1.3 }}&gt;Xid 94 escalation errors&lt;/Text&gt;&#10;        &lt;Text style={{ fontFamily: MONO, fontSize: 14, color: DIM, lineHeight: 1.45 }}&gt;Xid taxonomy, 24 codes&lt;/Text&gt;&#10;    &lt;/Box&gt;&#10;&#10;    &lt;Box style={{ width: 1136, height: 544, flexDirection: 'row', gap: 36, alignItems: 'center' }}&gt;&#10;&#10;        &lt;Box style={{ width: 660 }}&gt;&#10;            &lt;Text style={{ fontSize: 13, color: DIM, textAlign: 'center', width: 660, lineHeight: 1.5 }}&gt;An error code without its history&lt;/Text&gt;&#10;&#10;            &lt;Box style={{ width: 660, alignItems: 'center', marginTop: 8 }}&gt;&#10;                &lt;Box style={{ paddingTop: 8, paddingBottom: 8, paddingLeft: 18, paddingRight: 18, borderRadius: 6, background: INK }}&gt;&#10;                    &lt;Text style={{ fontFamily: MONO, fontSize: 22, fontWeight: 600, color: '#FFFFFF' }}&gt;Xid 94&lt;/Text&gt;&#10;                &lt;/Box&gt;&#10;            &lt;/Box&gt;&#10;&#10;            &lt;svg width={660} height={78} viewBox='0 0 660 78'&gt;&#10;                &lt;line x1={330} y1={2} x2={330} y2={36} stroke='#B6C2D4' strokeWidth={2} /&gt;&#10;                &lt;line x1={170} y1={36} x2={510} y2={36} stroke='#B6C2D4' strokeWidth={2} /&gt;&#10;                &lt;line x1={170} y1={36} x2={170} y2={66} stroke='#B6C2D4' strokeWidth={2} /&gt;&#10;                &lt;line x1={510} y1={36} x2={510} y2={66} stroke='#B6C2D4' strokeWidth={2} /&gt;&#10;                &lt;path d='M164 62 L170 76 L176 62 Z' fill='#B6C2D4' /&gt;&#10;                &lt;path d='M504 62 L510 76 L516 62 Z' fill='#B6C2D4' /&gt;&#10;            &lt;/svg&gt;&#10;&#10;            &lt;Box style={{ width: 660, flexDirection: 'row', gap: 20 }}&gt;&#10;                &lt;Box style={{ width: 340, padding: 18, borderRadius: 8, background: '#FDF3F3', borderLeft: '4px solid ' + RED }}&gt;&#10;                    &lt;Text style={{ fontSize: 19, fontWeight: 600, color: INK, lineHeight: 1.4 }}&gt;Unnecessary escalation&lt;/Text&gt;&#10;                    &lt;Text style={{ fontFamily: MONO, fontSize: 14, color: BODY, lineHeight: 1.6, marginTop: 8 }}&gt;cordon and request repair&lt;/Text&gt;&#10;                    &lt;Box style={{ width: 300, height: 1, background: '#E9C4C6', marginTop: 12, marginBottom: 12 }} /&gt;&#10;                    &lt;Text style={{ fontSize: 15, color: DIM, lineHeight: 1.55 }}&gt;Cost:&lt;/Text&gt;&#10;                    &lt;Text style={{ fontSize: 16, color: RED, lineHeight: 1.55, fontWeight: 600 }}&gt;A working GPU leaves the scheduling pool during repair.&lt;/Text&gt;&#10;                &lt;/Box&gt;&#10;                &lt;Box style={{ width: 300, padding: 18, borderRadius: 8, background: PANEL, borderLeft: '4px solid ' + BLUE }}&gt;&#10;                    &lt;Text style={{ fontSize: 19, fontWeight: 600, color: INK, lineHeight: 1.4 }}&gt;Missed deterioration&lt;/Text&gt;&#10;                    &lt;Text style={{ fontFamily: MONO, fontSize: 14, color: BODY, lineHeight: 1.6, marginTop: 8 }}&gt;retry without escalation&lt;/Text&gt;&#10;                    &lt;Box style={{ width: 260, height: 1, background: '#CBD8EC', marginTop: 12, marginBottom: 12 }} /&gt;&#10;                    &lt;Text style={{ fontSize: 15, color: DIM, lineHeight: 1.55 }}&gt;Cost:&lt;/Text&gt;&#10;                    &lt;Text style={{ fontSize: 16, color: BLUE, lineHeight: 1.55, fontWeight: 600 }}&gt;Training continues on a deteriorating GPU, with a risk of Xid 95.&lt;/Text&gt;&#10;                &lt;/Box&gt;&#10;            &lt;/Box&gt;&#10;        &lt;/Box&gt;&#10;&#10;        &lt;Box style={{ width: 440, gap: 16 }}&gt;&#10;            &lt;Text style={{ fontSize: 20, fontWeight: 600, color: INK, lineHeight: 1.45 }}&gt;Evidence needed for escalation&lt;/Text&gt;&#10;            {WHY.map((t, i) =&gt; (&#10;                &lt;Box key={i} style={{ flexDirection: 'row', gap: 12 }}&gt;&#10;                    &lt;Box style={{ width: 6, height: 6, borderRadius: 3, background: BLUE, marginTop: 10 }} /&gt;&#10;                    &lt;Text style={{ fontSize: 16, color: BODY, lineHeight: 1.62, width: 418 }}&gt;{t}&lt;/Text&gt;&#10;                &lt;/Box&gt;&#10;            ))}&#10;            &lt;Box style={{ width: 440, height: 1, background: '#E6EBF3', marginTop: 6, marginBottom: 6 }} /&gt;&#10;            &lt;Text style={{ fontSize: 20, fontWeight: 700, color: INK, lineHeight: 1.45 }}&gt;The 30-day history changes the repair assessment&lt;/Text&gt;&#10;        &lt;/Box&gt;&#10;&#10;    &lt;/Box&gt;&#10;&#10;    &lt;Box style={{ width: 1136, height: 48, flexDirection: 'row', justifyContent: 'space-between', alignItems: 'center' }}&gt;&#10;        &lt;Text style={{ fontSize: 14, color: DIM }}&gt;Training Failure Triage, AI Builder Cup 2026&lt;/Text&gt;&#10;        &lt;Text style={{ fontFamily: MONO, fontSize: 14, color: DIM }}&gt;04 / 15&lt;/Text&gt;&#10;    &lt;/Box&gt;&#10;&lt;/Slide&gt;&#10;"/>
        <p:cNvGrpSpPr/>
        <p:nvPr/>
      </p:nvGrpSpPr>
      <p:grpSpPr>
        <a:xfrm>
          <a:off x="0" y="0"/>
          <a:ext cx="0" cy="0"/>
          <a:chOff x="0" y="0"/>
          <a:chExt cx="0" cy="0"/>
        </a:xfrm>
      </p:grpSpPr>
      <p:sp>
        <p:nvSpPr>
          <p:cNvPr id="199" name=""/>
          <p:cNvSpPr/>
          <p:nvPr/>
        </p:nvSpPr>
        <p:spPr>
          <a:xfrm rot="0" flipH="0" flipV="0">
            <a:off x="0" y="0"/>
            <a:ext cx="12192000" cy="6858000"/>
          </a:xfrm>
          <a:prstGeom prst="rect">
            <a:avLst/>
          </a:prstGeom>
          <a:solidFill>
            <a:srgbClr val="FFFFFF"/>
          </a:solidFill>
          <a:ln/>
        </p:spPr>
        <p:txBody>
          <a:bodyPr/>
          <a:p/>
        </p:txBody>
      </p:sp>
      <p:sp>
        <p:nvSpPr>
          <p:cNvPr id="200" name="" descr="{&quot;isTemplate&quot;:true,&quot;type&quot;:&quot;text&quot;}"/>
          <p:cNvSpPr txBox="1"/>
          <p:nvPr/>
        </p:nvSpPr>
        <p:spPr>
          <a:xfrm rot="0" flipH="0" flipV="0">
            <a:off x="685800" y="533400"/>
            <a:ext cx="3648075" cy="514350"/>
          </a:xfrm>
          <a:prstGeom prst="rect"/>
        </p:spPr>
        <p:txBody>
          <a:bodyPr wrap="none" lIns="0" tIns="0" rIns="0" bIns="0"/>
          <a:p>
            <a:pPr>
              <a:lnSpc>
                <a:spcPct val="130000"/>
              </a:lnSpc>
            </a:pPr>
            <a:r>
              <a:rPr lang="en-US" sz="2550" b="1">
                <a:solidFill>
                  <a:srgbClr val="0B1220"/>
                </a:solidFill>
                <a:latin typeface="Inter"/>
                <a:ea typeface="Inter"/>
              </a:rPr>
              <a:t>Xid 94 escalation errors</a:t>
            </a:r>
            <a:endParaRPr/>
          </a:p>
        </p:txBody>
      </p:sp>
      <p:sp>
        <p:nvSpPr>
          <p:cNvPr id="201" name="" descr="{&quot;isTemplate&quot;:true,&quot;type&quot;:&quot;text&quot;}"/>
          <p:cNvSpPr txBox="1"/>
          <p:nvPr/>
        </p:nvSpPr>
        <p:spPr>
          <a:xfrm rot="0" flipH="0" flipV="0">
            <a:off x="9734550" y="809625"/>
            <a:ext cx="1771650" cy="238125"/>
          </a:xfrm>
          <a:prstGeom prst="rect"/>
        </p:spPr>
        <p:txBody>
          <a:bodyPr wrap="none" lIns="0" tIns="0" rIns="0" bIns="0"/>
          <a:p>
            <a:pPr>
              <a:lnSpc>
                <a:spcPct val="145000"/>
              </a:lnSpc>
            </a:pPr>
            <a:r>
              <a:rPr lang="en-US" sz="1050">
                <a:solidFill>
                  <a:srgbClr val="64748B"/>
                </a:solidFill>
                <a:latin typeface="JetBrains Mono"/>
                <a:ea typeface="JetBrains Mono"/>
              </a:rPr>
              <a:t>Xid taxonomy, 24 codes</a:t>
            </a:r>
            <a:endParaRPr/>
          </a:p>
        </p:txBody>
      </p:sp>
      <p:sp>
        <p:nvSpPr>
          <p:cNvPr id="202" name="" descr="{&quot;isTemplate&quot;:true,&quot;type&quot;:&quot;text&quot;}"/>
          <p:cNvSpPr txBox="1"/>
          <p:nvPr/>
        </p:nvSpPr>
        <p:spPr>
          <a:xfrm rot="0" flipH="0" flipV="0">
            <a:off x="685800" y="1743075"/>
            <a:ext cx="6286500" cy="228600"/>
          </a:xfrm>
          <a:prstGeom prst="rect"/>
        </p:spPr>
        <p:txBody>
          <a:bodyPr wrap="none" lIns="0" tIns="0" rIns="0" bIns="0"/>
          <a:p>
            <a:pPr algn="ctr">
              <a:lnSpc>
                <a:spcPct val="150000"/>
              </a:lnSpc>
            </a:pPr>
            <a:r>
              <a:rPr lang="en-US" sz="975">
                <a:solidFill>
                  <a:srgbClr val="64748B"/>
                </a:solidFill>
                <a:latin typeface="Inter"/>
                <a:ea typeface="Inter"/>
              </a:rPr>
              <a:t>An error code without its history</a:t>
            </a:r>
            <a:endParaRPr/>
          </a:p>
        </p:txBody>
      </p:sp>
      <p:sp>
        <p:nvSpPr>
          <p:cNvPr id="203" name=""/>
          <p:cNvSpPr/>
          <p:nvPr/>
        </p:nvSpPr>
        <p:spPr>
          <a:xfrm rot="0" flipH="0" flipV="0">
            <a:off x="3276600" y="2047875"/>
            <a:ext cx="1104900" cy="409575"/>
          </a:xfrm>
          <a:prstGeom prst="roundRect">
            <a:avLst>
              <a:gd name="adj" fmla="val 13953"/>
            </a:avLst>
          </a:prstGeom>
          <a:solidFill>
            <a:srgbClr val="0B1220"/>
          </a:solidFill>
          <a:ln/>
        </p:spPr>
        <p:txBody>
          <a:bodyPr/>
          <a:p/>
        </p:txBody>
      </p:sp>
      <p:sp>
        <p:nvSpPr>
          <p:cNvPr id="204" name="" descr="{&quot;isTemplate&quot;:true,&quot;type&quot;:&quot;text&quot;}"/>
          <p:cNvSpPr txBox="1"/>
          <p:nvPr/>
        </p:nvSpPr>
        <p:spPr>
          <a:xfrm rot="0" flipH="0" flipV="0">
            <a:off x="3448050" y="2124075"/>
            <a:ext cx="762000" cy="257175"/>
          </a:xfrm>
          <a:prstGeom prst="rect"/>
        </p:spPr>
        <p:txBody>
          <a:bodyPr wrap="none" lIns="0" tIns="0" rIns="0" bIns="0"/>
          <a:p>
            <a:pPr>
              <a:lnSpc>
                <a:spcPct val="100000"/>
              </a:lnSpc>
            </a:pPr>
            <a:r>
              <a:rPr lang="en-US" sz="1650" b="1">
                <a:solidFill>
                  <a:srgbClr val="FFFFFF"/>
                </a:solidFill>
                <a:latin typeface="JetBrains Mono"/>
                <a:ea typeface="JetBrains Mono"/>
              </a:rPr>
              <a:t>Xid 94</a:t>
            </a:r>
            <a:endParaRPr/>
          </a:p>
        </p:txBody>
      </p:sp>
      <p:pic>
        <p:nvPicPr>
          <p:cNvPr id="205" name=""/>
          <p:cNvPicPr>
            <a:picLocks noChangeAspect="1"/>
          </p:cNvPicPr>
          <p:nvPr/>
        </p:nvPicPr>
        <p:blipFill>
          <a:blip>
            <a:extLst>
              <a:ext uri="{96DAC541-7B7A-43D3-8B79-37D633B846F1}">
                <asvg:svgBlip r:embed="rId1"/>
              </a:ext>
            </a:extLst>
          </a:blip>
          <a:stretch>
            <a:fillRect/>
          </a:stretch>
        </p:blipFill>
        <p:spPr>
          <a:xfrm rot="0" flipH="0" flipV="0">
            <a:off x="685800" y="2457450"/>
            <a:ext cx="6286500" cy="742950"/>
          </a:xfrm>
          <a:prstGeom prst="rect">
            <a:avLst/>
          </a:prstGeom>
          <a:ln/>
        </p:spPr>
      </p:pic>
      <p:sp>
        <p:nvSpPr>
          <p:cNvPr id="206" name=""/>
          <p:cNvSpPr/>
          <p:nvPr/>
        </p:nvSpPr>
        <p:spPr>
          <a:xfrm rot="0" flipH="0" flipV="0">
            <a:off x="723900" y="3200400"/>
            <a:ext cx="3200400" cy="2343150"/>
          </a:xfrm>
          <a:prstGeom prst="roundRect">
            <a:avLst>
              <a:gd name="adj" fmla="val 3252"/>
            </a:avLst>
          </a:prstGeom>
          <a:solidFill>
            <a:srgbClr val="FDF3F3"/>
          </a:solidFill>
          <a:ln/>
        </p:spPr>
        <p:txBody>
          <a:bodyPr/>
          <a:p/>
        </p:txBody>
      </p:sp>
      <p:sp>
        <p:nvSpPr>
          <p:cNvPr id="207" name=""/>
          <p:cNvSpPr/>
          <p:nvPr/>
        </p:nvSpPr>
        <p:spPr>
          <a:xfrm rot="0" flipH="0" flipV="0">
            <a:off x="723900" y="3200400"/>
            <a:ext cx="3200400" cy="2343150"/>
          </a:xfrm>
          <a:custGeom>
            <a:pathLst>
              <a:path w="336" h="246">
                <a:moveTo>
                  <a:pt x="8" y="0"/>
                </a:moveTo>
                <a:cubicBezTo>
                  <a:pt x="6" y="0"/>
                  <a:pt x="4" y="2"/>
                  <a:pt x="4" y="4"/>
                </a:cubicBezTo>
                <a:lnTo>
                  <a:pt x="4" y="242"/>
                </a:lnTo>
                <a:cubicBezTo>
                  <a:pt x="4" y="244"/>
                  <a:pt x="5" y="246"/>
                  <a:pt x="7" y="246"/>
                </a:cubicBezTo>
                <a:cubicBezTo>
                  <a:pt x="3" y="246"/>
                  <a:pt x="0" y="242"/>
                  <a:pt x="0" y="238"/>
                </a:cubicBezTo>
                <a:lnTo>
                  <a:pt x="0" y="8"/>
                </a:lnTo>
                <a:cubicBezTo>
                  <a:pt x="0" y="4"/>
                  <a:pt x="3" y="0"/>
                  <a:pt x="8" y="0"/>
                </a:cubicBezTo>
                <a:close/>
              </a:path>
            </a:pathLst>
          </a:custGeom>
          <a:solidFill>
            <a:srgbClr val="E5484D"/>
          </a:solidFill>
          <a:ln/>
        </p:spPr>
        <p:txBody>
          <a:bodyPr/>
          <a:p/>
        </p:txBody>
      </p:sp>
      <p:sp>
        <p:nvSpPr>
          <p:cNvPr id="208" name="" descr="{&quot;isTemplate&quot;:true,&quot;type&quot;:&quot;text&quot;}"/>
          <p:cNvSpPr txBox="1"/>
          <p:nvPr/>
        </p:nvSpPr>
        <p:spPr>
          <a:xfrm rot="0" flipH="0" flipV="0">
            <a:off x="895350" y="3371850"/>
            <a:ext cx="2857500" cy="304800"/>
          </a:xfrm>
          <a:prstGeom prst="rect"/>
        </p:spPr>
        <p:txBody>
          <a:bodyPr wrap="none" lIns="0" tIns="0" rIns="0" bIns="0"/>
          <a:p>
            <a:pPr>
              <a:lnSpc>
                <a:spcPct val="140000"/>
              </a:lnSpc>
            </a:pPr>
            <a:r>
              <a:rPr lang="en-US" sz="1425" b="1">
                <a:solidFill>
                  <a:srgbClr val="0B1220"/>
                </a:solidFill>
                <a:latin typeface="Inter"/>
                <a:ea typeface="Inter"/>
              </a:rPr>
              <a:t>Unnecessary escalation</a:t>
            </a:r>
            <a:endParaRPr/>
          </a:p>
        </p:txBody>
      </p:sp>
      <p:sp>
        <p:nvSpPr>
          <p:cNvPr id="209" name="" descr="{&quot;isTemplate&quot;:true,&quot;type&quot;:&quot;text&quot;}"/>
          <p:cNvSpPr txBox="1"/>
          <p:nvPr/>
        </p:nvSpPr>
        <p:spPr>
          <a:xfrm rot="0" flipH="0" flipV="0">
            <a:off x="895350" y="3752850"/>
            <a:ext cx="2857500" cy="257175"/>
          </a:xfrm>
          <a:prstGeom prst="rect"/>
        </p:spPr>
        <p:txBody>
          <a:bodyPr wrap="none" lIns="0" tIns="0" rIns="0" bIns="0"/>
          <a:p>
            <a:pPr>
              <a:lnSpc>
                <a:spcPct val="160000"/>
              </a:lnSpc>
            </a:pPr>
            <a:r>
              <a:rPr lang="en-US" sz="1050">
                <a:solidFill>
                  <a:srgbClr val="1A2434"/>
                </a:solidFill>
                <a:latin typeface="JetBrains Mono"/>
                <a:ea typeface="JetBrains Mono"/>
              </a:rPr>
              <a:t>cordon and request repair</a:t>
            </a:r>
            <a:endParaRPr/>
          </a:p>
        </p:txBody>
      </p:sp>
      <p:sp>
        <p:nvSpPr>
          <p:cNvPr id="210" name=""/>
          <p:cNvSpPr/>
          <p:nvPr/>
        </p:nvSpPr>
        <p:spPr>
          <a:xfrm rot="0" flipH="0" flipV="0">
            <a:off x="895350" y="4124325"/>
            <a:ext cx="2857500" cy="9525"/>
          </a:xfrm>
          <a:prstGeom prst="rect">
            <a:avLst/>
          </a:prstGeom>
          <a:solidFill>
            <a:srgbClr val="E9C4C6"/>
          </a:solidFill>
          <a:ln/>
        </p:spPr>
        <p:txBody>
          <a:bodyPr/>
          <a:p/>
        </p:txBody>
      </p:sp>
      <p:sp>
        <p:nvSpPr>
          <p:cNvPr id="211" name="" descr="{&quot;isTemplate&quot;:true,&quot;type&quot;:&quot;text&quot;}"/>
          <p:cNvSpPr txBox="1"/>
          <p:nvPr/>
        </p:nvSpPr>
        <p:spPr>
          <a:xfrm rot="0" flipH="0" flipV="0">
            <a:off x="895350" y="4248150"/>
            <a:ext cx="2857500" cy="266700"/>
          </a:xfrm>
          <a:prstGeom prst="rect"/>
        </p:spPr>
        <p:txBody>
          <a:bodyPr wrap="none" lIns="0" tIns="0" rIns="0" bIns="0"/>
          <a:p>
            <a:pPr>
              <a:lnSpc>
                <a:spcPct val="155000"/>
              </a:lnSpc>
            </a:pPr>
            <a:r>
              <a:rPr lang="en-US" sz="1125">
                <a:solidFill>
                  <a:srgbClr val="64748B"/>
                </a:solidFill>
                <a:latin typeface="Inter"/>
                <a:ea typeface="Inter"/>
              </a:rPr>
              <a:t>Cost:</a:t>
            </a:r>
            <a:endParaRPr/>
          </a:p>
        </p:txBody>
      </p:sp>
      <p:sp>
        <p:nvSpPr>
          <p:cNvPr id="212" name="" descr="{&quot;isTemplate&quot;:true,&quot;type&quot;:&quot;text&quot;}"/>
          <p:cNvSpPr txBox="1"/>
          <p:nvPr/>
        </p:nvSpPr>
        <p:spPr>
          <a:xfrm rot="0" flipH="0" flipV="0">
            <a:off x="895350" y="4514850"/>
            <a:ext cx="2857500" cy="571500"/>
          </a:xfrm>
          <a:prstGeom prst="rect"/>
        </p:spPr>
        <p:txBody>
          <a:bodyPr wrap="square" lIns="0" tIns="0" rIns="0" bIns="0">
            <a:normAutofit/>
          </a:bodyPr>
          <a:p>
            <a:pPr>
              <a:lnSpc>
                <a:spcPct val="155000"/>
              </a:lnSpc>
            </a:pPr>
            <a:r>
              <a:rPr lang="en-US" sz="1200" b="1">
                <a:solidFill>
                  <a:srgbClr val="E5484D"/>
                </a:solidFill>
                <a:latin typeface="Inter"/>
                <a:ea typeface="Inter"/>
              </a:rPr>
              <a:t>A working GPU leaves the scheduling pool during repair.</a:t>
            </a:r>
            <a:endParaRPr/>
          </a:p>
        </p:txBody>
      </p:sp>
      <p:sp>
        <p:nvSpPr>
          <p:cNvPr id="213" name=""/>
          <p:cNvSpPr/>
          <p:nvPr/>
        </p:nvSpPr>
        <p:spPr>
          <a:xfrm rot="0" flipH="0" flipV="0">
            <a:off x="4152900" y="3200400"/>
            <a:ext cx="2819400" cy="2343150"/>
          </a:xfrm>
          <a:prstGeom prst="roundRect">
            <a:avLst>
              <a:gd name="adj" fmla="val 3252"/>
            </a:avLst>
          </a:prstGeom>
          <a:solidFill>
            <a:srgbClr val="F1F4FA"/>
          </a:solidFill>
          <a:ln/>
        </p:spPr>
        <p:txBody>
          <a:bodyPr/>
          <a:p/>
        </p:txBody>
      </p:sp>
      <p:sp>
        <p:nvSpPr>
          <p:cNvPr id="214" name=""/>
          <p:cNvSpPr/>
          <p:nvPr/>
        </p:nvSpPr>
        <p:spPr>
          <a:xfrm rot="0" flipH="0" flipV="0">
            <a:off x="4152900" y="3200400"/>
            <a:ext cx="2819400" cy="2343150"/>
          </a:xfrm>
          <a:custGeom>
            <a:pathLst>
              <a:path w="296" h="246">
                <a:moveTo>
                  <a:pt x="8" y="0"/>
                </a:moveTo>
                <a:cubicBezTo>
                  <a:pt x="6" y="0"/>
                  <a:pt x="4" y="2"/>
                  <a:pt x="4" y="4"/>
                </a:cubicBezTo>
                <a:lnTo>
                  <a:pt x="4" y="242"/>
                </a:lnTo>
                <a:cubicBezTo>
                  <a:pt x="4" y="244"/>
                  <a:pt x="5" y="246"/>
                  <a:pt x="7" y="246"/>
                </a:cubicBezTo>
                <a:cubicBezTo>
                  <a:pt x="3" y="246"/>
                  <a:pt x="0" y="242"/>
                  <a:pt x="0" y="238"/>
                </a:cubicBezTo>
                <a:lnTo>
                  <a:pt x="0" y="8"/>
                </a:lnTo>
                <a:cubicBezTo>
                  <a:pt x="0" y="4"/>
                  <a:pt x="3" y="0"/>
                  <a:pt x="8" y="0"/>
                </a:cubicBezTo>
                <a:close/>
              </a:path>
            </a:pathLst>
          </a:custGeom>
          <a:solidFill>
            <a:srgbClr val="2F6BFF"/>
          </a:solidFill>
          <a:ln/>
        </p:spPr>
        <p:txBody>
          <a:bodyPr/>
          <a:p/>
        </p:txBody>
      </p:sp>
      <p:sp>
        <p:nvSpPr>
          <p:cNvPr id="215" name="" descr="{&quot;isTemplate&quot;:true,&quot;type&quot;:&quot;text&quot;}"/>
          <p:cNvSpPr txBox="1"/>
          <p:nvPr/>
        </p:nvSpPr>
        <p:spPr>
          <a:xfrm rot="0" flipH="0" flipV="0">
            <a:off x="4324350" y="3371850"/>
            <a:ext cx="2476500" cy="304800"/>
          </a:xfrm>
          <a:prstGeom prst="rect"/>
        </p:spPr>
        <p:txBody>
          <a:bodyPr wrap="none" lIns="0" tIns="0" rIns="0" bIns="0"/>
          <a:p>
            <a:pPr>
              <a:lnSpc>
                <a:spcPct val="140000"/>
              </a:lnSpc>
            </a:pPr>
            <a:r>
              <a:rPr lang="en-US" sz="1425" b="1">
                <a:solidFill>
                  <a:srgbClr val="0B1220"/>
                </a:solidFill>
                <a:latin typeface="Inter"/>
                <a:ea typeface="Inter"/>
              </a:rPr>
              <a:t>Missed deterioration</a:t>
            </a:r>
            <a:endParaRPr/>
          </a:p>
        </p:txBody>
      </p:sp>
      <p:sp>
        <p:nvSpPr>
          <p:cNvPr id="216" name="" descr="{&quot;isTemplate&quot;:true,&quot;type&quot;:&quot;text&quot;}"/>
          <p:cNvSpPr txBox="1"/>
          <p:nvPr/>
        </p:nvSpPr>
        <p:spPr>
          <a:xfrm rot="0" flipH="0" flipV="0">
            <a:off x="4324350" y="3752850"/>
            <a:ext cx="2476500" cy="257175"/>
          </a:xfrm>
          <a:prstGeom prst="rect"/>
        </p:spPr>
        <p:txBody>
          <a:bodyPr wrap="none" lIns="0" tIns="0" rIns="0" bIns="0"/>
          <a:p>
            <a:pPr>
              <a:lnSpc>
                <a:spcPct val="160000"/>
              </a:lnSpc>
            </a:pPr>
            <a:r>
              <a:rPr lang="en-US" sz="1050">
                <a:solidFill>
                  <a:srgbClr val="1A2434"/>
                </a:solidFill>
                <a:latin typeface="JetBrains Mono"/>
                <a:ea typeface="JetBrains Mono"/>
              </a:rPr>
              <a:t>retry without escalation</a:t>
            </a:r>
            <a:endParaRPr/>
          </a:p>
        </p:txBody>
      </p:sp>
      <p:sp>
        <p:nvSpPr>
          <p:cNvPr id="217" name=""/>
          <p:cNvSpPr/>
          <p:nvPr/>
        </p:nvSpPr>
        <p:spPr>
          <a:xfrm rot="0" flipH="0" flipV="0">
            <a:off x="4324350" y="4124325"/>
            <a:ext cx="2476500" cy="9525"/>
          </a:xfrm>
          <a:prstGeom prst="rect">
            <a:avLst/>
          </a:prstGeom>
          <a:solidFill>
            <a:srgbClr val="CBD8EC"/>
          </a:solidFill>
          <a:ln/>
        </p:spPr>
        <p:txBody>
          <a:bodyPr/>
          <a:p/>
        </p:txBody>
      </p:sp>
      <p:sp>
        <p:nvSpPr>
          <p:cNvPr id="218" name="" descr="{&quot;isTemplate&quot;:true,&quot;type&quot;:&quot;text&quot;}"/>
          <p:cNvSpPr txBox="1"/>
          <p:nvPr/>
        </p:nvSpPr>
        <p:spPr>
          <a:xfrm rot="0" flipH="0" flipV="0">
            <a:off x="4324350" y="4248150"/>
            <a:ext cx="2476500" cy="266700"/>
          </a:xfrm>
          <a:prstGeom prst="rect"/>
        </p:spPr>
        <p:txBody>
          <a:bodyPr wrap="none" lIns="0" tIns="0" rIns="0" bIns="0"/>
          <a:p>
            <a:pPr>
              <a:lnSpc>
                <a:spcPct val="155000"/>
              </a:lnSpc>
            </a:pPr>
            <a:r>
              <a:rPr lang="en-US" sz="1125">
                <a:solidFill>
                  <a:srgbClr val="64748B"/>
                </a:solidFill>
                <a:latin typeface="Inter"/>
                <a:ea typeface="Inter"/>
              </a:rPr>
              <a:t>Cost:</a:t>
            </a:r>
            <a:endParaRPr/>
          </a:p>
        </p:txBody>
      </p:sp>
      <p:sp>
        <p:nvSpPr>
          <p:cNvPr id="219" name="" descr="{&quot;isTemplate&quot;:true,&quot;type&quot;:&quot;text&quot;}"/>
          <p:cNvSpPr txBox="1"/>
          <p:nvPr/>
        </p:nvSpPr>
        <p:spPr>
          <a:xfrm rot="0" flipH="0" flipV="0">
            <a:off x="4324350" y="4514850"/>
            <a:ext cx="2476500" cy="857250"/>
          </a:xfrm>
          <a:prstGeom prst="rect"/>
        </p:spPr>
        <p:txBody>
          <a:bodyPr wrap="square" lIns="0" tIns="0" rIns="0" bIns="0">
            <a:normAutofit/>
          </a:bodyPr>
          <a:p>
            <a:pPr>
              <a:lnSpc>
                <a:spcPct val="155000"/>
              </a:lnSpc>
            </a:pPr>
            <a:r>
              <a:rPr lang="en-US" sz="1200" b="1">
                <a:solidFill>
                  <a:srgbClr val="2F6BFF"/>
                </a:solidFill>
                <a:latin typeface="Inter"/>
                <a:ea typeface="Inter"/>
              </a:rPr>
              <a:t>Training continues on a deteriorating GPU, with a risk of Xid 95.</a:t>
            </a:r>
            <a:endParaRPr/>
          </a:p>
        </p:txBody>
      </p:sp>
      <p:sp>
        <p:nvSpPr>
          <p:cNvPr id="220" name="" descr="{&quot;isTemplate&quot;:true,&quot;type&quot;:&quot;text&quot;}"/>
          <p:cNvSpPr txBox="1"/>
          <p:nvPr/>
        </p:nvSpPr>
        <p:spPr>
          <a:xfrm rot="0" flipH="0" flipV="0">
            <a:off x="7315200" y="1800225"/>
            <a:ext cx="4191000" cy="333375"/>
          </a:xfrm>
          <a:prstGeom prst="rect"/>
        </p:spPr>
        <p:txBody>
          <a:bodyPr wrap="none" lIns="0" tIns="0" rIns="0" bIns="0"/>
          <a:p>
            <a:pPr>
              <a:lnSpc>
                <a:spcPct val="145000"/>
              </a:lnSpc>
            </a:pPr>
            <a:r>
              <a:rPr lang="en-US" sz="1500" b="1">
                <a:solidFill>
                  <a:srgbClr val="0B1220"/>
                </a:solidFill>
                <a:latin typeface="Inter"/>
                <a:ea typeface="Inter"/>
              </a:rPr>
              <a:t>Evidence needed for escalation</a:t>
            </a:r>
            <a:endParaRPr/>
          </a:p>
        </p:txBody>
      </p:sp>
      <p:sp>
        <p:nvSpPr>
          <p:cNvPr id="221" name=""/>
          <p:cNvSpPr/>
          <p:nvPr/>
        </p:nvSpPr>
        <p:spPr>
          <a:xfrm rot="0" flipH="0" flipV="0">
            <a:off x="7315200" y="2381250"/>
            <a:ext cx="57150" cy="57150"/>
          </a:xfrm>
          <a:prstGeom prst="roundRect">
            <a:avLst>
              <a:gd name="adj" fmla="val 50000"/>
            </a:avLst>
          </a:prstGeom>
          <a:solidFill>
            <a:srgbClr val="2F6BFF"/>
          </a:solidFill>
          <a:ln/>
        </p:spPr>
        <p:txBody>
          <a:bodyPr/>
          <a:p/>
        </p:txBody>
      </p:sp>
      <p:sp>
        <p:nvSpPr>
          <p:cNvPr id="222" name="" descr="{&quot;isTemplate&quot;:true,&quot;type&quot;:&quot;text&quot;}"/>
          <p:cNvSpPr txBox="1"/>
          <p:nvPr/>
        </p:nvSpPr>
        <p:spPr>
          <a:xfrm rot="0" flipH="0" flipV="0">
            <a:off x="7486650" y="2286000"/>
            <a:ext cx="3981450" cy="600075"/>
          </a:xfrm>
          <a:prstGeom prst="rect"/>
        </p:spPr>
        <p:txBody>
          <a:bodyPr wrap="square" lIns="0" tIns="0" rIns="0" bIns="0">
            <a:normAutofit/>
          </a:bodyPr>
          <a:p>
            <a:pPr>
              <a:lnSpc>
                <a:spcPct val="162000"/>
              </a:lnSpc>
            </a:pPr>
            <a:r>
              <a:rPr lang="en-US" sz="1200">
                <a:solidFill>
                  <a:srgbClr val="1A2434"/>
                </a:solidFill>
                <a:latin typeface="Inter"/>
                <a:ea typeface="Inter"/>
              </a:rPr>
              <a:t>Xid 94 reports a contained memory error. The code alone does not establish whether hardware repair is required.</a:t>
            </a:r>
            <a:endParaRPr/>
          </a:p>
        </p:txBody>
      </p:sp>
      <p:sp>
        <p:nvSpPr>
          <p:cNvPr id="223" name=""/>
          <p:cNvSpPr/>
          <p:nvPr/>
        </p:nvSpPr>
        <p:spPr>
          <a:xfrm rot="0" flipH="0" flipV="0">
            <a:off x="7315200" y="3133725"/>
            <a:ext cx="57150" cy="57150"/>
          </a:xfrm>
          <a:prstGeom prst="roundRect">
            <a:avLst>
              <a:gd name="adj" fmla="val 50000"/>
            </a:avLst>
          </a:prstGeom>
          <a:solidFill>
            <a:srgbClr val="2F6BFF"/>
          </a:solidFill>
          <a:ln/>
        </p:spPr>
        <p:txBody>
          <a:bodyPr/>
          <a:p/>
        </p:txBody>
      </p:sp>
      <p:sp>
        <p:nvSpPr>
          <p:cNvPr id="224" name="" descr="{&quot;isTemplate&quot;:true,&quot;type&quot;:&quot;text&quot;}"/>
          <p:cNvSpPr txBox="1"/>
          <p:nvPr/>
        </p:nvSpPr>
        <p:spPr>
          <a:xfrm rot="0" flipH="0" flipV="0">
            <a:off x="7486650" y="3038475"/>
            <a:ext cx="3981450" cy="600075"/>
          </a:xfrm>
          <a:prstGeom prst="rect"/>
        </p:spPr>
        <p:txBody>
          <a:bodyPr wrap="square" lIns="0" tIns="0" rIns="0" bIns="0">
            <a:normAutofit/>
          </a:bodyPr>
          <a:p>
            <a:pPr>
              <a:lnSpc>
                <a:spcPct val="162000"/>
              </a:lnSpc>
            </a:pPr>
            <a:r>
              <a:rPr lang="en-US" sz="1200">
                <a:solidFill>
                  <a:srgbClr val="1A2434"/>
                </a:solidFill>
                <a:latin typeface="Inter"/>
                <a:ea typeface="Inter"/>
              </a:rPr>
              <a:t>The two nodes differ in their 30-day Xid count and the direction of correctable ECC.</a:t>
            </a:r>
            <a:endParaRPr/>
          </a:p>
        </p:txBody>
      </p:sp>
      <p:sp>
        <p:nvSpPr>
          <p:cNvPr id="225" name=""/>
          <p:cNvSpPr/>
          <p:nvPr/>
        </p:nvSpPr>
        <p:spPr>
          <a:xfrm rot="0" flipH="0" flipV="0">
            <a:off x="7315200" y="3886200"/>
            <a:ext cx="57150" cy="57150"/>
          </a:xfrm>
          <a:prstGeom prst="roundRect">
            <a:avLst>
              <a:gd name="adj" fmla="val 50000"/>
            </a:avLst>
          </a:prstGeom>
          <a:solidFill>
            <a:srgbClr val="2F6BFF"/>
          </a:solidFill>
          <a:ln/>
        </p:spPr>
        <p:txBody>
          <a:bodyPr/>
          <a:p/>
        </p:txBody>
      </p:sp>
      <p:sp>
        <p:nvSpPr>
          <p:cNvPr id="226" name="" descr="{&quot;isTemplate&quot;:true,&quot;type&quot;:&quot;text&quot;}"/>
          <p:cNvSpPr txBox="1"/>
          <p:nvPr/>
        </p:nvSpPr>
        <p:spPr>
          <a:xfrm rot="0" flipH="0" flipV="0">
            <a:off x="7486650" y="3790950"/>
            <a:ext cx="3981450" cy="600075"/>
          </a:xfrm>
          <a:prstGeom prst="rect"/>
        </p:spPr>
        <p:txBody>
          <a:bodyPr wrap="square" lIns="0" tIns="0" rIns="0" bIns="0">
            <a:normAutofit/>
          </a:bodyPr>
          <a:p>
            <a:pPr>
              <a:lnSpc>
                <a:spcPct val="162000"/>
              </a:lnSpc>
            </a:pPr>
            <a:r>
              <a:rPr lang="en-US" sz="1200">
                <a:solidFill>
                  <a:srgbClr val="1A2434"/>
                </a:solidFill>
                <a:latin typeface="Inter"/>
                <a:ea typeface="Inter"/>
              </a:rPr>
              <a:t>The rule baseline uses weighted signature matches. These cases also require an assessment of severity over time.</a:t>
            </a:r>
            <a:endParaRPr/>
          </a:p>
        </p:txBody>
      </p:sp>
      <p:sp>
        <p:nvSpPr>
          <p:cNvPr id="227" name=""/>
          <p:cNvSpPr/>
          <p:nvPr/>
        </p:nvSpPr>
        <p:spPr>
          <a:xfrm rot="0" flipH="0" flipV="0">
            <a:off x="7315200" y="4600575"/>
            <a:ext cx="4191000" cy="9525"/>
          </a:xfrm>
          <a:prstGeom prst="rect">
            <a:avLst/>
          </a:prstGeom>
          <a:solidFill>
            <a:srgbClr val="E6EBF3"/>
          </a:solidFill>
          <a:ln/>
        </p:spPr>
        <p:txBody>
          <a:bodyPr/>
          <a:p/>
        </p:txBody>
      </p:sp>
      <p:sp>
        <p:nvSpPr>
          <p:cNvPr id="228" name="" descr="{&quot;isTemplate&quot;:true,&quot;type&quot;:&quot;text&quot;}"/>
          <p:cNvSpPr txBox="1"/>
          <p:nvPr/>
        </p:nvSpPr>
        <p:spPr>
          <a:xfrm rot="0" flipH="0" flipV="0">
            <a:off x="7315200" y="4819650"/>
            <a:ext cx="4191000" cy="666750"/>
          </a:xfrm>
          <a:prstGeom prst="rect"/>
        </p:spPr>
        <p:txBody>
          <a:bodyPr wrap="square" lIns="0" tIns="0" rIns="0" bIns="0">
            <a:normAutofit/>
          </a:bodyPr>
          <a:p>
            <a:pPr>
              <a:lnSpc>
                <a:spcPct val="145000"/>
              </a:lnSpc>
            </a:pPr>
            <a:r>
              <a:rPr lang="en-US" sz="1500" b="1">
                <a:solidFill>
                  <a:srgbClr val="0B1220"/>
                </a:solidFill>
                <a:latin typeface="Inter"/>
                <a:ea typeface="Inter"/>
              </a:rPr>
              <a:t>The 30-day history changes the repair assessment</a:t>
            </a:r>
            <a:endParaRPr/>
          </a:p>
        </p:txBody>
      </p:sp>
      <p:sp>
        <p:nvSpPr>
          <p:cNvPr id="229" name="" descr="{&quot;isTemplate&quot;:true,&quot;type&quot;:&quot;text&quot;}"/>
          <p:cNvSpPr txBox="1"/>
          <p:nvPr/>
        </p:nvSpPr>
        <p:spPr>
          <a:xfrm rot="0" flipH="0" flipV="0">
            <a:off x="685800" y="6381750"/>
            <a:ext cx="2571750" cy="161925"/>
          </a:xfrm>
          <a:prstGeom prst="rect"/>
        </p:spPr>
        <p:txBody>
          <a:bodyPr wrap="none" lIns="0" tIns="0" rIns="0" bIns="0"/>
          <a:p>
            <a:pPr>
              <a:lnSpc>
                <a:spcPct val="100000"/>
              </a:lnSpc>
            </a:pPr>
            <a:r>
              <a:rPr lang="en-US" sz="1050">
                <a:solidFill>
                  <a:srgbClr val="64748B"/>
                </a:solidFill>
                <a:latin typeface="Inter"/>
                <a:ea typeface="Inter"/>
              </a:rPr>
              <a:t>Training Failure Triage, AI Builder Cup 2026</a:t>
            </a:r>
            <a:endParaRPr/>
          </a:p>
        </p:txBody>
      </p:sp>
      <p:sp>
        <p:nvSpPr>
          <p:cNvPr id="230" name="" descr="{&quot;isTemplate&quot;:true,&quot;type&quot;:&quot;text&quot;}"/>
          <p:cNvSpPr txBox="1"/>
          <p:nvPr/>
        </p:nvSpPr>
        <p:spPr>
          <a:xfrm rot="0" flipH="0" flipV="0">
            <a:off x="10934700" y="6381750"/>
            <a:ext cx="571500" cy="161925"/>
          </a:xfrm>
          <a:prstGeom prst="rect"/>
        </p:spPr>
        <p:txBody>
          <a:bodyPr wrap="none" lIns="0" tIns="0" rIns="0" bIns="0"/>
          <a:p>
            <a:pPr>
              <a:lnSpc>
                <a:spcPct val="100000"/>
              </a:lnSpc>
            </a:pPr>
            <a:r>
              <a:rPr lang="en-US" sz="1050">
                <a:solidFill>
                  <a:srgbClr val="64748B"/>
                </a:solidFill>
                <a:latin typeface="JetBrains Mono"/>
                <a:ea typeface="JetBrains Mono"/>
              </a:rPr>
              <a:t>04 / 15</a:t>
            </a:r>
            <a:endParaRPr/>
          </a:p>
        </p:txBody>
      </p:sp>
    </p:spTree>
  </p:cSld>
</p:sld>
</file>

<file path=ppt/slides/slide5.xml><?xml version="1.0" encoding="utf-8"?>
<p:sld xmlns:r="http://schemas.openxmlformats.org/officeDocument/2006/relationships" xmlns:p="http://schemas.openxmlformats.org/presentationml/2006/main" xmlns:a="http://schemas.openxmlformats.org/drawingml/2006/main">
  <p:cSld>
    <p:spTree>
      <p:nvGrpSpPr>
        <p:cNvPr id="231" name="" descr="// 05: large event counts and separate node-row evidence.&#10;const FONT = 'Inter, &quot;Helvetica Neue&quot;, Arial, sans-serif';&#10;const MONO = '&quot;JetBrains Mono&quot;, &quot;SF Mono&quot;, Menlo, monospace';&#10;const INK = '#0B1220';&#10;const RED = '#E5484D';&#10;const GREEN = '#16B981';&#10;const DIM = '#64748B';&#10;const BODY = '#1A2434';&#10;&#10;const PAIR = [&#10;    {&#10;        big: '1', node: 'lyg2103', tint: 'rgba(22,185,129,0.07)', bar: GREEN, color: GREEN,&#10;        l1: 'Xid 94 in the last 30 days', l2: 'Correctable ECC 1, flat trend', chip: 'hardware_watch, no RMA',&#10;    },&#10;    {&#10;        big: '53', node: 'lyg2112', tint: 'rgba(229,72,77,0.07)', bar: RED, color: RED,&#10;        l1: 'Xid 94 in the last 30 days', l2: 'Correctable ECC 118, rising trend', chip: 'hardware, RMA recommended',&#10;    },&#10;];&#10;&#10;&lt;Slide style={{ width: 1280, height: 720, padding: '18px 72px', background: '#FFFFFF', fontFamily: FONT }}&gt;&#10;    &lt;Box style={{ width: 1136, height: 92, flexDirection: 'row', justifyContent: 'space-between', alignItems: 'flex-end' }}&gt;&#10;        &lt;Text style={{ fontSize: 34, fontWeight: 700, color: INK, lineHeight: 1.3 }}&gt;Xid 94 frequency and ECC trends&lt;/Text&gt;&#10;        &lt;Text style={{ fontFamily: MONO, fontSize: 14, color: DIM, lineHeight: 1.45 }}&gt;lyg2103 vs lyg2112, 30-day window&lt;/Text&gt;&#10;    &lt;/Box&gt;&#10;&#10;    &lt;Box style={{ width: 1136, height: 544 }}&gt;&#10;&#10;        &lt;Box style={{ width: 1136, height: 175, flexDirection: 'row', gap: 24 }}&gt;&#10;            &lt;Box style={{ width: 489, padding: 16, borderRadius: 8, background: PAIR[0].tint, borderLeft: '4px solid ' + PAIR[0].bar, flexDirection: 'row', alignItems: 'center', gap: 18 }}&gt;&#10;                &lt;Text style={{ fontFamily: MONO, fontSize: 104, fontWeight: 700, color: PAIR[0].color, lineHeight: 1 }}&gt;{PAIR[0].big}&lt;/Text&gt;&#10;                &lt;Box style={{ gap: 4 }}&gt;&#10;                    &lt;Text style={{ fontFamily: MONO, fontSize: 18, fontWeight: 700, color: INK, lineHeight: 1.4 }}&gt;{PAIR[0].node}&lt;/Text&gt;&#10;                    &lt;Text style={{ fontSize: 14, color: DIM, lineHeight: 1.5 }}&gt;{PAIR[0].l1}&lt;/Text&gt;&#10;                    &lt;Text style={{ fontSize: 14, color: DIM, lineHeight: 1.5 }}&gt;{PAIR[0].l2}&lt;/Text&gt;&#10;                    &lt;Box style={{ marginTop: 6, paddingTop: 4, paddingBottom: 4, paddingLeft: 10, paddingRight: 10, borderRadius: 4, background: PAIR[0].bar }}&gt;&#10;                        &lt;Text style={{ fontFamily: MONO, fontSize: 13, color: '#FFFFFF' }}&gt;{PAIR[0].chip}&lt;/Text&gt;&#10;                    &lt;/Box&gt;&#10;                &lt;/Box&gt;&#10;            &lt;/Box&gt;&#10;&#10;            &lt;Box style={{ width: 623, padding: 16, borderRadius: 8, background: PAIR[1].tint, borderLeft: '4px solid ' + PAIR[1].bar, flexDirection: 'row', alignItems: 'center', gap: 18 }}&gt;&#10;                &lt;Text style={{ fontFamily: MONO, fontSize: 104, fontWeight: 700, color: PAIR[1].color, lineHeight: 1 }}&gt;{PAIR[1].big}&lt;/Text&gt;&#10;                &lt;Box style={{ gap: 4 }}&gt;&#10;                    &lt;Text style={{ fontFamily: MONO, fontSize: 18, fontWeight: 700, color: INK, lineHeight: 1.4 }}&gt;{PAIR[1].node}&lt;/Text&gt;&#10;                    &lt;Text style={{ fontSize: 14, color: DIM, lineHeight: 1.5 }}&gt;{PAIR[1].l1}&lt;/Text&gt;&#10;                    &lt;Text style={{ fontSize: 14, color: DIM, lineHeight: 1.5 }}&gt;{PAIR[1].l2}&lt;/Text&gt;&#10;                    &lt;Box style={{ marginTop: 6, paddingTop: 4, paddingBottom: 4, paddingLeft: 10, paddingRight: 10, borderRadius: 4, background: PAIR[1].bar }}&gt;&#10;                        &lt;Text style={{ fontFamily: MONO, fontSize: 13, color: '#FFFFFF' }}&gt;{PAIR[1].chip}&lt;/Text&gt;&#10;                    &lt;/Box&gt;&#10;                &lt;/Box&gt;&#10;            &lt;/Box&gt;&#10;        &lt;/Box&gt;&#10;&#10;        {/* Separate crops retain the source rows and identify the omitted intervening rows. */}&#10;        &lt;Box style={{ width: 1136, height: 291, marginTop: 16, alignItems: 'center' }}&gt;&#10;            &lt;Image src='assets/crop-node-lyg2103.png' style={{ width: 1120, height: 116, border: '1px solid #E9EDF4' }} /&gt;&#10;            &lt;Box style={{ width: 1120, height: 15, justifyContent: 'center' }}&gt;&#10;                &lt;Text style={{ fontSize: 11, color: DIM, lineHeight: 1.3 }}&gt;&#10;                    The source list has two intervening rows, lyg2107 and lyg2108, omitted here&#10;                &lt;/Text&gt;&#10;            &lt;/Box&gt;&#10;            &lt;Image src='assets/crop-node-lyg2112.png' style={{ width: 1120, height: 158, border: '1px solid #E9EDF4' }} /&gt;&#10;        &lt;/Box&gt;&#10;&#10;        &lt;Box style={{ width: 1136, height: 46, marginTop: 16, justifyContent: 'center' }}&gt;&#10;            &lt;Text style={{ fontSize: 20, fontWeight: 600, color: BODY, lineHeight: 1.45 }}&gt;&#10;                Both nodes report Xid 94. &lt;span style={{ color: INK }}&gt;lyg2112 has more frequent events and rising correctable ECC&lt;/span&gt;.&#10;            &lt;/Text&gt;&#10;        &lt;/Box&gt;&#10;&#10;    &lt;/Box&gt;&#10;&#10;    &lt;Box style={{ width: 1136, height: 48, flexDirection: 'row', justifyContent: 'space-between', alignItems: 'center' }}&gt;&#10;        &lt;Text style={{ fontSize: 14, color: DIM }}&gt;English UI capture from the local seed replay, using the same 30-day window&lt;/Text&gt;&#10;        &lt;Text style={{ fontFamily: MONO, fontSize: 14, color: DIM }}&gt;05 / 15&lt;/Text&gt;&#10;    &lt;/Box&gt;&#10;&lt;/Slide&gt;&#10;"/>
        <p:cNvGrpSpPr/>
        <p:nvPr/>
      </p:nvGrpSpPr>
      <p:grpSpPr>
        <a:xfrm>
          <a:off x="0" y="0"/>
          <a:ext cx="0" cy="0"/>
          <a:chOff x="0" y="0"/>
          <a:chExt cx="0" cy="0"/>
        </a:xfrm>
      </p:grpSpPr>
      <p:sp>
        <p:nvSpPr>
          <p:cNvPr id="232" name=""/>
          <p:cNvSpPr/>
          <p:nvPr/>
        </p:nvSpPr>
        <p:spPr>
          <a:xfrm rot="0" flipH="0" flipV="0">
            <a:off x="0" y="0"/>
            <a:ext cx="12192000" cy="6858000"/>
          </a:xfrm>
          <a:prstGeom prst="rect">
            <a:avLst/>
          </a:prstGeom>
          <a:solidFill>
            <a:srgbClr val="FFFFFF"/>
          </a:solidFill>
          <a:ln/>
        </p:spPr>
        <p:txBody>
          <a:bodyPr/>
          <a:p/>
        </p:txBody>
      </p:sp>
      <p:sp>
        <p:nvSpPr>
          <p:cNvPr id="233" name="" descr="{&quot;isTemplate&quot;:true,&quot;type&quot;:&quot;text&quot;}"/>
          <p:cNvSpPr txBox="1"/>
          <p:nvPr/>
        </p:nvSpPr>
        <p:spPr>
          <a:xfrm rot="0" flipH="0" flipV="0">
            <a:off x="685800" y="533400"/>
            <a:ext cx="5095875" cy="514350"/>
          </a:xfrm>
          <a:prstGeom prst="rect"/>
        </p:spPr>
        <p:txBody>
          <a:bodyPr wrap="none" lIns="0" tIns="0" rIns="0" bIns="0"/>
          <a:p>
            <a:pPr>
              <a:lnSpc>
                <a:spcPct val="130000"/>
              </a:lnSpc>
            </a:pPr>
            <a:r>
              <a:rPr lang="en-US" sz="2550" b="1">
                <a:solidFill>
                  <a:srgbClr val="0B1220"/>
                </a:solidFill>
                <a:latin typeface="Inter"/>
                <a:ea typeface="Inter"/>
              </a:rPr>
              <a:t>Xid 94 frequency and ECC trends</a:t>
            </a:r>
            <a:endParaRPr/>
          </a:p>
        </p:txBody>
      </p:sp>
      <p:sp>
        <p:nvSpPr>
          <p:cNvPr id="234" name="" descr="{&quot;isTemplate&quot;:true,&quot;type&quot;:&quot;text&quot;}"/>
          <p:cNvSpPr txBox="1"/>
          <p:nvPr/>
        </p:nvSpPr>
        <p:spPr>
          <a:xfrm rot="0" flipH="0" flipV="0">
            <a:off x="8848725" y="809625"/>
            <a:ext cx="2657475" cy="238125"/>
          </a:xfrm>
          <a:prstGeom prst="rect"/>
        </p:spPr>
        <p:txBody>
          <a:bodyPr wrap="none" lIns="0" tIns="0" rIns="0" bIns="0"/>
          <a:p>
            <a:pPr>
              <a:lnSpc>
                <a:spcPct val="145000"/>
              </a:lnSpc>
            </a:pPr>
            <a:r>
              <a:rPr lang="en-US" sz="1050">
                <a:solidFill>
                  <a:srgbClr val="64748B"/>
                </a:solidFill>
                <a:latin typeface="JetBrains Mono"/>
                <a:ea typeface="JetBrains Mono"/>
              </a:rPr>
              <a:t>lyg2103 vs lyg2112, 30-day window</a:t>
            </a:r>
            <a:endParaRPr/>
          </a:p>
        </p:txBody>
      </p:sp>
      <p:sp>
        <p:nvSpPr>
          <p:cNvPr id="235" name=""/>
          <p:cNvSpPr/>
          <p:nvPr/>
        </p:nvSpPr>
        <p:spPr>
          <a:xfrm rot="0" flipH="0" flipV="0">
            <a:off x="723900" y="1047750"/>
            <a:ext cx="4619625" cy="1666875"/>
          </a:xfrm>
          <a:prstGeom prst="roundRect">
            <a:avLst>
              <a:gd name="adj" fmla="val 4571"/>
            </a:avLst>
          </a:prstGeom>
          <a:solidFill>
            <a:srgbClr val="16B981">
              <a:alpha val="7000"/>
            </a:srgbClr>
          </a:solidFill>
          <a:ln/>
        </p:spPr>
        <p:txBody>
          <a:bodyPr/>
          <a:p/>
        </p:txBody>
      </p:sp>
      <p:sp>
        <p:nvSpPr>
          <p:cNvPr id="236" name=""/>
          <p:cNvSpPr/>
          <p:nvPr/>
        </p:nvSpPr>
        <p:spPr>
          <a:xfrm rot="0" flipH="0" flipV="0">
            <a:off x="723900" y="1047750"/>
            <a:ext cx="4619625" cy="1666875"/>
          </a:xfrm>
          <a:custGeom>
            <a:pathLst>
              <a:path w="485" h="175">
                <a:moveTo>
                  <a:pt x="8" y="0"/>
                </a:moveTo>
                <a:cubicBezTo>
                  <a:pt x="6" y="0"/>
                  <a:pt x="4" y="2"/>
                  <a:pt x="4" y="4"/>
                </a:cubicBezTo>
                <a:lnTo>
                  <a:pt x="4" y="171"/>
                </a:lnTo>
                <a:cubicBezTo>
                  <a:pt x="4" y="173"/>
                  <a:pt x="5" y="175"/>
                  <a:pt x="7" y="175"/>
                </a:cubicBezTo>
                <a:cubicBezTo>
                  <a:pt x="3" y="175"/>
                  <a:pt x="0" y="171"/>
                  <a:pt x="0" y="167"/>
                </a:cubicBezTo>
                <a:lnTo>
                  <a:pt x="0" y="8"/>
                </a:lnTo>
                <a:cubicBezTo>
                  <a:pt x="0" y="4"/>
                  <a:pt x="3" y="0"/>
                  <a:pt x="8" y="0"/>
                </a:cubicBezTo>
                <a:close/>
              </a:path>
            </a:pathLst>
          </a:custGeom>
          <a:solidFill>
            <a:srgbClr val="16B981"/>
          </a:solidFill>
          <a:ln/>
        </p:spPr>
        <p:txBody>
          <a:bodyPr/>
          <a:p/>
        </p:txBody>
      </p:sp>
      <p:sp>
        <p:nvSpPr>
          <p:cNvPr id="237" name="" descr="{&quot;isTemplate&quot;:true,&quot;type&quot;:&quot;text&quot;}"/>
          <p:cNvSpPr txBox="1"/>
          <p:nvPr/>
        </p:nvSpPr>
        <p:spPr>
          <a:xfrm rot="0" flipH="0" flipV="0">
            <a:off x="876300" y="1285875"/>
            <a:ext cx="600075" cy="1190625"/>
          </a:xfrm>
          <a:prstGeom prst="rect"/>
        </p:spPr>
        <p:txBody>
          <a:bodyPr wrap="none" lIns="0" tIns="0" rIns="0" bIns="0"/>
          <a:p>
            <a:pPr>
              <a:lnSpc>
                <a:spcPct val="100000"/>
              </a:lnSpc>
            </a:pPr>
            <a:r>
              <a:rPr lang="en-US" sz="7800" b="1">
                <a:solidFill>
                  <a:srgbClr val="16B981"/>
                </a:solidFill>
                <a:latin typeface="JetBrains Mono"/>
                <a:ea typeface="JetBrains Mono"/>
              </a:rPr>
              <a:t>1</a:t>
            </a:r>
            <a:endParaRPr/>
          </a:p>
        </p:txBody>
      </p:sp>
      <p:sp>
        <p:nvSpPr>
          <p:cNvPr id="238" name="" descr="{&quot;isTemplate&quot;:true,&quot;type&quot;:&quot;text&quot;}"/>
          <p:cNvSpPr txBox="1"/>
          <p:nvPr/>
        </p:nvSpPr>
        <p:spPr>
          <a:xfrm rot="0" flipH="0" flipV="0">
            <a:off x="1647825" y="1285875"/>
            <a:ext cx="1838325" cy="295275"/>
          </a:xfrm>
          <a:prstGeom prst="rect"/>
        </p:spPr>
        <p:txBody>
          <a:bodyPr wrap="none" lIns="0" tIns="0" rIns="0" bIns="0"/>
          <a:p>
            <a:pPr>
              <a:lnSpc>
                <a:spcPct val="140000"/>
              </a:lnSpc>
            </a:pPr>
            <a:r>
              <a:rPr lang="en-US" sz="1350" b="1">
                <a:solidFill>
                  <a:srgbClr val="0B1220"/>
                </a:solidFill>
                <a:latin typeface="JetBrains Mono"/>
                <a:ea typeface="JetBrains Mono"/>
              </a:rPr>
              <a:t>lyg2103</a:t>
            </a:r>
            <a:endParaRPr/>
          </a:p>
        </p:txBody>
      </p:sp>
      <p:sp>
        <p:nvSpPr>
          <p:cNvPr id="239" name="" descr="{&quot;isTemplate&quot;:true,&quot;type&quot;:&quot;text&quot;}"/>
          <p:cNvSpPr txBox="1"/>
          <p:nvPr/>
        </p:nvSpPr>
        <p:spPr>
          <a:xfrm rot="0" flipH="0" flipV="0">
            <a:off x="1647825" y="1619250"/>
            <a:ext cx="1838325" cy="247650"/>
          </a:xfrm>
          <a:prstGeom prst="rect"/>
        </p:spPr>
        <p:txBody>
          <a:bodyPr wrap="none" lIns="0" tIns="0" rIns="0" bIns="0"/>
          <a:p>
            <a:pPr>
              <a:lnSpc>
                <a:spcPct val="150000"/>
              </a:lnSpc>
            </a:pPr>
            <a:r>
              <a:rPr lang="en-US" sz="1050">
                <a:solidFill>
                  <a:srgbClr val="64748B"/>
                </a:solidFill>
                <a:latin typeface="Inter"/>
                <a:ea typeface="Inter"/>
              </a:rPr>
              <a:t>Xid 94 in the last 30 days</a:t>
            </a:r>
            <a:endParaRPr/>
          </a:p>
        </p:txBody>
      </p:sp>
      <p:sp>
        <p:nvSpPr>
          <p:cNvPr id="240" name="" descr="{&quot;isTemplate&quot;:true,&quot;type&quot;:&quot;text&quot;}"/>
          <p:cNvSpPr txBox="1"/>
          <p:nvPr/>
        </p:nvSpPr>
        <p:spPr>
          <a:xfrm rot="0" flipH="0" flipV="0">
            <a:off x="1647825" y="1905000"/>
            <a:ext cx="1838325" cy="247650"/>
          </a:xfrm>
          <a:prstGeom prst="rect"/>
        </p:spPr>
        <p:txBody>
          <a:bodyPr wrap="none" lIns="0" tIns="0" rIns="0" bIns="0"/>
          <a:p>
            <a:pPr>
              <a:lnSpc>
                <a:spcPct val="150000"/>
              </a:lnSpc>
            </a:pPr>
            <a:r>
              <a:rPr lang="en-US" sz="1050">
                <a:solidFill>
                  <a:srgbClr val="64748B"/>
                </a:solidFill>
                <a:latin typeface="Inter"/>
                <a:ea typeface="Inter"/>
              </a:rPr>
              <a:t>Correctable ECC 1, flat trend</a:t>
            </a:r>
            <a:endParaRPr/>
          </a:p>
        </p:txBody>
      </p:sp>
      <p:sp>
        <p:nvSpPr>
          <p:cNvPr id="241" name=""/>
          <p:cNvSpPr/>
          <p:nvPr/>
        </p:nvSpPr>
        <p:spPr>
          <a:xfrm rot="0" flipH="0" flipV="0">
            <a:off x="1647825" y="2247900"/>
            <a:ext cx="1838325" cy="228600"/>
          </a:xfrm>
          <a:prstGeom prst="roundRect">
            <a:avLst>
              <a:gd name="adj" fmla="val 16667"/>
            </a:avLst>
          </a:prstGeom>
          <a:solidFill>
            <a:srgbClr val="16B981"/>
          </a:solidFill>
          <a:ln/>
        </p:spPr>
        <p:txBody>
          <a:bodyPr/>
          <a:p/>
        </p:txBody>
      </p:sp>
      <p:sp>
        <p:nvSpPr>
          <p:cNvPr id="242" name="" descr="{&quot;isTemplate&quot;:true,&quot;type&quot;:&quot;text&quot;}"/>
          <p:cNvSpPr txBox="1"/>
          <p:nvPr/>
        </p:nvSpPr>
        <p:spPr>
          <a:xfrm rot="0" flipH="0" flipV="0">
            <a:off x="1743075" y="2286000"/>
            <a:ext cx="1647825" cy="152400"/>
          </a:xfrm>
          <a:prstGeom prst="rect"/>
        </p:spPr>
        <p:txBody>
          <a:bodyPr wrap="none" lIns="0" tIns="0" rIns="0" bIns="0"/>
          <a:p>
            <a:pPr>
              <a:lnSpc>
                <a:spcPct val="100000"/>
              </a:lnSpc>
            </a:pPr>
            <a:r>
              <a:rPr lang="en-US" sz="975">
                <a:solidFill>
                  <a:srgbClr val="FFFFFF"/>
                </a:solidFill>
                <a:latin typeface="JetBrains Mono"/>
                <a:ea typeface="JetBrains Mono"/>
              </a:rPr>
              <a:t>hardware_watch, no RMA</a:t>
            </a:r>
            <a:endParaRPr/>
          </a:p>
        </p:txBody>
      </p:sp>
      <p:sp>
        <p:nvSpPr>
          <p:cNvPr id="243" name=""/>
          <p:cNvSpPr/>
          <p:nvPr/>
        </p:nvSpPr>
        <p:spPr>
          <a:xfrm rot="0" flipH="0" flipV="0">
            <a:off x="5610225" y="1047750"/>
            <a:ext cx="5895975" cy="1666875"/>
          </a:xfrm>
          <a:prstGeom prst="roundRect">
            <a:avLst>
              <a:gd name="adj" fmla="val 4571"/>
            </a:avLst>
          </a:prstGeom>
          <a:solidFill>
            <a:srgbClr val="E5484D">
              <a:alpha val="7000"/>
            </a:srgbClr>
          </a:solidFill>
          <a:ln/>
        </p:spPr>
        <p:txBody>
          <a:bodyPr/>
          <a:p/>
        </p:txBody>
      </p:sp>
      <p:sp>
        <p:nvSpPr>
          <p:cNvPr id="244" name=""/>
          <p:cNvSpPr/>
          <p:nvPr/>
        </p:nvSpPr>
        <p:spPr>
          <a:xfrm rot="0" flipH="0" flipV="0">
            <a:off x="5610225" y="1047750"/>
            <a:ext cx="5895975" cy="1666875"/>
          </a:xfrm>
          <a:custGeom>
            <a:pathLst>
              <a:path w="619" h="175">
                <a:moveTo>
                  <a:pt x="8" y="0"/>
                </a:moveTo>
                <a:cubicBezTo>
                  <a:pt x="6" y="0"/>
                  <a:pt x="4" y="2"/>
                  <a:pt x="4" y="4"/>
                </a:cubicBezTo>
                <a:lnTo>
                  <a:pt x="4" y="171"/>
                </a:lnTo>
                <a:cubicBezTo>
                  <a:pt x="4" y="173"/>
                  <a:pt x="5" y="175"/>
                  <a:pt x="7" y="175"/>
                </a:cubicBezTo>
                <a:cubicBezTo>
                  <a:pt x="3" y="175"/>
                  <a:pt x="0" y="171"/>
                  <a:pt x="0" y="167"/>
                </a:cubicBezTo>
                <a:lnTo>
                  <a:pt x="0" y="8"/>
                </a:lnTo>
                <a:cubicBezTo>
                  <a:pt x="0" y="4"/>
                  <a:pt x="3" y="0"/>
                  <a:pt x="8" y="0"/>
                </a:cubicBezTo>
                <a:close/>
              </a:path>
            </a:pathLst>
          </a:custGeom>
          <a:solidFill>
            <a:srgbClr val="E5484D"/>
          </a:solidFill>
          <a:ln/>
        </p:spPr>
        <p:txBody>
          <a:bodyPr/>
          <a:p/>
        </p:txBody>
      </p:sp>
      <p:sp>
        <p:nvSpPr>
          <p:cNvPr id="245" name="" descr="{&quot;isTemplate&quot;:true,&quot;type&quot;:&quot;text&quot;}"/>
          <p:cNvSpPr txBox="1"/>
          <p:nvPr/>
        </p:nvSpPr>
        <p:spPr>
          <a:xfrm rot="0" flipH="0" flipV="0">
            <a:off x="5762625" y="1285875"/>
            <a:ext cx="1200150" cy="1190625"/>
          </a:xfrm>
          <a:prstGeom prst="rect"/>
        </p:spPr>
        <p:txBody>
          <a:bodyPr wrap="none" lIns="0" tIns="0" rIns="0" bIns="0"/>
          <a:p>
            <a:pPr>
              <a:lnSpc>
                <a:spcPct val="100000"/>
              </a:lnSpc>
            </a:pPr>
            <a:r>
              <a:rPr lang="en-US" sz="7800" b="1">
                <a:solidFill>
                  <a:srgbClr val="E5484D"/>
                </a:solidFill>
                <a:latin typeface="JetBrains Mono"/>
                <a:ea typeface="JetBrains Mono"/>
              </a:rPr>
              <a:t>53</a:t>
            </a:r>
            <a:endParaRPr/>
          </a:p>
        </p:txBody>
      </p:sp>
      <p:sp>
        <p:nvSpPr>
          <p:cNvPr id="246" name="" descr="{&quot;isTemplate&quot;:true,&quot;type&quot;:&quot;text&quot;}"/>
          <p:cNvSpPr txBox="1"/>
          <p:nvPr/>
        </p:nvSpPr>
        <p:spPr>
          <a:xfrm rot="0" flipH="0" flipV="0">
            <a:off x="7134225" y="1285875"/>
            <a:ext cx="2057400" cy="295275"/>
          </a:xfrm>
          <a:prstGeom prst="rect"/>
        </p:spPr>
        <p:txBody>
          <a:bodyPr wrap="none" lIns="0" tIns="0" rIns="0" bIns="0"/>
          <a:p>
            <a:pPr>
              <a:lnSpc>
                <a:spcPct val="140000"/>
              </a:lnSpc>
            </a:pPr>
            <a:r>
              <a:rPr lang="en-US" sz="1350" b="1">
                <a:solidFill>
                  <a:srgbClr val="0B1220"/>
                </a:solidFill>
                <a:latin typeface="JetBrains Mono"/>
                <a:ea typeface="JetBrains Mono"/>
              </a:rPr>
              <a:t>lyg2112</a:t>
            </a:r>
            <a:endParaRPr/>
          </a:p>
        </p:txBody>
      </p:sp>
      <p:sp>
        <p:nvSpPr>
          <p:cNvPr id="247" name="" descr="{&quot;isTemplate&quot;:true,&quot;type&quot;:&quot;text&quot;}"/>
          <p:cNvSpPr txBox="1"/>
          <p:nvPr/>
        </p:nvSpPr>
        <p:spPr>
          <a:xfrm rot="0" flipH="0" flipV="0">
            <a:off x="7134225" y="1619250"/>
            <a:ext cx="2057400" cy="247650"/>
          </a:xfrm>
          <a:prstGeom prst="rect"/>
        </p:spPr>
        <p:txBody>
          <a:bodyPr wrap="none" lIns="0" tIns="0" rIns="0" bIns="0"/>
          <a:p>
            <a:pPr>
              <a:lnSpc>
                <a:spcPct val="150000"/>
              </a:lnSpc>
            </a:pPr>
            <a:r>
              <a:rPr lang="en-US" sz="1050">
                <a:solidFill>
                  <a:srgbClr val="64748B"/>
                </a:solidFill>
                <a:latin typeface="Inter"/>
                <a:ea typeface="Inter"/>
              </a:rPr>
              <a:t>Xid 94 in the last 30 days</a:t>
            </a:r>
            <a:endParaRPr/>
          </a:p>
        </p:txBody>
      </p:sp>
      <p:sp>
        <p:nvSpPr>
          <p:cNvPr id="248" name="" descr="{&quot;isTemplate&quot;:true,&quot;type&quot;:&quot;text&quot;}"/>
          <p:cNvSpPr txBox="1"/>
          <p:nvPr/>
        </p:nvSpPr>
        <p:spPr>
          <a:xfrm rot="0" flipH="0" flipV="0">
            <a:off x="7134225" y="1905000"/>
            <a:ext cx="2057400" cy="247650"/>
          </a:xfrm>
          <a:prstGeom prst="rect"/>
        </p:spPr>
        <p:txBody>
          <a:bodyPr wrap="none" lIns="0" tIns="0" rIns="0" bIns="0"/>
          <a:p>
            <a:pPr>
              <a:lnSpc>
                <a:spcPct val="150000"/>
              </a:lnSpc>
            </a:pPr>
            <a:r>
              <a:rPr lang="en-US" sz="1050">
                <a:solidFill>
                  <a:srgbClr val="64748B"/>
                </a:solidFill>
                <a:latin typeface="Inter"/>
                <a:ea typeface="Inter"/>
              </a:rPr>
              <a:t>Correctable ECC 118, rising trend</a:t>
            </a:r>
            <a:endParaRPr/>
          </a:p>
        </p:txBody>
      </p:sp>
      <p:sp>
        <p:nvSpPr>
          <p:cNvPr id="249" name=""/>
          <p:cNvSpPr/>
          <p:nvPr/>
        </p:nvSpPr>
        <p:spPr>
          <a:xfrm rot="0" flipH="0" flipV="0">
            <a:off x="7134225" y="2247900"/>
            <a:ext cx="2057400" cy="228600"/>
          </a:xfrm>
          <a:prstGeom prst="roundRect">
            <a:avLst>
              <a:gd name="adj" fmla="val 16667"/>
            </a:avLst>
          </a:prstGeom>
          <a:solidFill>
            <a:srgbClr val="E5484D"/>
          </a:solidFill>
          <a:ln/>
        </p:spPr>
        <p:txBody>
          <a:bodyPr/>
          <a:p/>
        </p:txBody>
      </p:sp>
      <p:sp>
        <p:nvSpPr>
          <p:cNvPr id="250" name="" descr="{&quot;isTemplate&quot;:true,&quot;type&quot;:&quot;text&quot;}"/>
          <p:cNvSpPr txBox="1"/>
          <p:nvPr/>
        </p:nvSpPr>
        <p:spPr>
          <a:xfrm rot="0" flipH="0" flipV="0">
            <a:off x="7229475" y="2286000"/>
            <a:ext cx="1866900" cy="152400"/>
          </a:xfrm>
          <a:prstGeom prst="rect"/>
        </p:spPr>
        <p:txBody>
          <a:bodyPr wrap="none" lIns="0" tIns="0" rIns="0" bIns="0"/>
          <a:p>
            <a:pPr>
              <a:lnSpc>
                <a:spcPct val="100000"/>
              </a:lnSpc>
            </a:pPr>
            <a:r>
              <a:rPr lang="en-US" sz="975">
                <a:solidFill>
                  <a:srgbClr val="FFFFFF"/>
                </a:solidFill>
                <a:latin typeface="JetBrains Mono"/>
                <a:ea typeface="JetBrains Mono"/>
              </a:rPr>
              <a:t>hardware, RMA recommended</a:t>
            </a:r>
            <a:endParaRPr/>
          </a:p>
        </p:txBody>
      </p:sp>
      <p:sp>
        <p:nvSpPr>
          <p:cNvPr id="251" name=""/>
          <p:cNvSpPr/>
          <p:nvPr/>
        </p:nvSpPr>
        <p:spPr>
          <a:xfrm rot="0" flipH="0" flipV="0">
            <a:off x="762000" y="2867025"/>
            <a:ext cx="10668000" cy="1104900"/>
          </a:xfrm>
          <a:prstGeom prst="rect">
            <a:avLst/>
          </a:prstGeom>
          <a:ln w="12700">
            <a:solidFill>
              <a:srgbClr val="E9EDF4"/>
            </a:solidFill>
            <a:prstDash val="solid"/>
          </a:ln>
        </p:spPr>
        <p:txBody>
          <a:bodyPr/>
          <a:p/>
        </p:txBody>
      </p:sp>
      <p:pic>
        <p:nvPicPr>
          <p:cNvPr id="252" name=""/>
          <p:cNvPicPr>
            <a:picLocks noChangeAspect="1"/>
          </p:cNvPicPr>
          <p:nvPr/>
        </p:nvPicPr>
        <p:blipFill>
          <a:blip r:embed="rId1"/>
          <a:stretch>
            <a:fillRect/>
          </a:stretch>
        </p:blipFill>
        <p:spPr>
          <a:xfrm rot="0" flipH="0" flipV="0">
            <a:off x="762000" y="2867025"/>
            <a:ext cx="10668000" cy="1104900"/>
          </a:xfrm>
          <a:prstGeom prst="rect">
            <a:avLst/>
          </a:prstGeom>
          <a:ln/>
        </p:spPr>
      </p:pic>
      <p:sp>
        <p:nvSpPr>
          <p:cNvPr id="253" name="" descr="{&quot;isTemplate&quot;:true,&quot;type&quot;:&quot;text&quot;}"/>
          <p:cNvSpPr txBox="1"/>
          <p:nvPr/>
        </p:nvSpPr>
        <p:spPr>
          <a:xfrm rot="0" flipH="0" flipV="0">
            <a:off x="762000" y="3962400"/>
            <a:ext cx="10668000" cy="171450"/>
          </a:xfrm>
          <a:prstGeom prst="rect"/>
        </p:spPr>
        <p:txBody>
          <a:bodyPr wrap="none" lIns="0" tIns="0" rIns="0" bIns="0"/>
          <a:p>
            <a:pPr>
              <a:lnSpc>
                <a:spcPct val="130000"/>
              </a:lnSpc>
            </a:pPr>
            <a:r>
              <a:rPr lang="en-US" sz="825">
                <a:solidFill>
                  <a:srgbClr val="64748B"/>
                </a:solidFill>
                <a:latin typeface="Inter"/>
                <a:ea typeface="Inter"/>
              </a:rPr>
              <a:t>The source list has two intervening rows, lyg2107 and lyg2108, omitted here</a:t>
            </a:r>
            <a:endParaRPr/>
          </a:p>
        </p:txBody>
      </p:sp>
      <p:sp>
        <p:nvSpPr>
          <p:cNvPr id="254" name=""/>
          <p:cNvSpPr/>
          <p:nvPr/>
        </p:nvSpPr>
        <p:spPr>
          <a:xfrm rot="0" flipH="0" flipV="0">
            <a:off x="762000" y="4114800"/>
            <a:ext cx="10668000" cy="1504950"/>
          </a:xfrm>
          <a:prstGeom prst="rect">
            <a:avLst/>
          </a:prstGeom>
          <a:ln w="12700">
            <a:solidFill>
              <a:srgbClr val="E9EDF4"/>
            </a:solidFill>
            <a:prstDash val="solid"/>
          </a:ln>
        </p:spPr>
        <p:txBody>
          <a:bodyPr/>
          <a:p/>
        </p:txBody>
      </p:sp>
      <p:pic>
        <p:nvPicPr>
          <p:cNvPr id="255" name=""/>
          <p:cNvPicPr>
            <a:picLocks noChangeAspect="1"/>
          </p:cNvPicPr>
          <p:nvPr/>
        </p:nvPicPr>
        <p:blipFill>
          <a:blip r:embed="rId2"/>
          <a:stretch>
            <a:fillRect/>
          </a:stretch>
        </p:blipFill>
        <p:spPr>
          <a:xfrm rot="0" flipH="0" flipV="0">
            <a:off x="762000" y="4114800"/>
            <a:ext cx="10668000" cy="1504950"/>
          </a:xfrm>
          <a:prstGeom prst="rect">
            <a:avLst/>
          </a:prstGeom>
          <a:ln/>
        </p:spPr>
      </p:pic>
      <p:sp>
        <p:nvSpPr>
          <p:cNvPr id="256" name="" descr="{&quot;isTemplate&quot;:true,&quot;type&quot;:&quot;text&quot;}"/>
          <p:cNvSpPr txBox="1"/>
          <p:nvPr/>
        </p:nvSpPr>
        <p:spPr>
          <a:xfrm rot="0" flipH="0" flipV="0">
            <a:off x="685800" y="5848350"/>
            <a:ext cx="10820400" cy="333375"/>
          </a:xfrm>
          <a:prstGeom prst="rect"/>
        </p:spPr>
        <p:txBody>
          <a:bodyPr wrap="none" lIns="0" tIns="0" rIns="0" bIns="0"/>
          <a:p>
            <a:pPr>
              <a:lnSpc>
                <a:spcPct val="145000"/>
              </a:lnSpc>
            </a:pPr>
            <a:r>
              <a:rPr lang="en-US" sz="1500" b="1">
                <a:solidFill>
                  <a:srgbClr val="1A2434"/>
                </a:solidFill>
                <a:latin typeface="Inter"/>
                <a:ea typeface="Inter"/>
              </a:rPr>
              <a:t xml:space="preserve">Both nodes report Xid 94. </a:t>
            </a:r>
            <a:r>
              <a:rPr lang="en-US" sz="1500" b="1">
                <a:solidFill>
                  <a:srgbClr val="0B1220"/>
                </a:solidFill>
                <a:latin typeface="Inter"/>
                <a:ea typeface="Inter"/>
              </a:rPr>
              <a:t>lyg2112 has more frequent events and rising correctable ECC</a:t>
            </a:r>
            <a:r>
              <a:rPr lang="en-US" sz="1500" b="1">
                <a:solidFill>
                  <a:srgbClr val="1A2434"/>
                </a:solidFill>
                <a:latin typeface="Inter"/>
                <a:ea typeface="Inter"/>
              </a:rPr>
              <a:t>.</a:t>
            </a:r>
            <a:endParaRPr/>
          </a:p>
        </p:txBody>
      </p:sp>
      <p:sp>
        <p:nvSpPr>
          <p:cNvPr id="257" name="" descr="{&quot;isTemplate&quot;:true,&quot;type&quot;:&quot;text&quot;}"/>
          <p:cNvSpPr txBox="1"/>
          <p:nvPr/>
        </p:nvSpPr>
        <p:spPr>
          <a:xfrm rot="0" flipH="0" flipV="0">
            <a:off x="685800" y="6381750"/>
            <a:ext cx="4591050" cy="161925"/>
          </a:xfrm>
          <a:prstGeom prst="rect"/>
        </p:spPr>
        <p:txBody>
          <a:bodyPr wrap="none" lIns="0" tIns="0" rIns="0" bIns="0"/>
          <a:p>
            <a:pPr>
              <a:lnSpc>
                <a:spcPct val="100000"/>
              </a:lnSpc>
            </a:pPr>
            <a:r>
              <a:rPr lang="en-US" sz="1050">
                <a:solidFill>
                  <a:srgbClr val="64748B"/>
                </a:solidFill>
                <a:latin typeface="Inter"/>
                <a:ea typeface="Inter"/>
              </a:rPr>
              <a:t>English UI capture from the local seed replay, using the same 30-day window</a:t>
            </a:r>
            <a:endParaRPr/>
          </a:p>
        </p:txBody>
      </p:sp>
      <p:sp>
        <p:nvSpPr>
          <p:cNvPr id="258" name="" descr="{&quot;isTemplate&quot;:true,&quot;type&quot;:&quot;text&quot;}"/>
          <p:cNvSpPr txBox="1"/>
          <p:nvPr/>
        </p:nvSpPr>
        <p:spPr>
          <a:xfrm rot="0" flipH="0" flipV="0">
            <a:off x="10934700" y="6381750"/>
            <a:ext cx="571500" cy="161925"/>
          </a:xfrm>
          <a:prstGeom prst="rect"/>
        </p:spPr>
        <p:txBody>
          <a:bodyPr wrap="none" lIns="0" tIns="0" rIns="0" bIns="0"/>
          <a:p>
            <a:pPr>
              <a:lnSpc>
                <a:spcPct val="100000"/>
              </a:lnSpc>
            </a:pPr>
            <a:r>
              <a:rPr lang="en-US" sz="1050">
                <a:solidFill>
                  <a:srgbClr val="64748B"/>
                </a:solidFill>
                <a:latin typeface="JetBrains Mono"/>
                <a:ea typeface="JetBrains Mono"/>
              </a:rPr>
              <a:t>05 / 15</a:t>
            </a:r>
            <a:endParaRPr/>
          </a:p>
        </p:txBody>
      </p:sp>
    </p:spTree>
  </p:cSld>
</p:sld>
</file>

<file path=ppt/slides/slide6.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259" name="" descr="// 06: workflow section with the historical 17-call patrol measurement.&#10;const FONT = 'Inter, &quot;Helvetica Neue&quot;, Arial, sans-serif';&#10;const MONO = '&quot;JetBrains Mono&quot;, &quot;SF Mono&quot;, Menlo, monospace';&#10;const BLUE = '#2F6BFF';&#10;const DEEP = 'linear-gradient(160deg, #0B1220 0%, #131E33 62%, #0B1220 100%)';&#10;&#10;const GRID_X = [0, 71, 142, 213, 284, 355, 426, 497, 568, 639, 710, 781, 852, 923, 994, 1065, 1136];&#10;const GRID_Y = [0, 64, 128, 192, 256, 320, 384, 448, 512, 576];&#10;&#10;&lt;Slide style={{ width: 1280, height: 720, padding: '72px', background: DEEP, fontFamily: FONT }}&gt;&#10;    &lt;Box style={{ position: 'relative', width: 1136, height: 576 }}&gt;&#10;&#10;        &lt;Box style={{ position: 'absolute', left: 0, top: 0, width: 1136, height: 576 }}&gt;&#10;            &lt;svg width={1136} height={576} viewBox='0 0 1136 576'&gt;&#10;                {GRID_X.map((x, i) =&gt; (&#10;                    &lt;line key={'gx' + i} x1={x} y1={0} x2={x} y2={576} stroke='rgba(255,255,255,0.045)' strokeWidth={1} /&gt;&#10;                ))}&#10;                {GRID_Y.map((y, i) =&gt; (&#10;                    &lt;line key={'gy' + i} x1={0} y1={y} x2={1136} y2={y} stroke='rgba(255,255,255,0.045)' strokeWidth={1} /&gt;&#10;                ))}&#10;            &lt;/svg&gt;&#10;        &lt;/Box&gt;&#10;&#10;        &lt;Box style={{ position: 'absolute', right: 0, top: 118, width: 620, alignItems: 'flex-end' }}&gt;&#10;            &lt;Text style={{ fontFamily: MONO, fontSize: 300, fontWeight: 700, color: 'rgba(47,107,255,0.17)', lineHeight: 1 }}&gt;17&lt;/Text&gt;&#10;        &lt;/Box&gt;&#10;&#10;        &lt;Box style={{ position: 'relative', width: 840, height: 576, justifyContent: 'center', gap: 18 }}&gt;&#10;            &lt;Text style={{ fontFamily: MONO, fontSize: 14, color: BLUE, letterSpacing: 3 }}&gt;CHAPTER 02&lt;/Text&gt;&#10;            &lt;Text style={{ fontSize: 64, fontWeight: 700, color: '#FFFFFF', lineHeight: 1.1 }}&gt;Application workflow&lt;/Text&gt;&#10;            &lt;Text style={{ fontSize: 24, color: '#94A3B8', lineHeight: 1.5 }}&gt;A patrol starts with a human click&lt;/Text&gt;&#10;            &lt;Box style={{ width: 88, height: 3, background: 'rgba(255,255,255,0.28)', marginTop: 14 }} /&gt;&#10;            &lt;Text style={{ fontSize: 18, color: '#C7D2E0', lineHeight: 1.65, width: 780 }}&gt;&#10;                The recorded demo patrol made &lt;span style={{ fontFamily: MONO, color: '#FFFFFF' }}&gt;17&lt;/span&gt; tool calls.&#10;                It inspected six nodes and consulted the knowledge base before taking low risk actions.&#10;                Tickets remain drafts and notifications remain queued. Each model attempt allows up to 12 turns,&#10;                and fallback carries completed calls into the next attempt.&#10;            &lt;/Text&gt;&#10;        &lt;/Box&gt;&#10;&#10;        &lt;Box style={{ position: 'absolute', left: 0, bottom: 0, width: 1136, flexDirection: 'row', justifyContent: 'flex-end' }}&gt;&#10;            &lt;Text style={{ fontFamily: MONO, fontSize: 14, color: 'rgba(255,255,255,0.45)' }}&gt;06 / 15&lt;/Text&gt;&#10;        &lt;/Box&gt;&#10;&#10;    &lt;/Box&gt;&#10;&lt;/Slide&gt;&#10;"/>
        <p:cNvGrpSpPr/>
        <p:nvPr/>
      </p:nvGrpSpPr>
      <p:grpSpPr>
        <a:xfrm>
          <a:off x="0" y="0"/>
          <a:ext cx="0" cy="0"/>
          <a:chOff x="0" y="0"/>
          <a:chExt cx="0" cy="0"/>
        </a:xfrm>
      </p:grpSpPr>
      <p:sp>
        <p:nvSpPr>
          <p:cNvPr id="260" name=""/>
          <p:cNvSpPr/>
          <p:nvPr/>
        </p:nvSpPr>
        <p:spPr>
          <a:xfrm rot="0" flipH="0" flipV="0">
            <a:off x="0" y="0"/>
            <a:ext cx="12192000" cy="6858000"/>
          </a:xfrm>
          <a:prstGeom prst="rect">
            <a:avLst/>
          </a:prstGeom>
          <a:gradFill>
            <a:gsLst>
              <a:gs pos="0">
                <a:srgbClr val="0B1220"/>
              </a:gs>
              <a:gs pos="62000">
                <a:srgbClr val="131E33"/>
              </a:gs>
              <a:gs pos="100000">
                <a:srgbClr val="0B1220"/>
              </a:gs>
            </a:gsLst>
            <a:lin ang="4200000" scaled="1"/>
          </a:gradFill>
          <a:ln/>
        </p:spPr>
        <p:txBody>
          <a:bodyPr/>
          <a:p/>
        </p:txBody>
      </p:sp>
      <p:pic>
        <p:nvPicPr>
          <p:cNvPr id="261" name=""/>
          <p:cNvPicPr>
            <a:picLocks noChangeAspect="1"/>
          </p:cNvPicPr>
          <p:nvPr/>
        </p:nvPicPr>
        <p:blipFill>
          <a:blip>
            <a:extLst>
              <a:ext uri="{96DAC541-7B7A-43D3-8B79-37D633B846F1}">
                <asvg:svgBlip r:embed="rId1"/>
              </a:ext>
            </a:extLst>
          </a:blip>
          <a:stretch>
            <a:fillRect/>
          </a:stretch>
        </p:blipFill>
        <p:spPr>
          <a:xfrm rot="0" flipH="0" flipV="0">
            <a:off x="685800" y="685800"/>
            <a:ext cx="10820400" cy="5486400"/>
          </a:xfrm>
          <a:prstGeom prst="rect">
            <a:avLst/>
          </a:prstGeom>
          <a:ln/>
        </p:spPr>
      </p:pic>
      <p:sp>
        <p:nvSpPr>
          <p:cNvPr id="262" name="" descr="{&quot;isTemplate&quot;:true,&quot;type&quot;:&quot;text&quot;}"/>
          <p:cNvSpPr txBox="1"/>
          <p:nvPr/>
        </p:nvSpPr>
        <p:spPr>
          <a:xfrm rot="0" flipH="0" flipV="0">
            <a:off x="8058150" y="1809750"/>
            <a:ext cx="3448050" cy="3429000"/>
          </a:xfrm>
          <a:prstGeom prst="rect"/>
        </p:spPr>
        <p:txBody>
          <a:bodyPr wrap="none" lIns="0" tIns="0" rIns="0" bIns="0"/>
          <a:p>
            <a:pPr>
              <a:lnSpc>
                <a:spcPct val="100000"/>
              </a:lnSpc>
            </a:pPr>
            <a:r>
              <a:rPr lang="en-US" sz="22500" b="1">
                <a:solidFill>
                  <a:srgbClr val="2F6BFF">
                    <a:alpha val="17000"/>
                  </a:srgbClr>
                </a:solidFill>
                <a:latin typeface="JetBrains Mono"/>
                <a:ea typeface="JetBrains Mono"/>
              </a:rPr>
              <a:t>17</a:t>
            </a:r>
            <a:endParaRPr/>
          </a:p>
        </p:txBody>
      </p:sp>
      <p:sp>
        <p:nvSpPr>
          <p:cNvPr id="263" name="" descr="{&quot;isTemplate&quot;:true,&quot;type&quot;:&quot;text&quot;}"/>
          <p:cNvSpPr txBox="1"/>
          <p:nvPr/>
        </p:nvSpPr>
        <p:spPr>
          <a:xfrm rot="0" flipH="0" flipV="0">
            <a:off x="685800" y="1628775"/>
            <a:ext cx="8001000" cy="161925"/>
          </a:xfrm>
          <a:prstGeom prst="rect"/>
        </p:spPr>
        <p:txBody>
          <a:bodyPr wrap="none" lIns="0" tIns="0" rIns="0" bIns="0"/>
          <a:p>
            <a:pPr>
              <a:lnSpc>
                <a:spcPct val="100000"/>
              </a:lnSpc>
            </a:pPr>
            <a:r>
              <a:rPr lang="en-US" sz="1050" spc="225">
                <a:solidFill>
                  <a:srgbClr val="2F6BFF"/>
                </a:solidFill>
                <a:latin typeface="JetBrains Mono"/>
                <a:ea typeface="JetBrains Mono"/>
              </a:rPr>
              <a:t>CHAPTER 02</a:t>
            </a:r>
            <a:endParaRPr/>
          </a:p>
        </p:txBody>
      </p:sp>
      <p:sp>
        <p:nvSpPr>
          <p:cNvPr id="264" name="" descr="{&quot;isTemplate&quot;:true,&quot;type&quot;:&quot;text&quot;}"/>
          <p:cNvSpPr txBox="1"/>
          <p:nvPr/>
        </p:nvSpPr>
        <p:spPr>
          <a:xfrm rot="0" flipH="0" flipV="0">
            <a:off x="685800" y="1962150"/>
            <a:ext cx="8001000" cy="809625"/>
          </a:xfrm>
          <a:prstGeom prst="rect"/>
        </p:spPr>
        <p:txBody>
          <a:bodyPr wrap="none" lIns="0" tIns="0" rIns="0" bIns="0"/>
          <a:p>
            <a:pPr>
              <a:lnSpc>
                <a:spcPct val="110000"/>
              </a:lnSpc>
            </a:pPr>
            <a:r>
              <a:rPr lang="en-US" sz="4800" b="1">
                <a:solidFill>
                  <a:srgbClr val="FFFFFF"/>
                </a:solidFill>
                <a:latin typeface="Inter"/>
                <a:ea typeface="Inter"/>
              </a:rPr>
              <a:t>Application workflow</a:t>
            </a:r>
            <a:endParaRPr/>
          </a:p>
        </p:txBody>
      </p:sp>
      <p:sp>
        <p:nvSpPr>
          <p:cNvPr id="265" name="" descr="{&quot;isTemplate&quot;:true,&quot;type&quot;:&quot;text&quot;}"/>
          <p:cNvSpPr txBox="1"/>
          <p:nvPr/>
        </p:nvSpPr>
        <p:spPr>
          <a:xfrm rot="0" flipH="0" flipV="0">
            <a:off x="685800" y="2943225"/>
            <a:ext cx="8001000" cy="419100"/>
          </a:xfrm>
          <a:prstGeom prst="rect"/>
        </p:spPr>
        <p:txBody>
          <a:bodyPr wrap="none" lIns="0" tIns="0" rIns="0" bIns="0"/>
          <a:p>
            <a:pPr>
              <a:lnSpc>
                <a:spcPct val="150000"/>
              </a:lnSpc>
            </a:pPr>
            <a:r>
              <a:rPr lang="en-US" sz="1800">
                <a:solidFill>
                  <a:srgbClr val="94A3B8"/>
                </a:solidFill>
                <a:latin typeface="Inter"/>
                <a:ea typeface="Inter"/>
              </a:rPr>
              <a:t>A patrol starts with a human click</a:t>
            </a:r>
            <a:endParaRPr/>
          </a:p>
        </p:txBody>
      </p:sp>
      <p:sp>
        <p:nvSpPr>
          <p:cNvPr id="266" name=""/>
          <p:cNvSpPr/>
          <p:nvPr/>
        </p:nvSpPr>
        <p:spPr>
          <a:xfrm rot="0" flipH="0" flipV="0">
            <a:off x="685800" y="3667125"/>
            <a:ext cx="838200" cy="28575"/>
          </a:xfrm>
          <a:prstGeom prst="rect">
            <a:avLst/>
          </a:prstGeom>
          <a:solidFill>
            <a:srgbClr val="FFFFFF">
              <a:alpha val="28000"/>
            </a:srgbClr>
          </a:solidFill>
          <a:ln/>
        </p:spPr>
        <p:txBody>
          <a:bodyPr/>
          <a:p/>
        </p:txBody>
      </p:sp>
      <p:sp>
        <p:nvSpPr>
          <p:cNvPr id="267" name="" descr="{&quot;isTemplate&quot;:true,&quot;type&quot;:&quot;text&quot;}"/>
          <p:cNvSpPr txBox="1"/>
          <p:nvPr/>
        </p:nvSpPr>
        <p:spPr>
          <a:xfrm rot="0" flipH="0" flipV="0">
            <a:off x="685800" y="3867150"/>
            <a:ext cx="7429500" cy="1362075"/>
          </a:xfrm>
          <a:prstGeom prst="rect"/>
        </p:spPr>
        <p:txBody>
          <a:bodyPr wrap="square" lIns="0" tIns="0" rIns="0" bIns="0">
            <a:normAutofit/>
          </a:bodyPr>
          <a:p>
            <a:pPr>
              <a:lnSpc>
                <a:spcPct val="165000"/>
              </a:lnSpc>
            </a:pPr>
            <a:r>
              <a:rPr lang="en-US" sz="1350">
                <a:solidFill>
                  <a:srgbClr val="C7D2E0"/>
                </a:solidFill>
                <a:latin typeface="Inter"/>
                <a:ea typeface="Inter"/>
              </a:rPr>
              <a:t xml:space="preserve">The recorded demo patrol made </a:t>
            </a:r>
            <a:r>
              <a:rPr lang="en-US" sz="1350">
                <a:solidFill>
                  <a:srgbClr val="FFFFFF"/>
                </a:solidFill>
                <a:latin typeface="Inter"/>
                <a:ea typeface="Inter"/>
              </a:rPr>
              <a:t>17</a:t>
            </a:r>
            <a:r>
              <a:rPr lang="en-US" sz="1350">
                <a:solidFill>
                  <a:srgbClr val="C7D2E0"/>
                </a:solidFill>
                <a:latin typeface="Inter"/>
                <a:ea typeface="Inter"/>
              </a:rPr>
              <a:t xml:space="preserve"> tool calls. It inspected six nodes and consulted the knowledge base before taking low risk actions. Tickets remain drafts and notifications remain queued. Each model attempt allows up to 12 turns, and fallback carries completed calls into the next attempt.</a:t>
            </a:r>
            <a:endParaRPr/>
          </a:p>
        </p:txBody>
      </p:sp>
      <p:sp>
        <p:nvSpPr>
          <p:cNvPr id="268" name="" descr="{&quot;isTemplate&quot;:true,&quot;type&quot;:&quot;text&quot;}"/>
          <p:cNvSpPr txBox="1"/>
          <p:nvPr/>
        </p:nvSpPr>
        <p:spPr>
          <a:xfrm rot="0" flipH="0" flipV="0">
            <a:off x="10934700" y="6010275"/>
            <a:ext cx="571500" cy="161925"/>
          </a:xfrm>
          <a:prstGeom prst="rect"/>
        </p:spPr>
        <p:txBody>
          <a:bodyPr wrap="none" lIns="0" tIns="0" rIns="0" bIns="0"/>
          <a:p>
            <a:pPr>
              <a:lnSpc>
                <a:spcPct val="100000"/>
              </a:lnSpc>
            </a:pPr>
            <a:r>
              <a:rPr lang="en-US" sz="1050">
                <a:solidFill>
                  <a:srgbClr val="FFFFFF">
                    <a:alpha val="45000"/>
                  </a:srgbClr>
                </a:solidFill>
                <a:latin typeface="JetBrains Mono"/>
                <a:ea typeface="JetBrains Mono"/>
              </a:rPr>
              <a:t>06 / 15</a:t>
            </a:r>
            <a:endParaRPr/>
          </a:p>
        </p:txBody>
      </p:sp>
    </p:spTree>
  </p:cSld>
</p:sld>
</file>

<file path=ppt/slides/slide7.xml><?xml version="1.0" encoding="utf-8"?>
<p:sld xmlns:r="http://schemas.openxmlformats.org/officeDocument/2006/relationships" xmlns:p="http://schemas.openxmlformats.org/presentationml/2006/main" xmlns:a="http://schemas.openxmlformats.org/drawingml/2006/main">
  <p:cSld>
    <p:spTree>
      <p:nvGrpSpPr>
        <p:cNvPr id="269" name="" descr="// 07: cluster capture at left and seed readings at right.&#10;const FONT = 'Inter, &quot;Helvetica Neue&quot;, Arial, sans-serif';&#10;const MONO = '&quot;JetBrains Mono&quot;, &quot;SF Mono&quot;, Menlo, monospace';&#10;const INK = '#0B1220';&#10;const BLUE = '#2F6BFF';&#10;const RED = '#E5484D';&#10;const GREEN = '#16B981';&#10;const DIM = '#64748B';&#10;const BODY = '#1A2434';&#10;&#10;const READOUT = [&#10;    { n: '6', c: INK, t: 'nodes in the constructed demo cluster' },&#10;    { n: '4', c: RED, t: 'nodes with anomaly signals in the seed' },&#10;    { n: '0', c: GREEN, t: 'log lines pasted for a patrol' },&#10;];&#10;&#10;&lt;Slide style={{ width: 1280, height: 720, padding: '18px 72px', background: '#FFFFFF', fontFamily: FONT }}&gt;&#10;    &lt;Box style={{ width: 1136, height: 92, flexDirection: 'row', justifyContent: 'space-between', alignItems: 'flex-end' }}&gt;&#10;        &lt;Text style={{ fontSize: 34, fontWeight: 700, color: INK, lineHeight: 1.3 }}&gt;Cluster inspection&lt;/Text&gt;&#10;        &lt;Text style={{ fontFamily: MONO, fontSize: 14, color: DIM, lineHeight: 1.45 }}&gt;English UI, local seed replay&lt;/Text&gt;&#10;    &lt;/Box&gt;&#10;&#10;    &lt;Box style={{ width: 1136, height: 544, flexDirection: 'row', gap: 36 }}&gt;&#10;&#10;        &lt;Box style={{ width: 659, justifyContent: 'center' }}&gt;&#10;            {/* Keep the supplied cluster screenshot frame and measured crop ratio. */}&#10;            &lt;Image src='assets/crop-cluster-card.png' style={{ width: 659, height: 422, border: '1px solid #E9EDF4' }} /&gt;&#10;            &lt;Text style={{ fontSize: 13, color: DIM, lineHeight: 1.5, marginTop: 14, width: 659 }}&gt;&#10;                The English application renders six seed nodes with four anomaly signals.&#10;                This capture uses local Firestore response fixtures and makes no external writes.&#10;            &lt;/Text&gt;&#10;        &lt;/Box&gt;&#10;&#10;        &lt;Box style={{ width: 441 }}&gt;&#10;            &lt;Text style={{ fontSize: 20, fontWeight: 600, color: INK, lineHeight: 1.45 }}&gt;Initial simulated state&lt;/Text&gt;&#10;            &lt;Box style={{ width: 441, height: 1, background: '#E6EBF3', marginTop: 14, marginBottom: 14 }} /&gt;&#10;&#10;            {READOUT.map((r, i) =&gt; (&#10;                &lt;Box key={i} style={{ width: 441, height: 88, flexDirection: 'row', alignItems: 'center', gap: 20, borderBottom: '1px solid #EEF2F8' }}&gt;&#10;                    &lt;Text style={{ fontFamily: MONO, fontSize: 42, fontWeight: 700, color: r.c, width: 62, lineHeight: 1.1 }}&gt;{r.n}&lt;/Text&gt;&#10;                    &lt;Text style={{ fontSize: 16, color: BODY, lineHeight: 1.5, width: 350 }}&gt;{r.t}&lt;/Text&gt;&#10;                &lt;/Box&gt;&#10;            ))}&#10;&#10;            &lt;Text style={{ fontSize: 16, color: BODY, lineHeight: 1.6, marginTop: 20 }}&gt;&#10;                The deployed application reads simulated node documents from Cloud Firestore.&#10;                A human starts each patrol. Scheduled operation would require a scheduler integration.&#10;            &lt;/Text&gt;&#10;        &lt;/Box&gt;&#10;&#10;    &lt;/Box&gt;&#10;&#10;    &lt;Box style={{ width: 1136, height: 48, flexDirection: 'row', justifyContent: 'space-between', alignItems: 'center' }}&gt;&#10;        &lt;Text style={{ fontSize: 14, color: DIM }}&gt;Local English capture preserves the initial clean state&lt;/Text&gt;&#10;        &lt;Text style={{ fontFamily: MONO, fontSize: 14, color: DIM }}&gt;07 / 15&lt;/Text&gt;&#10;    &lt;/Box&gt;&#10;&lt;/Slide&gt;&#10;"/>
        <p:cNvGrpSpPr/>
        <p:nvPr/>
      </p:nvGrpSpPr>
      <p:grpSpPr>
        <a:xfrm>
          <a:off x="0" y="0"/>
          <a:ext cx="0" cy="0"/>
          <a:chOff x="0" y="0"/>
          <a:chExt cx="0" cy="0"/>
        </a:xfrm>
      </p:grpSpPr>
      <p:sp>
        <p:nvSpPr>
          <p:cNvPr id="270" name=""/>
          <p:cNvSpPr/>
          <p:nvPr/>
        </p:nvSpPr>
        <p:spPr>
          <a:xfrm rot="0" flipH="0" flipV="0">
            <a:off x="0" y="0"/>
            <a:ext cx="12192000" cy="6858000"/>
          </a:xfrm>
          <a:prstGeom prst="rect">
            <a:avLst/>
          </a:prstGeom>
          <a:solidFill>
            <a:srgbClr val="FFFFFF"/>
          </a:solidFill>
          <a:ln/>
        </p:spPr>
        <p:txBody>
          <a:bodyPr/>
          <a:p/>
        </p:txBody>
      </p:sp>
      <p:sp>
        <p:nvSpPr>
          <p:cNvPr id="271" name="" descr="{&quot;isTemplate&quot;:true,&quot;type&quot;:&quot;text&quot;}"/>
          <p:cNvSpPr txBox="1"/>
          <p:nvPr/>
        </p:nvSpPr>
        <p:spPr>
          <a:xfrm rot="0" flipH="0" flipV="0">
            <a:off x="685800" y="533400"/>
            <a:ext cx="2819400" cy="514350"/>
          </a:xfrm>
          <a:prstGeom prst="rect"/>
        </p:spPr>
        <p:txBody>
          <a:bodyPr wrap="none" lIns="0" tIns="0" rIns="0" bIns="0"/>
          <a:p>
            <a:pPr>
              <a:lnSpc>
                <a:spcPct val="130000"/>
              </a:lnSpc>
            </a:pPr>
            <a:r>
              <a:rPr lang="en-US" sz="2550" b="1">
                <a:solidFill>
                  <a:srgbClr val="0B1220"/>
                </a:solidFill>
                <a:latin typeface="Inter"/>
                <a:ea typeface="Inter"/>
              </a:rPr>
              <a:t>Cluster inspection</a:t>
            </a:r>
            <a:endParaRPr/>
          </a:p>
        </p:txBody>
      </p:sp>
      <p:sp>
        <p:nvSpPr>
          <p:cNvPr id="272" name="" descr="{&quot;isTemplate&quot;:true,&quot;type&quot;:&quot;text&quot;}"/>
          <p:cNvSpPr txBox="1"/>
          <p:nvPr/>
        </p:nvSpPr>
        <p:spPr>
          <a:xfrm rot="0" flipH="0" flipV="0">
            <a:off x="9172575" y="809625"/>
            <a:ext cx="2333625" cy="238125"/>
          </a:xfrm>
          <a:prstGeom prst="rect"/>
        </p:spPr>
        <p:txBody>
          <a:bodyPr wrap="none" lIns="0" tIns="0" rIns="0" bIns="0"/>
          <a:p>
            <a:pPr>
              <a:lnSpc>
                <a:spcPct val="145000"/>
              </a:lnSpc>
            </a:pPr>
            <a:r>
              <a:rPr lang="en-US" sz="1050">
                <a:solidFill>
                  <a:srgbClr val="64748B"/>
                </a:solidFill>
                <a:latin typeface="JetBrains Mono"/>
                <a:ea typeface="JetBrains Mono"/>
              </a:rPr>
              <a:t>English UI, local seed replay</a:t>
            </a:r>
            <a:endParaRPr/>
          </a:p>
        </p:txBody>
      </p:sp>
      <p:sp>
        <p:nvSpPr>
          <p:cNvPr id="273" name=""/>
          <p:cNvSpPr/>
          <p:nvPr/>
        </p:nvSpPr>
        <p:spPr>
          <a:xfrm rot="0" flipH="0" flipV="0">
            <a:off x="685800" y="1343025"/>
            <a:ext cx="6276975" cy="4019550"/>
          </a:xfrm>
          <a:prstGeom prst="rect">
            <a:avLst/>
          </a:prstGeom>
          <a:ln w="12700">
            <a:solidFill>
              <a:srgbClr val="E9EDF4"/>
            </a:solidFill>
            <a:prstDash val="solid"/>
          </a:ln>
        </p:spPr>
        <p:txBody>
          <a:bodyPr/>
          <a:p/>
        </p:txBody>
      </p:sp>
      <p:pic>
        <p:nvPicPr>
          <p:cNvPr id="274" name=""/>
          <p:cNvPicPr>
            <a:picLocks noChangeAspect="1"/>
          </p:cNvPicPr>
          <p:nvPr/>
        </p:nvPicPr>
        <p:blipFill>
          <a:blip r:embed="rId1"/>
          <a:stretch>
            <a:fillRect/>
          </a:stretch>
        </p:blipFill>
        <p:spPr>
          <a:xfrm rot="0" flipH="0" flipV="0">
            <a:off x="685800" y="1343025"/>
            <a:ext cx="6276975" cy="4019550"/>
          </a:xfrm>
          <a:prstGeom prst="rect">
            <a:avLst/>
          </a:prstGeom>
          <a:ln/>
        </p:spPr>
      </p:pic>
      <p:sp>
        <p:nvSpPr>
          <p:cNvPr id="275" name="" descr="{&quot;isTemplate&quot;:true,&quot;type&quot;:&quot;text&quot;}"/>
          <p:cNvSpPr txBox="1"/>
          <p:nvPr/>
        </p:nvSpPr>
        <p:spPr>
          <a:xfrm rot="0" flipH="0" flipV="0">
            <a:off x="685800" y="5495925"/>
            <a:ext cx="6276975" cy="447675"/>
          </a:xfrm>
          <a:prstGeom prst="rect"/>
        </p:spPr>
        <p:txBody>
          <a:bodyPr wrap="square" lIns="0" tIns="0" rIns="0" bIns="0">
            <a:normAutofit/>
          </a:bodyPr>
          <a:p>
            <a:pPr>
              <a:lnSpc>
                <a:spcPct val="150000"/>
              </a:lnSpc>
            </a:pPr>
            <a:r>
              <a:rPr lang="en-US" sz="975">
                <a:solidFill>
                  <a:srgbClr val="64748B"/>
                </a:solidFill>
                <a:latin typeface="Inter"/>
                <a:ea typeface="Inter"/>
              </a:rPr>
              <a:t>The English application renders six seed nodes with four anomaly signals. This capture uses local Firestore response fixtures and makes no external writes.</a:t>
            </a:r>
            <a:endParaRPr/>
          </a:p>
        </p:txBody>
      </p:sp>
      <p:sp>
        <p:nvSpPr>
          <p:cNvPr id="276" name="" descr="{&quot;isTemplate&quot;:true,&quot;type&quot;:&quot;text&quot;}"/>
          <p:cNvSpPr txBox="1"/>
          <p:nvPr/>
        </p:nvSpPr>
        <p:spPr>
          <a:xfrm rot="0" flipH="0" flipV="0">
            <a:off x="7305675" y="1047750"/>
            <a:ext cx="4200525" cy="333375"/>
          </a:xfrm>
          <a:prstGeom prst="rect"/>
        </p:spPr>
        <p:txBody>
          <a:bodyPr wrap="none" lIns="0" tIns="0" rIns="0" bIns="0"/>
          <a:p>
            <a:pPr>
              <a:lnSpc>
                <a:spcPct val="145000"/>
              </a:lnSpc>
            </a:pPr>
            <a:r>
              <a:rPr lang="en-US" sz="1500" b="1">
                <a:solidFill>
                  <a:srgbClr val="0B1220"/>
                </a:solidFill>
                <a:latin typeface="Inter"/>
                <a:ea typeface="Inter"/>
              </a:rPr>
              <a:t>Initial simulated state</a:t>
            </a:r>
            <a:endParaRPr/>
          </a:p>
        </p:txBody>
      </p:sp>
      <p:sp>
        <p:nvSpPr>
          <p:cNvPr id="277" name=""/>
          <p:cNvSpPr/>
          <p:nvPr/>
        </p:nvSpPr>
        <p:spPr>
          <a:xfrm rot="0" flipH="0" flipV="0">
            <a:off x="7305675" y="1514475"/>
            <a:ext cx="4200525" cy="9525"/>
          </a:xfrm>
          <a:prstGeom prst="rect">
            <a:avLst/>
          </a:prstGeom>
          <a:solidFill>
            <a:srgbClr val="E6EBF3"/>
          </a:solidFill>
          <a:ln/>
        </p:spPr>
        <p:txBody>
          <a:bodyPr/>
          <a:p/>
        </p:txBody>
      </p:sp>
      <p:sp>
        <p:nvSpPr>
          <p:cNvPr id="278" name=""/>
          <p:cNvSpPr/>
          <p:nvPr/>
        </p:nvSpPr>
        <p:spPr>
          <a:xfrm rot="0" flipH="0" flipV="0">
            <a:off x="7305675" y="1657350"/>
            <a:ext cx="4200525" cy="838200"/>
          </a:xfrm>
          <a:custGeom>
            <a:pathLst>
              <a:path w="441" h="88">
                <a:moveTo>
                  <a:pt x="0" y="87"/>
                </a:moveTo>
                <a:lnTo>
                  <a:pt x="441" y="87"/>
                </a:lnTo>
                <a:lnTo>
                  <a:pt x="441" y="88"/>
                </a:lnTo>
                <a:lnTo>
                  <a:pt x="0" y="88"/>
                </a:lnTo>
                <a:close/>
              </a:path>
            </a:pathLst>
          </a:custGeom>
          <a:solidFill>
            <a:srgbClr val="EEF2F8"/>
          </a:solidFill>
          <a:ln/>
        </p:spPr>
        <p:txBody>
          <a:bodyPr/>
          <a:p/>
        </p:txBody>
      </p:sp>
      <p:sp>
        <p:nvSpPr>
          <p:cNvPr id="279" name="" descr="{&quot;isTemplate&quot;:true,&quot;type&quot;:&quot;text&quot;}"/>
          <p:cNvSpPr txBox="1"/>
          <p:nvPr/>
        </p:nvSpPr>
        <p:spPr>
          <a:xfrm rot="0" flipH="0" flipV="0">
            <a:off x="7305675" y="1809750"/>
            <a:ext cx="590550" cy="533400"/>
          </a:xfrm>
          <a:prstGeom prst="rect"/>
        </p:spPr>
        <p:txBody>
          <a:bodyPr wrap="none" lIns="0" tIns="0" rIns="0" bIns="0"/>
          <a:p>
            <a:pPr>
              <a:lnSpc>
                <a:spcPct val="110000"/>
              </a:lnSpc>
            </a:pPr>
            <a:r>
              <a:rPr lang="en-US" sz="3150" b="1">
                <a:solidFill>
                  <a:srgbClr val="0B1220"/>
                </a:solidFill>
                <a:latin typeface="JetBrains Mono"/>
                <a:ea typeface="JetBrains Mono"/>
              </a:rPr>
              <a:t>6</a:t>
            </a:r>
            <a:endParaRPr/>
          </a:p>
        </p:txBody>
      </p:sp>
      <p:sp>
        <p:nvSpPr>
          <p:cNvPr id="280" name="" descr="{&quot;isTemplate&quot;:true,&quot;type&quot;:&quot;text&quot;}"/>
          <p:cNvSpPr txBox="1"/>
          <p:nvPr/>
        </p:nvSpPr>
        <p:spPr>
          <a:xfrm rot="0" flipH="0" flipV="0">
            <a:off x="8086725" y="1933575"/>
            <a:ext cx="3333750" cy="276225"/>
          </a:xfrm>
          <a:prstGeom prst="rect"/>
        </p:spPr>
        <p:txBody>
          <a:bodyPr wrap="none" lIns="0" tIns="0" rIns="0" bIns="0"/>
          <a:p>
            <a:pPr>
              <a:lnSpc>
                <a:spcPct val="150000"/>
              </a:lnSpc>
            </a:pPr>
            <a:r>
              <a:rPr lang="en-US" sz="1200">
                <a:solidFill>
                  <a:srgbClr val="1A2434"/>
                </a:solidFill>
                <a:latin typeface="Inter"/>
                <a:ea typeface="Inter"/>
              </a:rPr>
              <a:t>nodes in the constructed demo cluster</a:t>
            </a:r>
            <a:endParaRPr/>
          </a:p>
        </p:txBody>
      </p:sp>
      <p:sp>
        <p:nvSpPr>
          <p:cNvPr id="281" name=""/>
          <p:cNvSpPr/>
          <p:nvPr/>
        </p:nvSpPr>
        <p:spPr>
          <a:xfrm rot="0" flipH="0" flipV="0">
            <a:off x="7305675" y="2495550"/>
            <a:ext cx="4200525" cy="838200"/>
          </a:xfrm>
          <a:custGeom>
            <a:pathLst>
              <a:path w="441" h="88">
                <a:moveTo>
                  <a:pt x="0" y="87"/>
                </a:moveTo>
                <a:lnTo>
                  <a:pt x="441" y="87"/>
                </a:lnTo>
                <a:lnTo>
                  <a:pt x="441" y="88"/>
                </a:lnTo>
                <a:lnTo>
                  <a:pt x="0" y="88"/>
                </a:lnTo>
                <a:close/>
              </a:path>
            </a:pathLst>
          </a:custGeom>
          <a:solidFill>
            <a:srgbClr val="EEF2F8"/>
          </a:solidFill>
          <a:ln/>
        </p:spPr>
        <p:txBody>
          <a:bodyPr/>
          <a:p/>
        </p:txBody>
      </p:sp>
      <p:sp>
        <p:nvSpPr>
          <p:cNvPr id="282" name="" descr="{&quot;isTemplate&quot;:true,&quot;type&quot;:&quot;text&quot;}"/>
          <p:cNvSpPr txBox="1"/>
          <p:nvPr/>
        </p:nvSpPr>
        <p:spPr>
          <a:xfrm rot="0" flipH="0" flipV="0">
            <a:off x="7305675" y="2647950"/>
            <a:ext cx="590550" cy="533400"/>
          </a:xfrm>
          <a:prstGeom prst="rect"/>
        </p:spPr>
        <p:txBody>
          <a:bodyPr wrap="none" lIns="0" tIns="0" rIns="0" bIns="0"/>
          <a:p>
            <a:pPr>
              <a:lnSpc>
                <a:spcPct val="110000"/>
              </a:lnSpc>
            </a:pPr>
            <a:r>
              <a:rPr lang="en-US" sz="3150" b="1">
                <a:solidFill>
                  <a:srgbClr val="E5484D"/>
                </a:solidFill>
                <a:latin typeface="JetBrains Mono"/>
                <a:ea typeface="JetBrains Mono"/>
              </a:rPr>
              <a:t>4</a:t>
            </a:r>
            <a:endParaRPr/>
          </a:p>
        </p:txBody>
      </p:sp>
      <p:sp>
        <p:nvSpPr>
          <p:cNvPr id="283" name="" descr="{&quot;isTemplate&quot;:true,&quot;type&quot;:&quot;text&quot;}"/>
          <p:cNvSpPr txBox="1"/>
          <p:nvPr/>
        </p:nvSpPr>
        <p:spPr>
          <a:xfrm rot="0" flipH="0" flipV="0">
            <a:off x="8086725" y="2771775"/>
            <a:ext cx="3333750" cy="276225"/>
          </a:xfrm>
          <a:prstGeom prst="rect"/>
        </p:spPr>
        <p:txBody>
          <a:bodyPr wrap="none" lIns="0" tIns="0" rIns="0" bIns="0"/>
          <a:p>
            <a:pPr>
              <a:lnSpc>
                <a:spcPct val="150000"/>
              </a:lnSpc>
            </a:pPr>
            <a:r>
              <a:rPr lang="en-US" sz="1200">
                <a:solidFill>
                  <a:srgbClr val="1A2434"/>
                </a:solidFill>
                <a:latin typeface="Inter"/>
                <a:ea typeface="Inter"/>
              </a:rPr>
              <a:t>nodes with anomaly signals in the seed</a:t>
            </a:r>
            <a:endParaRPr/>
          </a:p>
        </p:txBody>
      </p:sp>
      <p:sp>
        <p:nvSpPr>
          <p:cNvPr id="284" name=""/>
          <p:cNvSpPr/>
          <p:nvPr/>
        </p:nvSpPr>
        <p:spPr>
          <a:xfrm rot="0" flipH="0" flipV="0">
            <a:off x="7305675" y="3333750"/>
            <a:ext cx="4200525" cy="838200"/>
          </a:xfrm>
          <a:custGeom>
            <a:pathLst>
              <a:path w="441" h="88">
                <a:moveTo>
                  <a:pt x="0" y="87"/>
                </a:moveTo>
                <a:lnTo>
                  <a:pt x="441" y="87"/>
                </a:lnTo>
                <a:lnTo>
                  <a:pt x="441" y="88"/>
                </a:lnTo>
                <a:lnTo>
                  <a:pt x="0" y="88"/>
                </a:lnTo>
                <a:close/>
              </a:path>
            </a:pathLst>
          </a:custGeom>
          <a:solidFill>
            <a:srgbClr val="EEF2F8"/>
          </a:solidFill>
          <a:ln/>
        </p:spPr>
        <p:txBody>
          <a:bodyPr/>
          <a:p/>
        </p:txBody>
      </p:sp>
      <p:sp>
        <p:nvSpPr>
          <p:cNvPr id="285" name="" descr="{&quot;isTemplate&quot;:true,&quot;type&quot;:&quot;text&quot;}"/>
          <p:cNvSpPr txBox="1"/>
          <p:nvPr/>
        </p:nvSpPr>
        <p:spPr>
          <a:xfrm rot="0" flipH="0" flipV="0">
            <a:off x="7305675" y="3486150"/>
            <a:ext cx="590550" cy="533400"/>
          </a:xfrm>
          <a:prstGeom prst="rect"/>
        </p:spPr>
        <p:txBody>
          <a:bodyPr wrap="none" lIns="0" tIns="0" rIns="0" bIns="0"/>
          <a:p>
            <a:pPr>
              <a:lnSpc>
                <a:spcPct val="110000"/>
              </a:lnSpc>
            </a:pPr>
            <a:r>
              <a:rPr lang="en-US" sz="3150" b="1">
                <a:solidFill>
                  <a:srgbClr val="16B981"/>
                </a:solidFill>
                <a:latin typeface="JetBrains Mono"/>
                <a:ea typeface="JetBrains Mono"/>
              </a:rPr>
              <a:t>0</a:t>
            </a:r>
            <a:endParaRPr/>
          </a:p>
        </p:txBody>
      </p:sp>
      <p:sp>
        <p:nvSpPr>
          <p:cNvPr id="286" name="" descr="{&quot;isTemplate&quot;:true,&quot;type&quot;:&quot;text&quot;}"/>
          <p:cNvSpPr txBox="1"/>
          <p:nvPr/>
        </p:nvSpPr>
        <p:spPr>
          <a:xfrm rot="0" flipH="0" flipV="0">
            <a:off x="8086725" y="3609975"/>
            <a:ext cx="3333750" cy="276225"/>
          </a:xfrm>
          <a:prstGeom prst="rect"/>
        </p:spPr>
        <p:txBody>
          <a:bodyPr wrap="none" lIns="0" tIns="0" rIns="0" bIns="0"/>
          <a:p>
            <a:pPr>
              <a:lnSpc>
                <a:spcPct val="150000"/>
              </a:lnSpc>
            </a:pPr>
            <a:r>
              <a:rPr lang="en-US" sz="1200">
                <a:solidFill>
                  <a:srgbClr val="1A2434"/>
                </a:solidFill>
                <a:latin typeface="Inter"/>
                <a:ea typeface="Inter"/>
              </a:rPr>
              <a:t>log lines pasted for a patrol</a:t>
            </a:r>
            <a:endParaRPr/>
          </a:p>
        </p:txBody>
      </p:sp>
      <p:sp>
        <p:nvSpPr>
          <p:cNvPr id="287" name="" descr="{&quot;isTemplate&quot;:true,&quot;type&quot;:&quot;text&quot;}"/>
          <p:cNvSpPr txBox="1"/>
          <p:nvPr/>
        </p:nvSpPr>
        <p:spPr>
          <a:xfrm rot="0" flipH="0" flipV="0">
            <a:off x="7305675" y="4362450"/>
            <a:ext cx="4200525" cy="885825"/>
          </a:xfrm>
          <a:prstGeom prst="rect"/>
        </p:spPr>
        <p:txBody>
          <a:bodyPr wrap="square" lIns="0" tIns="0" rIns="0" bIns="0">
            <a:normAutofit/>
          </a:bodyPr>
          <a:p>
            <a:pPr>
              <a:lnSpc>
                <a:spcPct val="160000"/>
              </a:lnSpc>
            </a:pPr>
            <a:r>
              <a:rPr lang="en-US" sz="1200">
                <a:solidFill>
                  <a:srgbClr val="1A2434"/>
                </a:solidFill>
                <a:latin typeface="Inter"/>
                <a:ea typeface="Inter"/>
              </a:rPr>
              <a:t>The deployed application reads simulated node documents from Cloud Firestore. A human starts each patrol. Scheduled operation would require a scheduler integration.</a:t>
            </a:r>
            <a:endParaRPr/>
          </a:p>
        </p:txBody>
      </p:sp>
      <p:sp>
        <p:nvSpPr>
          <p:cNvPr id="288" name="" descr="{&quot;isTemplate&quot;:true,&quot;type&quot;:&quot;text&quot;}"/>
          <p:cNvSpPr txBox="1"/>
          <p:nvPr/>
        </p:nvSpPr>
        <p:spPr>
          <a:xfrm rot="0" flipH="0" flipV="0">
            <a:off x="685800" y="6381750"/>
            <a:ext cx="3162300" cy="161925"/>
          </a:xfrm>
          <a:prstGeom prst="rect"/>
        </p:spPr>
        <p:txBody>
          <a:bodyPr wrap="none" lIns="0" tIns="0" rIns="0" bIns="0"/>
          <a:p>
            <a:pPr>
              <a:lnSpc>
                <a:spcPct val="100000"/>
              </a:lnSpc>
            </a:pPr>
            <a:r>
              <a:rPr lang="en-US" sz="1050">
                <a:solidFill>
                  <a:srgbClr val="64748B"/>
                </a:solidFill>
                <a:latin typeface="Inter"/>
                <a:ea typeface="Inter"/>
              </a:rPr>
              <a:t>Local English capture preserves the initial clean state</a:t>
            </a:r>
            <a:endParaRPr/>
          </a:p>
        </p:txBody>
      </p:sp>
      <p:sp>
        <p:nvSpPr>
          <p:cNvPr id="289" name="" descr="{&quot;isTemplate&quot;:true,&quot;type&quot;:&quot;text&quot;}"/>
          <p:cNvSpPr txBox="1"/>
          <p:nvPr/>
        </p:nvSpPr>
        <p:spPr>
          <a:xfrm rot="0" flipH="0" flipV="0">
            <a:off x="10934700" y="6381750"/>
            <a:ext cx="571500" cy="161925"/>
          </a:xfrm>
          <a:prstGeom prst="rect"/>
        </p:spPr>
        <p:txBody>
          <a:bodyPr wrap="none" lIns="0" tIns="0" rIns="0" bIns="0"/>
          <a:p>
            <a:pPr>
              <a:lnSpc>
                <a:spcPct val="100000"/>
              </a:lnSpc>
            </a:pPr>
            <a:r>
              <a:rPr lang="en-US" sz="1050">
                <a:solidFill>
                  <a:srgbClr val="64748B"/>
                </a:solidFill>
                <a:latin typeface="JetBrains Mono"/>
                <a:ea typeface="JetBrains Mono"/>
              </a:rPr>
              <a:t>07 / 15</a:t>
            </a:r>
            <a:endParaRPr/>
          </a:p>
        </p:txBody>
      </p:sp>
    </p:spTree>
  </p:cSld>
</p:sld>
</file>

<file path=ppt/slides/slide8.xml><?xml version="1.0" encoding="utf-8"?>
<p:sld xmlns:r="http://schemas.openxmlformats.org/officeDocument/2006/relationships" xmlns:p="http://schemas.openxmlformats.org/presentationml/2006/main" xmlns:a="http://schemas.openxmlformats.org/drawingml/2006/main">
  <p:cSld>
    <p:spTree>
      <p:nvGrpSpPr>
        <p:cNvPr id="290" name="" descr="// 08: operation log above the recorded verification count.&#10;const FONT = 'Inter, &quot;Helvetica Neue&quot;, Arial, sans-serif';&#10;const MONO = '&quot;JetBrains Mono&quot;, &quot;SF Mono&quot;, Menlo, monospace';&#10;const INK = '#0B1220';&#10;const GREEN = '#16B981';&#10;const DIM = '#64748B';&#10;const BODY = '#1A2434';&#10;&#10;const WRITES = [&#10;    { field: 'lyg2112.cordoned', from: 'false', to: 'true' },&#10;    { field: 'lyg2115.cordoned', from: 'false', to: 'true' },&#10;];&#10;&#10;&lt;Slide style={{ width: 1280, height: 720, padding: '18px 72px', background: '#FFFFFF', fontFamily: FONT }}&gt;&#10;    &lt;Box style={{ width: 1136, height: 92, flexDirection: 'row', justifyContent: 'space-between', alignItems: 'flex-end' }}&gt;&#10;        &lt;Text style={{ fontSize: 34, fontWeight: 700, color: INK, lineHeight: 1.3 }}&gt;Action verification&lt;/Text&gt;&#10;        &lt;Text style={{ fontFamily: MONO, fontSize: 14, color: DIM, lineHeight: 1.45 }}&gt;Operation log, local shift replay&lt;/Text&gt;&#10;    &lt;/Box&gt;&#10;&#10;    &lt;Box style={{ width: 1136, height: 544 }}&gt;&#10;&#10;        &lt;Box style={{ width: 1136, height: 264, alignItems: 'center' }}&gt;&#10;            &lt;Image src='assets/crop-oplog.png' style={{ width: 1136, height: 264, border: '1px solid #E9EDF4' }} /&gt;&#10;        &lt;/Box&gt;&#10;&#10;        &lt;Box style={{ width: 1136, height: 260, flexDirection: 'row', gap: 32, marginTop: 20 }}&gt;&#10;&#10;            &lt;Box style={{ width: 330, justifyContent: 'center' }}&gt;&#10;                &lt;Text style={{ fontFamily: MONO, fontSize: 104, fontWeight: 700, color: GREEN, lineHeight: 1.05 }}&gt;2 / 2&lt;/Text&gt;&#10;                &lt;Text style={{ fontSize: 15, color: DIM, lineHeight: 1.5, marginTop: 6 }}&gt;verified cordons in the earlier recorded run, replayed here&lt;/Text&gt;&#10;            &lt;/Box&gt;&#10;&#10;            &lt;Box style={{ width: 774, gap: 12, justifyContent: 'center' }}&gt;&#10;                {WRITES.map((w, i) =&gt; (&#10;                    &lt;Box key={i} style={{ flexDirection: 'row', alignItems: 'center', gap: 14 }}&gt;&#10;                        &lt;Text style={{ fontFamily: MONO, fontSize: 17, fontWeight: 500, color: INK, width: 200 }}&gt;{w.field}&lt;/Text&gt;&#10;                        &lt;Text style={{ fontFamily: MONO, fontSize: 17, color: DIM }}&gt;{w.from}&lt;/Text&gt;&#10;                        &lt;Text style={{ fontFamily: MONO, fontSize: 17, color: GREEN }}&gt;to&lt;/Text&gt;&#10;                        &lt;Text style={{ fontFamily: MONO, fontSize: 17, fontWeight: 700, color: GREEN }}&gt;{w.to}&lt;/Text&gt;&#10;                    &lt;/Box&gt;&#10;                ))}&#10;                &lt;Box style={{ width: 774, height: 1, background: '#E6EBF3', marginTop: 4, marginBottom: 4 }} /&gt;&#10;                &lt;Text style={{ fontSize: 20, fontWeight: 600, color: INK, lineHeight: 1.45 }}&gt;&#10;                    The execution path checks the returned node state before recording verification.&#10;                &lt;/Text&gt;&#10;                &lt;Text style={{ fontSize: 14, color: DIM, lineHeight: 1.55 }}&gt;&#10;                    An unchanged value fails verification. The deployed path updates the simulated Firestore cluster.&#10;                    This English capture replays the two cordon events locally and does not run a new patrol.&#10;                &lt;/Text&gt;&#10;            &lt;/Box&gt;&#10;&#10;        &lt;/Box&gt;&#10;&#10;    &lt;/Box&gt;&#10;&#10;    &lt;Box style={{ width: 1136, height: 48, flexDirection: 'row', justifyContent: 'space-between', alignItems: 'center' }}&gt;&#10;        &lt;Text style={{ fontSize: 14, color: DIM }}&gt;Both cordons use the low risk execution path&lt;/Text&gt;&#10;        &lt;Text style={{ fontFamily: MONO, fontSize: 14, color: DIM }}&gt;08 / 15&lt;/Text&gt;&#10;    &lt;/Box&gt;&#10;&lt;/Slide&gt;&#10;"/>
        <p:cNvGrpSpPr/>
        <p:nvPr/>
      </p:nvGrpSpPr>
      <p:grpSpPr>
        <a:xfrm>
          <a:off x="0" y="0"/>
          <a:ext cx="0" cy="0"/>
          <a:chOff x="0" y="0"/>
          <a:chExt cx="0" cy="0"/>
        </a:xfrm>
      </p:grpSpPr>
      <p:sp>
        <p:nvSpPr>
          <p:cNvPr id="291" name=""/>
          <p:cNvSpPr/>
          <p:nvPr/>
        </p:nvSpPr>
        <p:spPr>
          <a:xfrm rot="0" flipH="0" flipV="0">
            <a:off x="0" y="0"/>
            <a:ext cx="12192000" cy="6858000"/>
          </a:xfrm>
          <a:prstGeom prst="rect">
            <a:avLst/>
          </a:prstGeom>
          <a:solidFill>
            <a:srgbClr val="FFFFFF"/>
          </a:solidFill>
          <a:ln/>
        </p:spPr>
        <p:txBody>
          <a:bodyPr/>
          <a:p/>
        </p:txBody>
      </p:sp>
      <p:sp>
        <p:nvSpPr>
          <p:cNvPr id="292" name="" descr="{&quot;isTemplate&quot;:true,&quot;type&quot;:&quot;text&quot;}"/>
          <p:cNvSpPr txBox="1"/>
          <p:nvPr/>
        </p:nvSpPr>
        <p:spPr>
          <a:xfrm rot="0" flipH="0" flipV="0">
            <a:off x="685800" y="533400"/>
            <a:ext cx="2809875" cy="514350"/>
          </a:xfrm>
          <a:prstGeom prst="rect"/>
        </p:spPr>
        <p:txBody>
          <a:bodyPr wrap="none" lIns="0" tIns="0" rIns="0" bIns="0"/>
          <a:p>
            <a:pPr>
              <a:lnSpc>
                <a:spcPct val="130000"/>
              </a:lnSpc>
            </a:pPr>
            <a:r>
              <a:rPr lang="en-US" sz="2550" b="1">
                <a:solidFill>
                  <a:srgbClr val="0B1220"/>
                </a:solidFill>
                <a:latin typeface="Inter"/>
                <a:ea typeface="Inter"/>
              </a:rPr>
              <a:t>Action verification</a:t>
            </a:r>
            <a:endParaRPr/>
          </a:p>
        </p:txBody>
      </p:sp>
      <p:sp>
        <p:nvSpPr>
          <p:cNvPr id="293" name="" descr="{&quot;isTemplate&quot;:true,&quot;type&quot;:&quot;text&quot;}"/>
          <p:cNvSpPr txBox="1"/>
          <p:nvPr/>
        </p:nvSpPr>
        <p:spPr>
          <a:xfrm rot="0" flipH="0" flipV="0">
            <a:off x="8848725" y="809625"/>
            <a:ext cx="2657475" cy="238125"/>
          </a:xfrm>
          <a:prstGeom prst="rect"/>
        </p:spPr>
        <p:txBody>
          <a:bodyPr wrap="none" lIns="0" tIns="0" rIns="0" bIns="0"/>
          <a:p>
            <a:pPr>
              <a:lnSpc>
                <a:spcPct val="145000"/>
              </a:lnSpc>
            </a:pPr>
            <a:r>
              <a:rPr lang="en-US" sz="1050">
                <a:solidFill>
                  <a:srgbClr val="64748B"/>
                </a:solidFill>
                <a:latin typeface="JetBrains Mono"/>
                <a:ea typeface="JetBrains Mono"/>
              </a:rPr>
              <a:t>Operation log, local shift replay</a:t>
            </a:r>
            <a:endParaRPr/>
          </a:p>
        </p:txBody>
      </p:sp>
      <p:sp>
        <p:nvSpPr>
          <p:cNvPr id="294" name=""/>
          <p:cNvSpPr/>
          <p:nvPr/>
        </p:nvSpPr>
        <p:spPr>
          <a:xfrm rot="0" flipH="0" flipV="0">
            <a:off x="685800" y="1047750"/>
            <a:ext cx="10820400" cy="2514600"/>
          </a:xfrm>
          <a:prstGeom prst="rect">
            <a:avLst/>
          </a:prstGeom>
          <a:ln w="12700">
            <a:solidFill>
              <a:srgbClr val="E9EDF4"/>
            </a:solidFill>
            <a:prstDash val="solid"/>
          </a:ln>
        </p:spPr>
        <p:txBody>
          <a:bodyPr/>
          <a:p/>
        </p:txBody>
      </p:sp>
      <p:pic>
        <p:nvPicPr>
          <p:cNvPr id="295" name=""/>
          <p:cNvPicPr>
            <a:picLocks noChangeAspect="1"/>
          </p:cNvPicPr>
          <p:nvPr/>
        </p:nvPicPr>
        <p:blipFill>
          <a:blip r:embed="rId1"/>
          <a:stretch>
            <a:fillRect/>
          </a:stretch>
        </p:blipFill>
        <p:spPr>
          <a:xfrm rot="0" flipH="0" flipV="0">
            <a:off x="685800" y="1047750"/>
            <a:ext cx="10820400" cy="2514600"/>
          </a:xfrm>
          <a:prstGeom prst="rect">
            <a:avLst/>
          </a:prstGeom>
          <a:ln/>
        </p:spPr>
      </p:pic>
      <p:sp>
        <p:nvSpPr>
          <p:cNvPr id="296" name="" descr="{&quot;isTemplate&quot;:true,&quot;type&quot;:&quot;text&quot;}"/>
          <p:cNvSpPr txBox="1"/>
          <p:nvPr/>
        </p:nvSpPr>
        <p:spPr>
          <a:xfrm rot="0" flipH="0" flipV="0">
            <a:off x="685800" y="4076700"/>
            <a:ext cx="3143250" cy="1257300"/>
          </a:xfrm>
          <a:prstGeom prst="rect"/>
        </p:spPr>
        <p:txBody>
          <a:bodyPr wrap="none" lIns="0" tIns="0" rIns="0" bIns="0"/>
          <a:p>
            <a:pPr>
              <a:lnSpc>
                <a:spcPct val="105000"/>
              </a:lnSpc>
            </a:pPr>
            <a:r>
              <a:rPr lang="en-US" sz="7800" b="1">
                <a:solidFill>
                  <a:srgbClr val="16B981"/>
                </a:solidFill>
                <a:latin typeface="JetBrains Mono"/>
                <a:ea typeface="JetBrains Mono"/>
              </a:rPr>
              <a:t>2 / 2</a:t>
            </a:r>
            <a:endParaRPr/>
          </a:p>
        </p:txBody>
      </p:sp>
      <p:sp>
        <p:nvSpPr>
          <p:cNvPr id="297" name="" descr="{&quot;isTemplate&quot;:true,&quot;type&quot;:&quot;text&quot;}"/>
          <p:cNvSpPr txBox="1"/>
          <p:nvPr/>
        </p:nvSpPr>
        <p:spPr>
          <a:xfrm rot="0" flipH="0" flipV="0">
            <a:off x="685800" y="5391150"/>
            <a:ext cx="3143250" cy="514350"/>
          </a:xfrm>
          <a:prstGeom prst="rect"/>
        </p:spPr>
        <p:txBody>
          <a:bodyPr wrap="square" lIns="0" tIns="0" rIns="0" bIns="0">
            <a:normAutofit/>
          </a:bodyPr>
          <a:p>
            <a:pPr>
              <a:lnSpc>
                <a:spcPct val="150000"/>
              </a:lnSpc>
            </a:pPr>
            <a:r>
              <a:rPr lang="en-US" sz="1125">
                <a:solidFill>
                  <a:srgbClr val="64748B"/>
                </a:solidFill>
                <a:latin typeface="Inter"/>
                <a:ea typeface="Inter"/>
              </a:rPr>
              <a:t>verified cordons in the earlier recorded run, replayed here</a:t>
            </a:r>
            <a:endParaRPr/>
          </a:p>
        </p:txBody>
      </p:sp>
      <p:sp>
        <p:nvSpPr>
          <p:cNvPr id="298" name="" descr="{&quot;isTemplate&quot;:true,&quot;type&quot;:&quot;text&quot;}"/>
          <p:cNvSpPr txBox="1"/>
          <p:nvPr/>
        </p:nvSpPr>
        <p:spPr>
          <a:xfrm rot="0" flipH="0" flipV="0">
            <a:off x="4133850" y="4105275"/>
            <a:ext cx="1905000" cy="200025"/>
          </a:xfrm>
          <a:prstGeom prst="rect"/>
        </p:spPr>
        <p:txBody>
          <a:bodyPr wrap="none" lIns="0" tIns="0" rIns="0" bIns="0"/>
          <a:p>
            <a:pPr>
              <a:lnSpc>
                <a:spcPct val="100000"/>
              </a:lnSpc>
            </a:pPr>
            <a:r>
              <a:rPr lang="en-US" sz="1275">
                <a:solidFill>
                  <a:srgbClr val="0B1220"/>
                </a:solidFill>
                <a:latin typeface="JetBrains Mono"/>
                <a:ea typeface="JetBrains Mono"/>
              </a:rPr>
              <a:t>lyg2112.cordoned</a:t>
            </a:r>
            <a:endParaRPr/>
          </a:p>
        </p:txBody>
      </p:sp>
      <p:sp>
        <p:nvSpPr>
          <p:cNvPr id="299" name="" descr="{&quot;isTemplate&quot;:true,&quot;type&quot;:&quot;text&quot;}"/>
          <p:cNvSpPr txBox="1"/>
          <p:nvPr/>
        </p:nvSpPr>
        <p:spPr>
          <a:xfrm rot="0" flipH="0" flipV="0">
            <a:off x="6172200" y="4105275"/>
            <a:ext cx="495300" cy="200025"/>
          </a:xfrm>
          <a:prstGeom prst="rect"/>
        </p:spPr>
        <p:txBody>
          <a:bodyPr wrap="none" lIns="0" tIns="0" rIns="0" bIns="0"/>
          <a:p>
            <a:pPr>
              <a:lnSpc>
                <a:spcPct val="100000"/>
              </a:lnSpc>
            </a:pPr>
            <a:r>
              <a:rPr lang="en-US" sz="1275">
                <a:solidFill>
                  <a:srgbClr val="64748B"/>
                </a:solidFill>
                <a:latin typeface="JetBrains Mono"/>
                <a:ea typeface="JetBrains Mono"/>
              </a:rPr>
              <a:t>false</a:t>
            </a:r>
            <a:endParaRPr/>
          </a:p>
        </p:txBody>
      </p:sp>
      <p:sp>
        <p:nvSpPr>
          <p:cNvPr id="300" name="" descr="{&quot;isTemplate&quot;:true,&quot;type&quot;:&quot;text&quot;}"/>
          <p:cNvSpPr txBox="1"/>
          <p:nvPr/>
        </p:nvSpPr>
        <p:spPr>
          <a:xfrm rot="0" flipH="0" flipV="0">
            <a:off x="6800850" y="4105275"/>
            <a:ext cx="200025" cy="200025"/>
          </a:xfrm>
          <a:prstGeom prst="rect"/>
        </p:spPr>
        <p:txBody>
          <a:bodyPr wrap="none" lIns="0" tIns="0" rIns="0" bIns="0"/>
          <a:p>
            <a:pPr>
              <a:lnSpc>
                <a:spcPct val="100000"/>
              </a:lnSpc>
            </a:pPr>
            <a:r>
              <a:rPr lang="en-US" sz="1275">
                <a:solidFill>
                  <a:srgbClr val="16B981"/>
                </a:solidFill>
                <a:latin typeface="JetBrains Mono"/>
                <a:ea typeface="JetBrains Mono"/>
              </a:rPr>
              <a:t>to</a:t>
            </a:r>
            <a:endParaRPr/>
          </a:p>
        </p:txBody>
      </p:sp>
      <p:sp>
        <p:nvSpPr>
          <p:cNvPr id="301" name="" descr="{&quot;isTemplate&quot;:true,&quot;type&quot;:&quot;text&quot;}"/>
          <p:cNvSpPr txBox="1"/>
          <p:nvPr/>
        </p:nvSpPr>
        <p:spPr>
          <a:xfrm rot="0" flipH="0" flipV="0">
            <a:off x="7134225" y="4105275"/>
            <a:ext cx="390525" cy="200025"/>
          </a:xfrm>
          <a:prstGeom prst="rect"/>
        </p:spPr>
        <p:txBody>
          <a:bodyPr wrap="none" lIns="0" tIns="0" rIns="0" bIns="0"/>
          <a:p>
            <a:pPr>
              <a:lnSpc>
                <a:spcPct val="100000"/>
              </a:lnSpc>
            </a:pPr>
            <a:r>
              <a:rPr lang="en-US" sz="1275" b="1">
                <a:solidFill>
                  <a:srgbClr val="16B981"/>
                </a:solidFill>
                <a:latin typeface="JetBrains Mono"/>
                <a:ea typeface="JetBrains Mono"/>
              </a:rPr>
              <a:t>true</a:t>
            </a:r>
            <a:endParaRPr/>
          </a:p>
        </p:txBody>
      </p:sp>
      <p:sp>
        <p:nvSpPr>
          <p:cNvPr id="302" name="" descr="{&quot;isTemplate&quot;:true,&quot;type&quot;:&quot;text&quot;}"/>
          <p:cNvSpPr txBox="1"/>
          <p:nvPr/>
        </p:nvSpPr>
        <p:spPr>
          <a:xfrm rot="0" flipH="0" flipV="0">
            <a:off x="4133850" y="4419600"/>
            <a:ext cx="1905000" cy="200025"/>
          </a:xfrm>
          <a:prstGeom prst="rect"/>
        </p:spPr>
        <p:txBody>
          <a:bodyPr wrap="none" lIns="0" tIns="0" rIns="0" bIns="0"/>
          <a:p>
            <a:pPr>
              <a:lnSpc>
                <a:spcPct val="100000"/>
              </a:lnSpc>
            </a:pPr>
            <a:r>
              <a:rPr lang="en-US" sz="1275">
                <a:solidFill>
                  <a:srgbClr val="0B1220"/>
                </a:solidFill>
                <a:latin typeface="JetBrains Mono"/>
                <a:ea typeface="JetBrains Mono"/>
              </a:rPr>
              <a:t>lyg2115.cordoned</a:t>
            </a:r>
            <a:endParaRPr/>
          </a:p>
        </p:txBody>
      </p:sp>
      <p:sp>
        <p:nvSpPr>
          <p:cNvPr id="303" name="" descr="{&quot;isTemplate&quot;:true,&quot;type&quot;:&quot;text&quot;}"/>
          <p:cNvSpPr txBox="1"/>
          <p:nvPr/>
        </p:nvSpPr>
        <p:spPr>
          <a:xfrm rot="0" flipH="0" flipV="0">
            <a:off x="6172200" y="4419600"/>
            <a:ext cx="495300" cy="200025"/>
          </a:xfrm>
          <a:prstGeom prst="rect"/>
        </p:spPr>
        <p:txBody>
          <a:bodyPr wrap="none" lIns="0" tIns="0" rIns="0" bIns="0"/>
          <a:p>
            <a:pPr>
              <a:lnSpc>
                <a:spcPct val="100000"/>
              </a:lnSpc>
            </a:pPr>
            <a:r>
              <a:rPr lang="en-US" sz="1275">
                <a:solidFill>
                  <a:srgbClr val="64748B"/>
                </a:solidFill>
                <a:latin typeface="JetBrains Mono"/>
                <a:ea typeface="JetBrains Mono"/>
              </a:rPr>
              <a:t>false</a:t>
            </a:r>
            <a:endParaRPr/>
          </a:p>
        </p:txBody>
      </p:sp>
      <p:sp>
        <p:nvSpPr>
          <p:cNvPr id="304" name="" descr="{&quot;isTemplate&quot;:true,&quot;type&quot;:&quot;text&quot;}"/>
          <p:cNvSpPr txBox="1"/>
          <p:nvPr/>
        </p:nvSpPr>
        <p:spPr>
          <a:xfrm rot="0" flipH="0" flipV="0">
            <a:off x="6800850" y="4419600"/>
            <a:ext cx="200025" cy="200025"/>
          </a:xfrm>
          <a:prstGeom prst="rect"/>
        </p:spPr>
        <p:txBody>
          <a:bodyPr wrap="none" lIns="0" tIns="0" rIns="0" bIns="0"/>
          <a:p>
            <a:pPr>
              <a:lnSpc>
                <a:spcPct val="100000"/>
              </a:lnSpc>
            </a:pPr>
            <a:r>
              <a:rPr lang="en-US" sz="1275">
                <a:solidFill>
                  <a:srgbClr val="16B981"/>
                </a:solidFill>
                <a:latin typeface="JetBrains Mono"/>
                <a:ea typeface="JetBrains Mono"/>
              </a:rPr>
              <a:t>to</a:t>
            </a:r>
            <a:endParaRPr/>
          </a:p>
        </p:txBody>
      </p:sp>
      <p:sp>
        <p:nvSpPr>
          <p:cNvPr id="305" name="" descr="{&quot;isTemplate&quot;:true,&quot;type&quot;:&quot;text&quot;}"/>
          <p:cNvSpPr txBox="1"/>
          <p:nvPr/>
        </p:nvSpPr>
        <p:spPr>
          <a:xfrm rot="0" flipH="0" flipV="0">
            <a:off x="7134225" y="4419600"/>
            <a:ext cx="390525" cy="200025"/>
          </a:xfrm>
          <a:prstGeom prst="rect"/>
        </p:spPr>
        <p:txBody>
          <a:bodyPr wrap="none" lIns="0" tIns="0" rIns="0" bIns="0"/>
          <a:p>
            <a:pPr>
              <a:lnSpc>
                <a:spcPct val="100000"/>
              </a:lnSpc>
            </a:pPr>
            <a:r>
              <a:rPr lang="en-US" sz="1275" b="1">
                <a:solidFill>
                  <a:srgbClr val="16B981"/>
                </a:solidFill>
                <a:latin typeface="JetBrains Mono"/>
                <a:ea typeface="JetBrains Mono"/>
              </a:rPr>
              <a:t>true</a:t>
            </a:r>
            <a:endParaRPr/>
          </a:p>
        </p:txBody>
      </p:sp>
      <p:sp>
        <p:nvSpPr>
          <p:cNvPr id="306" name=""/>
          <p:cNvSpPr/>
          <p:nvPr/>
        </p:nvSpPr>
        <p:spPr>
          <a:xfrm rot="0" flipH="0" flipV="0">
            <a:off x="4133850" y="4772025"/>
            <a:ext cx="7372350" cy="9525"/>
          </a:xfrm>
          <a:prstGeom prst="rect">
            <a:avLst/>
          </a:prstGeom>
          <a:solidFill>
            <a:srgbClr val="E6EBF3"/>
          </a:solidFill>
          <a:ln/>
        </p:spPr>
        <p:txBody>
          <a:bodyPr/>
          <a:p/>
        </p:txBody>
      </p:sp>
      <p:sp>
        <p:nvSpPr>
          <p:cNvPr id="307" name="" descr="{&quot;isTemplate&quot;:true,&quot;type&quot;:&quot;text&quot;}"/>
          <p:cNvSpPr txBox="1"/>
          <p:nvPr/>
        </p:nvSpPr>
        <p:spPr>
          <a:xfrm rot="0" flipH="0" flipV="0">
            <a:off x="4133850" y="4933950"/>
            <a:ext cx="7372350" cy="333375"/>
          </a:xfrm>
          <a:prstGeom prst="rect"/>
        </p:spPr>
        <p:txBody>
          <a:bodyPr wrap="none" lIns="0" tIns="0" rIns="0" bIns="0"/>
          <a:p>
            <a:pPr>
              <a:lnSpc>
                <a:spcPct val="145000"/>
              </a:lnSpc>
            </a:pPr>
            <a:r>
              <a:rPr lang="en-US" sz="1500" b="1">
                <a:solidFill>
                  <a:srgbClr val="0B1220"/>
                </a:solidFill>
                <a:latin typeface="Inter"/>
                <a:ea typeface="Inter"/>
              </a:rPr>
              <a:t>The execution path checks the returned node state before recording verification.</a:t>
            </a:r>
            <a:endParaRPr/>
          </a:p>
        </p:txBody>
      </p:sp>
      <p:sp>
        <p:nvSpPr>
          <p:cNvPr id="308" name="" descr="{&quot;isTemplate&quot;:true,&quot;type&quot;:&quot;text&quot;}"/>
          <p:cNvSpPr txBox="1"/>
          <p:nvPr/>
        </p:nvSpPr>
        <p:spPr>
          <a:xfrm rot="0" flipH="0" flipV="0">
            <a:off x="4133850" y="5381625"/>
            <a:ext cx="7372350" cy="504825"/>
          </a:xfrm>
          <a:prstGeom prst="rect"/>
        </p:spPr>
        <p:txBody>
          <a:bodyPr wrap="square" lIns="0" tIns="0" rIns="0" bIns="0">
            <a:normAutofit/>
          </a:bodyPr>
          <a:p>
            <a:pPr>
              <a:lnSpc>
                <a:spcPct val="155000"/>
              </a:lnSpc>
            </a:pPr>
            <a:r>
              <a:rPr lang="en-US" sz="1050">
                <a:solidFill>
                  <a:srgbClr val="64748B"/>
                </a:solidFill>
                <a:latin typeface="Inter"/>
                <a:ea typeface="Inter"/>
              </a:rPr>
              <a:t>An unchanged value fails verification. The deployed path updates the simulated Firestore cluster. This English capture replays the two cordon events locally and does not run a new patrol.</a:t>
            </a:r>
            <a:endParaRPr/>
          </a:p>
        </p:txBody>
      </p:sp>
      <p:sp>
        <p:nvSpPr>
          <p:cNvPr id="309" name="" descr="{&quot;isTemplate&quot;:true,&quot;type&quot;:&quot;text&quot;}"/>
          <p:cNvSpPr txBox="1"/>
          <p:nvPr/>
        </p:nvSpPr>
        <p:spPr>
          <a:xfrm rot="0" flipH="0" flipV="0">
            <a:off x="685800" y="6381750"/>
            <a:ext cx="2695575" cy="161925"/>
          </a:xfrm>
          <a:prstGeom prst="rect"/>
        </p:spPr>
        <p:txBody>
          <a:bodyPr wrap="none" lIns="0" tIns="0" rIns="0" bIns="0"/>
          <a:p>
            <a:pPr>
              <a:lnSpc>
                <a:spcPct val="100000"/>
              </a:lnSpc>
            </a:pPr>
            <a:r>
              <a:rPr lang="en-US" sz="1050">
                <a:solidFill>
                  <a:srgbClr val="64748B"/>
                </a:solidFill>
                <a:latin typeface="Inter"/>
                <a:ea typeface="Inter"/>
              </a:rPr>
              <a:t>Both cordons use the low risk execution path</a:t>
            </a:r>
            <a:endParaRPr/>
          </a:p>
        </p:txBody>
      </p:sp>
      <p:sp>
        <p:nvSpPr>
          <p:cNvPr id="310" name="" descr="{&quot;isTemplate&quot;:true,&quot;type&quot;:&quot;text&quot;}"/>
          <p:cNvSpPr txBox="1"/>
          <p:nvPr/>
        </p:nvSpPr>
        <p:spPr>
          <a:xfrm rot="0" flipH="0" flipV="0">
            <a:off x="10934700" y="6381750"/>
            <a:ext cx="571500" cy="161925"/>
          </a:xfrm>
          <a:prstGeom prst="rect"/>
        </p:spPr>
        <p:txBody>
          <a:bodyPr wrap="none" lIns="0" tIns="0" rIns="0" bIns="0"/>
          <a:p>
            <a:pPr>
              <a:lnSpc>
                <a:spcPct val="100000"/>
              </a:lnSpc>
            </a:pPr>
            <a:r>
              <a:rPr lang="en-US" sz="1050">
                <a:solidFill>
                  <a:srgbClr val="64748B"/>
                </a:solidFill>
                <a:latin typeface="JetBrains Mono"/>
                <a:ea typeface="JetBrains Mono"/>
              </a:rPr>
              <a:t>08 / 15</a:t>
            </a:r>
            <a:endParaRPr/>
          </a:p>
        </p:txBody>
      </p:sp>
    </p:spTree>
  </p:cSld>
</p:sld>
</file>

<file path=ppt/slides/slide9.xml><?xml version="1.0" encoding="utf-8"?>
<p:sld xmlns:r="http://schemas.openxmlformats.org/officeDocument/2006/relationships" xmlns:p="http://schemas.openxmlformats.org/presentationml/2006/main" xmlns:a="http://schemas.openxmlformats.org/drawingml/2006/main">
  <p:cSld>
    <p:spTree>
      <p:nvGrpSpPr>
        <p:cNvPr id="311" name="" descr="// 09: risk levels, execution gate and application evidence.&#10;const FONT = 'Inter, &quot;Helvetica Neue&quot;, Arial, sans-serif';&#10;const MONO = '&quot;JetBrains Mono&quot;, &quot;SF Mono&quot;, Menlo, monospace';&#10;const INK = '#0B1220';&#10;const BLUE = '#2F6BFF';&#10;const RED = '#E5484D';&#10;const GREEN = '#16B981';&#10;const AMBER = '#B26B00';&#10;const PANEL = '#F1F4FA';&#10;const DIM = '#64748B';&#10;const BODY = '#1A2434';&#10;&#10;const LEVELS = [&#10;    { name: 'LOW', count: '6', color: GREEN, rule: 'Reversible effects limited to a task or scheduling state.', gate: 'eligible for automatic execution' },&#10;    { name: 'MEDIUM', count: '5', color: AMBER, rule: 'Affects other jobs on the same node, or needs a short interruption.', gate: 'per-item approval + impact acknowledgement' },&#10;    { name: 'HIGH', count: '3', color: RED, rule: 'May remove hardware capacity or affect multiple nodes.', gate: 'approval, change ticket and second confirmation' },&#10;];&#10;&#10;&lt;Slide style={{ width: 1280, height: 720, padding: '18px 72px', background: '#FFFFFF', fontFamily: FONT }}&gt;&#10;    &lt;Box style={{ width: 1136, height: 92, flexDirection: 'row', justifyContent: 'space-between', alignItems: 'flex-end' }}&gt;&#10;        &lt;Text style={{ fontSize: 34, fontWeight: 700, color: INK, lineHeight: 1.3 }}&gt;Action risk and approval&lt;/Text&gt;&#10;        &lt;Text style={{ fontFamily: MONO, fontSize: 14, color: DIM, lineHeight: 1.45 }}&gt;14 actions, 6 low / 5 medium / 3 high&lt;/Text&gt;&#10;    &lt;/Box&gt;&#10;&#10;    &lt;Box style={{ width: 1136, height: 544 }}&gt;&#10;&#10;        &lt;Box style={{ width: 1136, height: 250, flexDirection: 'row', gap: 32 }}&gt;&#10;&#10;            &lt;Box style={{ width: 700 }}&gt;&#10;                {LEVELS.map((l, i) =&gt; (&#10;                    &lt;Box key={i} style={{ width: 700, height: 62, flexDirection: 'row', alignItems: 'flex-start', gap: 16, borderTop: '1px solid #EEF2F8' }}&gt;&#10;                        &lt;Text style={{ fontFamily: MONO, fontSize: 14, fontWeight: 700, color: l.color, width: 74, lineHeight: 1.9 }}&gt;{l.name}&lt;/Text&gt;&#10;                        &lt;Text style={{ fontFamily: MONO, fontSize: 22, fontWeight: 700, color: INK, width: 40, lineHeight: 1.25 }}&gt;{l.count}&lt;/Text&gt;&#10;                        &lt;Box style={{ width: 552 }}&gt;&#10;                            &lt;Text style={{ fontSize: 15, color: BODY, lineHeight: 1.5 }}&gt;{l.rule}&lt;/Text&gt;&#10;                            &lt;Text style={{ fontFamily: MONO, fontSize: 13, color: DIM, lineHeight: 1.6 }}&gt;{l.gate}&lt;/Text&gt;&#10;                        &lt;/Box&gt;&#10;                    &lt;/Box&gt;&#10;                ))}&#10;                &lt;Text style={{ fontSize: 13, color: DIM, lineHeight: 1.6, marginTop: 12, width: 700 }}&gt;&#10;                    The catalog also marks &lt;span style={{ fontFamily: MONO, color: BODY }}&gt;raise_nccl_timeout&lt;/span&gt; as discouraged.&#10;                    It hides a timeout symptom without resolving its cause and is excluded from model candidates.&#10;                &lt;/Text&gt;&#10;            &lt;/Box&gt;&#10;&#10;            &lt;Box style={{ width: 404 }}&gt;&#10;                &lt;Text style={{ fontSize: 18, fontWeight: 600, color: INK, lineHeight: 1.45 }}&gt;Execution allow-list&lt;/Text&gt;&#10;                &lt;Box style={{ marginTop: 8, padding: 10, borderRadius: 6, background: INK }}&gt;&#10;                    &lt;Text style={{ fontFamily: MONO, fontSize: 13, color: '#E2E8F0', lineHeight: 1.7 }}&gt;&#10;                        if (act.risk !== 'low') {'{'}&#10;                        &lt;br /&gt;&#10;                        {'  '}return {'{'} refused: true {'}'}&#10;                        &lt;br /&gt;&#10;                        {'}'}&#10;                    &lt;/Text&gt;&#10;                &lt;/Box&gt;&#10;                &lt;Text style={{ fontSize: 14, color: BODY, lineHeight: 1.55, marginTop: 8, width: 404 }}&gt;&#10;                    The model selects an action ID. The action library supplies its risk level.&#10;                &lt;/Text&gt;&#10;                &lt;Text style={{ fontSize: 16, fontWeight: 700, color: BLUE, lineHeight: 1.5, marginTop: 8, width: 404 }}&gt;&#10;                    The tool refuses automatic execution above low risk.&#10;                &lt;/Text&gt;&#10;            &lt;/Box&gt;&#10;&#10;        &lt;/Box&gt;&#10;&#10;        &lt;Box style={{ width: 1136, height: 272, marginTop: 16, alignItems: 'center', justifyContent: 'center' }}&gt;&#10;            {/* Include the complete risk panel heading in the measured crop. */}&#10;            &lt;Image src='assets/crop-risks.png' style={{ width: 1096, height: 210, border: '1px solid #E9EDF4' }} /&gt;&#10;        &lt;/Box&gt;&#10;&#10;    &lt;/Box&gt;&#10;&#10;    &lt;Box style={{ width: 1136, height: 48, flexDirection: 'row', justifyContent: 'space-between', alignItems: 'center' }}&gt;&#10;        &lt;Text style={{ fontSize: 14, color: DIM }}&gt;Risk levels and approval requirements from the English application&lt;/Text&gt;&#10;        &lt;Text style={{ fontFamily: MONO, fontSize: 14, color: DIM }}&gt;09 / 15&lt;/Text&gt;&#10;    &lt;/Box&gt;&#10;&lt;/Slide&gt;&#10;"/>
        <p:cNvGrpSpPr/>
        <p:nvPr/>
      </p:nvGrpSpPr>
      <p:grpSpPr>
        <a:xfrm>
          <a:off x="0" y="0"/>
          <a:ext cx="0" cy="0"/>
          <a:chOff x="0" y="0"/>
          <a:chExt cx="0" cy="0"/>
        </a:xfrm>
      </p:grpSpPr>
      <p:sp>
        <p:nvSpPr>
          <p:cNvPr id="312" name=""/>
          <p:cNvSpPr/>
          <p:nvPr/>
        </p:nvSpPr>
        <p:spPr>
          <a:xfrm rot="0" flipH="0" flipV="0">
            <a:off x="0" y="0"/>
            <a:ext cx="12192000" cy="6858000"/>
          </a:xfrm>
          <a:prstGeom prst="rect">
            <a:avLst/>
          </a:prstGeom>
          <a:solidFill>
            <a:srgbClr val="FFFFFF"/>
          </a:solidFill>
          <a:ln/>
        </p:spPr>
        <p:txBody>
          <a:bodyPr/>
          <a:p/>
        </p:txBody>
      </p:sp>
      <p:sp>
        <p:nvSpPr>
          <p:cNvPr id="313" name="" descr="{&quot;isTemplate&quot;:true,&quot;type&quot;:&quot;text&quot;}"/>
          <p:cNvSpPr txBox="1"/>
          <p:nvPr/>
        </p:nvSpPr>
        <p:spPr>
          <a:xfrm rot="0" flipH="0" flipV="0">
            <a:off x="685800" y="533400"/>
            <a:ext cx="3752850" cy="514350"/>
          </a:xfrm>
          <a:prstGeom prst="rect"/>
        </p:spPr>
        <p:txBody>
          <a:bodyPr wrap="none" lIns="0" tIns="0" rIns="0" bIns="0"/>
          <a:p>
            <a:pPr>
              <a:lnSpc>
                <a:spcPct val="130000"/>
              </a:lnSpc>
            </a:pPr>
            <a:r>
              <a:rPr lang="en-US" sz="2550" b="1">
                <a:solidFill>
                  <a:srgbClr val="0B1220"/>
                </a:solidFill>
                <a:latin typeface="Inter"/>
                <a:ea typeface="Inter"/>
              </a:rPr>
              <a:t>Action risk and approval</a:t>
            </a:r>
            <a:endParaRPr/>
          </a:p>
        </p:txBody>
      </p:sp>
      <p:sp>
        <p:nvSpPr>
          <p:cNvPr id="314" name="" descr="{&quot;isTemplate&quot;:true,&quot;type&quot;:&quot;text&quot;}"/>
          <p:cNvSpPr txBox="1"/>
          <p:nvPr/>
        </p:nvSpPr>
        <p:spPr>
          <a:xfrm rot="0" flipH="0" flipV="0">
            <a:off x="8534400" y="809625"/>
            <a:ext cx="2971800" cy="238125"/>
          </a:xfrm>
          <a:prstGeom prst="rect"/>
        </p:spPr>
        <p:txBody>
          <a:bodyPr wrap="none" lIns="0" tIns="0" rIns="0" bIns="0"/>
          <a:p>
            <a:pPr>
              <a:lnSpc>
                <a:spcPct val="145000"/>
              </a:lnSpc>
            </a:pPr>
            <a:r>
              <a:rPr lang="en-US" sz="1050">
                <a:solidFill>
                  <a:srgbClr val="64748B"/>
                </a:solidFill>
                <a:latin typeface="JetBrains Mono"/>
                <a:ea typeface="JetBrains Mono"/>
              </a:rPr>
              <a:t>14 actions, 6 low / 5 medium / 3 high</a:t>
            </a:r>
            <a:endParaRPr/>
          </a:p>
        </p:txBody>
      </p:sp>
      <p:sp>
        <p:nvSpPr>
          <p:cNvPr id="315" name=""/>
          <p:cNvSpPr/>
          <p:nvPr/>
        </p:nvSpPr>
        <p:spPr>
          <a:xfrm rot="0" flipH="0" flipV="0">
            <a:off x="685800" y="1047750"/>
            <a:ext cx="6667500" cy="590550"/>
          </a:xfrm>
          <a:custGeom>
            <a:pathLst>
              <a:path w="700" h="62">
                <a:moveTo>
                  <a:pt x="0" y="0"/>
                </a:moveTo>
                <a:lnTo>
                  <a:pt x="700" y="0"/>
                </a:lnTo>
                <a:lnTo>
                  <a:pt x="700" y="1"/>
                </a:lnTo>
                <a:lnTo>
                  <a:pt x="0" y="1"/>
                </a:lnTo>
                <a:close/>
              </a:path>
            </a:pathLst>
          </a:custGeom>
          <a:solidFill>
            <a:srgbClr val="EEF2F8"/>
          </a:solidFill>
          <a:ln/>
        </p:spPr>
        <p:txBody>
          <a:bodyPr/>
          <a:p/>
        </p:txBody>
      </p:sp>
      <p:sp>
        <p:nvSpPr>
          <p:cNvPr id="316" name="" descr="{&quot;isTemplate&quot;:true,&quot;type&quot;:&quot;text&quot;}"/>
          <p:cNvSpPr txBox="1"/>
          <p:nvPr/>
        </p:nvSpPr>
        <p:spPr>
          <a:xfrm rot="0" flipH="0" flipV="0">
            <a:off x="685800" y="1057275"/>
            <a:ext cx="704850" cy="304800"/>
          </a:xfrm>
          <a:prstGeom prst="rect"/>
        </p:spPr>
        <p:txBody>
          <a:bodyPr wrap="none" lIns="0" tIns="0" rIns="0" bIns="0"/>
          <a:p>
            <a:pPr>
              <a:lnSpc>
                <a:spcPct val="190000"/>
              </a:lnSpc>
            </a:pPr>
            <a:r>
              <a:rPr lang="en-US" sz="1050" b="1">
                <a:solidFill>
                  <a:srgbClr val="16B981"/>
                </a:solidFill>
                <a:latin typeface="JetBrains Mono"/>
                <a:ea typeface="JetBrains Mono"/>
              </a:rPr>
              <a:t>LOW</a:t>
            </a:r>
            <a:endParaRPr/>
          </a:p>
        </p:txBody>
      </p:sp>
      <p:sp>
        <p:nvSpPr>
          <p:cNvPr id="317" name="" descr="{&quot;isTemplate&quot;:true,&quot;type&quot;:&quot;text&quot;}"/>
          <p:cNvSpPr txBox="1"/>
          <p:nvPr/>
        </p:nvSpPr>
        <p:spPr>
          <a:xfrm rot="0" flipH="0" flipV="0">
            <a:off x="1543050" y="1057275"/>
            <a:ext cx="381000" cy="314325"/>
          </a:xfrm>
          <a:prstGeom prst="rect"/>
        </p:spPr>
        <p:txBody>
          <a:bodyPr wrap="none" lIns="0" tIns="0" rIns="0" bIns="0"/>
          <a:p>
            <a:pPr>
              <a:lnSpc>
                <a:spcPct val="125000"/>
              </a:lnSpc>
            </a:pPr>
            <a:r>
              <a:rPr lang="en-US" sz="1650" b="1">
                <a:solidFill>
                  <a:srgbClr val="0B1220"/>
                </a:solidFill>
                <a:latin typeface="JetBrains Mono"/>
                <a:ea typeface="JetBrains Mono"/>
              </a:rPr>
              <a:t>6</a:t>
            </a:r>
            <a:endParaRPr/>
          </a:p>
        </p:txBody>
      </p:sp>
      <p:sp>
        <p:nvSpPr>
          <p:cNvPr id="318" name="" descr="{&quot;isTemplate&quot;:true,&quot;type&quot;:&quot;text&quot;}"/>
          <p:cNvSpPr txBox="1"/>
          <p:nvPr/>
        </p:nvSpPr>
        <p:spPr>
          <a:xfrm rot="0" flipH="0" flipV="0">
            <a:off x="2076450" y="1057275"/>
            <a:ext cx="5257800" cy="257175"/>
          </a:xfrm>
          <a:prstGeom prst="rect"/>
        </p:spPr>
        <p:txBody>
          <a:bodyPr wrap="none" lIns="0" tIns="0" rIns="0" bIns="0"/>
          <a:p>
            <a:pPr>
              <a:lnSpc>
                <a:spcPct val="150000"/>
              </a:lnSpc>
            </a:pPr>
            <a:r>
              <a:rPr lang="en-US" sz="1125">
                <a:solidFill>
                  <a:srgbClr val="1A2434"/>
                </a:solidFill>
                <a:latin typeface="Inter"/>
                <a:ea typeface="Inter"/>
              </a:rPr>
              <a:t>Reversible effects limited to a task or scheduling state.</a:t>
            </a:r>
            <a:endParaRPr/>
          </a:p>
        </p:txBody>
      </p:sp>
      <p:sp>
        <p:nvSpPr>
          <p:cNvPr id="319" name="" descr="{&quot;isTemplate&quot;:true,&quot;type&quot;:&quot;text&quot;}"/>
          <p:cNvSpPr txBox="1"/>
          <p:nvPr/>
        </p:nvSpPr>
        <p:spPr>
          <a:xfrm rot="0" flipH="0" flipV="0">
            <a:off x="2076450" y="1314450"/>
            <a:ext cx="5257800" cy="238125"/>
          </a:xfrm>
          <a:prstGeom prst="rect"/>
        </p:spPr>
        <p:txBody>
          <a:bodyPr wrap="none" lIns="0" tIns="0" rIns="0" bIns="0"/>
          <a:p>
            <a:pPr>
              <a:lnSpc>
                <a:spcPct val="160000"/>
              </a:lnSpc>
            </a:pPr>
            <a:r>
              <a:rPr lang="en-US" sz="975">
                <a:solidFill>
                  <a:srgbClr val="64748B"/>
                </a:solidFill>
                <a:latin typeface="JetBrains Mono"/>
                <a:ea typeface="JetBrains Mono"/>
              </a:rPr>
              <a:t>eligible for automatic execution</a:t>
            </a:r>
            <a:endParaRPr/>
          </a:p>
        </p:txBody>
      </p:sp>
      <p:sp>
        <p:nvSpPr>
          <p:cNvPr id="320" name=""/>
          <p:cNvSpPr/>
          <p:nvPr/>
        </p:nvSpPr>
        <p:spPr>
          <a:xfrm rot="0" flipH="0" flipV="0">
            <a:off x="685800" y="1638300"/>
            <a:ext cx="6667500" cy="590550"/>
          </a:xfrm>
          <a:custGeom>
            <a:pathLst>
              <a:path w="700" h="62">
                <a:moveTo>
                  <a:pt x="0" y="0"/>
                </a:moveTo>
                <a:lnTo>
                  <a:pt x="700" y="0"/>
                </a:lnTo>
                <a:lnTo>
                  <a:pt x="700" y="1"/>
                </a:lnTo>
                <a:lnTo>
                  <a:pt x="0" y="1"/>
                </a:lnTo>
                <a:close/>
              </a:path>
            </a:pathLst>
          </a:custGeom>
          <a:solidFill>
            <a:srgbClr val="EEF2F8"/>
          </a:solidFill>
          <a:ln/>
        </p:spPr>
        <p:txBody>
          <a:bodyPr/>
          <a:p/>
        </p:txBody>
      </p:sp>
      <p:sp>
        <p:nvSpPr>
          <p:cNvPr id="321" name="" descr="{&quot;isTemplate&quot;:true,&quot;type&quot;:&quot;text&quot;}"/>
          <p:cNvSpPr txBox="1"/>
          <p:nvPr/>
        </p:nvSpPr>
        <p:spPr>
          <a:xfrm rot="0" flipH="0" flipV="0">
            <a:off x="685800" y="1647825"/>
            <a:ext cx="704850" cy="304800"/>
          </a:xfrm>
          <a:prstGeom prst="rect"/>
        </p:spPr>
        <p:txBody>
          <a:bodyPr wrap="none" lIns="0" tIns="0" rIns="0" bIns="0"/>
          <a:p>
            <a:pPr>
              <a:lnSpc>
                <a:spcPct val="190000"/>
              </a:lnSpc>
            </a:pPr>
            <a:r>
              <a:rPr lang="en-US" sz="1050" b="1">
                <a:solidFill>
                  <a:srgbClr val="B26B00"/>
                </a:solidFill>
                <a:latin typeface="JetBrains Mono"/>
                <a:ea typeface="JetBrains Mono"/>
              </a:rPr>
              <a:t>MEDIUM</a:t>
            </a:r>
            <a:endParaRPr/>
          </a:p>
        </p:txBody>
      </p:sp>
      <p:sp>
        <p:nvSpPr>
          <p:cNvPr id="322" name="" descr="{&quot;isTemplate&quot;:true,&quot;type&quot;:&quot;text&quot;}"/>
          <p:cNvSpPr txBox="1"/>
          <p:nvPr/>
        </p:nvSpPr>
        <p:spPr>
          <a:xfrm rot="0" flipH="0" flipV="0">
            <a:off x="1543050" y="1647825"/>
            <a:ext cx="381000" cy="314325"/>
          </a:xfrm>
          <a:prstGeom prst="rect"/>
        </p:spPr>
        <p:txBody>
          <a:bodyPr wrap="none" lIns="0" tIns="0" rIns="0" bIns="0"/>
          <a:p>
            <a:pPr>
              <a:lnSpc>
                <a:spcPct val="125000"/>
              </a:lnSpc>
            </a:pPr>
            <a:r>
              <a:rPr lang="en-US" sz="1650" b="1">
                <a:solidFill>
                  <a:srgbClr val="0B1220"/>
                </a:solidFill>
                <a:latin typeface="JetBrains Mono"/>
                <a:ea typeface="JetBrains Mono"/>
              </a:rPr>
              <a:t>5</a:t>
            </a:r>
            <a:endParaRPr/>
          </a:p>
        </p:txBody>
      </p:sp>
      <p:sp>
        <p:nvSpPr>
          <p:cNvPr id="323" name="" descr="{&quot;isTemplate&quot;:true,&quot;type&quot;:&quot;text&quot;}"/>
          <p:cNvSpPr txBox="1"/>
          <p:nvPr/>
        </p:nvSpPr>
        <p:spPr>
          <a:xfrm rot="0" flipH="0" flipV="0">
            <a:off x="2076450" y="1647825"/>
            <a:ext cx="5257800" cy="257175"/>
          </a:xfrm>
          <a:prstGeom prst="rect"/>
        </p:spPr>
        <p:txBody>
          <a:bodyPr wrap="none" lIns="0" tIns="0" rIns="0" bIns="0"/>
          <a:p>
            <a:pPr>
              <a:lnSpc>
                <a:spcPct val="150000"/>
              </a:lnSpc>
            </a:pPr>
            <a:r>
              <a:rPr lang="en-US" sz="1125">
                <a:solidFill>
                  <a:srgbClr val="1A2434"/>
                </a:solidFill>
                <a:latin typeface="Inter"/>
                <a:ea typeface="Inter"/>
              </a:rPr>
              <a:t>Affects other jobs on the same node, or needs a short interruption.</a:t>
            </a:r>
            <a:endParaRPr/>
          </a:p>
        </p:txBody>
      </p:sp>
      <p:sp>
        <p:nvSpPr>
          <p:cNvPr id="324" name="" descr="{&quot;isTemplate&quot;:true,&quot;type&quot;:&quot;text&quot;}"/>
          <p:cNvSpPr txBox="1"/>
          <p:nvPr/>
        </p:nvSpPr>
        <p:spPr>
          <a:xfrm rot="0" flipH="0" flipV="0">
            <a:off x="2076450" y="1905000"/>
            <a:ext cx="5257800" cy="238125"/>
          </a:xfrm>
          <a:prstGeom prst="rect"/>
        </p:spPr>
        <p:txBody>
          <a:bodyPr wrap="none" lIns="0" tIns="0" rIns="0" bIns="0"/>
          <a:p>
            <a:pPr>
              <a:lnSpc>
                <a:spcPct val="160000"/>
              </a:lnSpc>
            </a:pPr>
            <a:r>
              <a:rPr lang="en-US" sz="975">
                <a:solidFill>
                  <a:srgbClr val="64748B"/>
                </a:solidFill>
                <a:latin typeface="JetBrains Mono"/>
                <a:ea typeface="JetBrains Mono"/>
              </a:rPr>
              <a:t>per-item approval + impact acknowledgement</a:t>
            </a:r>
            <a:endParaRPr/>
          </a:p>
        </p:txBody>
      </p:sp>
      <p:sp>
        <p:nvSpPr>
          <p:cNvPr id="325" name=""/>
          <p:cNvSpPr/>
          <p:nvPr/>
        </p:nvSpPr>
        <p:spPr>
          <a:xfrm rot="0" flipH="0" flipV="0">
            <a:off x="685800" y="2228850"/>
            <a:ext cx="6667500" cy="590550"/>
          </a:xfrm>
          <a:custGeom>
            <a:pathLst>
              <a:path w="700" h="62">
                <a:moveTo>
                  <a:pt x="0" y="0"/>
                </a:moveTo>
                <a:lnTo>
                  <a:pt x="700" y="0"/>
                </a:lnTo>
                <a:lnTo>
                  <a:pt x="700" y="1"/>
                </a:lnTo>
                <a:lnTo>
                  <a:pt x="0" y="1"/>
                </a:lnTo>
                <a:close/>
              </a:path>
            </a:pathLst>
          </a:custGeom>
          <a:solidFill>
            <a:srgbClr val="EEF2F8"/>
          </a:solidFill>
          <a:ln/>
        </p:spPr>
        <p:txBody>
          <a:bodyPr/>
          <a:p/>
        </p:txBody>
      </p:sp>
      <p:sp>
        <p:nvSpPr>
          <p:cNvPr id="326" name="" descr="{&quot;isTemplate&quot;:true,&quot;type&quot;:&quot;text&quot;}"/>
          <p:cNvSpPr txBox="1"/>
          <p:nvPr/>
        </p:nvSpPr>
        <p:spPr>
          <a:xfrm rot="0" flipH="0" flipV="0">
            <a:off x="685800" y="2238375"/>
            <a:ext cx="704850" cy="304800"/>
          </a:xfrm>
          <a:prstGeom prst="rect"/>
        </p:spPr>
        <p:txBody>
          <a:bodyPr wrap="none" lIns="0" tIns="0" rIns="0" bIns="0"/>
          <a:p>
            <a:pPr>
              <a:lnSpc>
                <a:spcPct val="190000"/>
              </a:lnSpc>
            </a:pPr>
            <a:r>
              <a:rPr lang="en-US" sz="1050" b="1">
                <a:solidFill>
                  <a:srgbClr val="E5484D"/>
                </a:solidFill>
                <a:latin typeface="JetBrains Mono"/>
                <a:ea typeface="JetBrains Mono"/>
              </a:rPr>
              <a:t>HIGH</a:t>
            </a:r>
            <a:endParaRPr/>
          </a:p>
        </p:txBody>
      </p:sp>
      <p:sp>
        <p:nvSpPr>
          <p:cNvPr id="327" name="" descr="{&quot;isTemplate&quot;:true,&quot;type&quot;:&quot;text&quot;}"/>
          <p:cNvSpPr txBox="1"/>
          <p:nvPr/>
        </p:nvSpPr>
        <p:spPr>
          <a:xfrm rot="0" flipH="0" flipV="0">
            <a:off x="1543050" y="2238375"/>
            <a:ext cx="381000" cy="314325"/>
          </a:xfrm>
          <a:prstGeom prst="rect"/>
        </p:spPr>
        <p:txBody>
          <a:bodyPr wrap="none" lIns="0" tIns="0" rIns="0" bIns="0"/>
          <a:p>
            <a:pPr>
              <a:lnSpc>
                <a:spcPct val="125000"/>
              </a:lnSpc>
            </a:pPr>
            <a:r>
              <a:rPr lang="en-US" sz="1650" b="1">
                <a:solidFill>
                  <a:srgbClr val="0B1220"/>
                </a:solidFill>
                <a:latin typeface="JetBrains Mono"/>
                <a:ea typeface="JetBrains Mono"/>
              </a:rPr>
              <a:t>3</a:t>
            </a:r>
            <a:endParaRPr/>
          </a:p>
        </p:txBody>
      </p:sp>
      <p:sp>
        <p:nvSpPr>
          <p:cNvPr id="328" name="" descr="{&quot;isTemplate&quot;:true,&quot;type&quot;:&quot;text&quot;}"/>
          <p:cNvSpPr txBox="1"/>
          <p:nvPr/>
        </p:nvSpPr>
        <p:spPr>
          <a:xfrm rot="0" flipH="0" flipV="0">
            <a:off x="2076450" y="2238375"/>
            <a:ext cx="5257800" cy="257175"/>
          </a:xfrm>
          <a:prstGeom prst="rect"/>
        </p:spPr>
        <p:txBody>
          <a:bodyPr wrap="none" lIns="0" tIns="0" rIns="0" bIns="0"/>
          <a:p>
            <a:pPr>
              <a:lnSpc>
                <a:spcPct val="150000"/>
              </a:lnSpc>
            </a:pPr>
            <a:r>
              <a:rPr lang="en-US" sz="1125">
                <a:solidFill>
                  <a:srgbClr val="1A2434"/>
                </a:solidFill>
                <a:latin typeface="Inter"/>
                <a:ea typeface="Inter"/>
              </a:rPr>
              <a:t>May remove hardware capacity or affect multiple nodes.</a:t>
            </a:r>
            <a:endParaRPr/>
          </a:p>
        </p:txBody>
      </p:sp>
      <p:sp>
        <p:nvSpPr>
          <p:cNvPr id="329" name="" descr="{&quot;isTemplate&quot;:true,&quot;type&quot;:&quot;text&quot;}"/>
          <p:cNvSpPr txBox="1"/>
          <p:nvPr/>
        </p:nvSpPr>
        <p:spPr>
          <a:xfrm rot="0" flipH="0" flipV="0">
            <a:off x="2076450" y="2495550"/>
            <a:ext cx="5257800" cy="238125"/>
          </a:xfrm>
          <a:prstGeom prst="rect"/>
        </p:spPr>
        <p:txBody>
          <a:bodyPr wrap="none" lIns="0" tIns="0" rIns="0" bIns="0"/>
          <a:p>
            <a:pPr>
              <a:lnSpc>
                <a:spcPct val="160000"/>
              </a:lnSpc>
            </a:pPr>
            <a:r>
              <a:rPr lang="en-US" sz="975">
                <a:solidFill>
                  <a:srgbClr val="64748B"/>
                </a:solidFill>
                <a:latin typeface="JetBrains Mono"/>
                <a:ea typeface="JetBrains Mono"/>
              </a:rPr>
              <a:t>approval, change ticket and second confirmation</a:t>
            </a:r>
            <a:endParaRPr/>
          </a:p>
        </p:txBody>
      </p:sp>
      <p:sp>
        <p:nvSpPr>
          <p:cNvPr id="330" name="" descr="{&quot;isTemplate&quot;:true,&quot;type&quot;:&quot;text&quot;}"/>
          <p:cNvSpPr txBox="1"/>
          <p:nvPr/>
        </p:nvSpPr>
        <p:spPr>
          <a:xfrm rot="0" flipH="0" flipV="0">
            <a:off x="685800" y="2933700"/>
            <a:ext cx="6667500" cy="476250"/>
          </a:xfrm>
          <a:prstGeom prst="rect"/>
        </p:spPr>
        <p:txBody>
          <a:bodyPr wrap="square" lIns="0" tIns="0" rIns="0" bIns="0">
            <a:normAutofit/>
          </a:bodyPr>
          <a:p>
            <a:pPr>
              <a:lnSpc>
                <a:spcPct val="160000"/>
              </a:lnSpc>
            </a:pPr>
            <a:r>
              <a:rPr lang="en-US" sz="975">
                <a:solidFill>
                  <a:srgbClr val="64748B"/>
                </a:solidFill>
                <a:latin typeface="Inter"/>
                <a:ea typeface="Inter"/>
              </a:rPr>
              <a:t xml:space="preserve">The catalog also marks </a:t>
            </a:r>
            <a:r>
              <a:rPr lang="en-US" sz="975">
                <a:solidFill>
                  <a:srgbClr val="1A2434"/>
                </a:solidFill>
                <a:latin typeface="Inter"/>
                <a:ea typeface="Inter"/>
              </a:rPr>
              <a:t>raise_nccl_timeout</a:t>
            </a:r>
            <a:r>
              <a:rPr lang="en-US" sz="975">
                <a:solidFill>
                  <a:srgbClr val="64748B"/>
                </a:solidFill>
                <a:latin typeface="Inter"/>
                <a:ea typeface="Inter"/>
              </a:rPr>
              <a:t xml:space="preserve"> as discouraged. It hides a timeout symptom without resolving its cause and is excluded from model candidates.</a:t>
            </a:r>
            <a:endParaRPr/>
          </a:p>
        </p:txBody>
      </p:sp>
      <p:sp>
        <p:nvSpPr>
          <p:cNvPr id="331" name="" descr="{&quot;isTemplate&quot;:true,&quot;type&quot;:&quot;text&quot;}"/>
          <p:cNvSpPr txBox="1"/>
          <p:nvPr/>
        </p:nvSpPr>
        <p:spPr>
          <a:xfrm rot="0" flipH="0" flipV="0">
            <a:off x="7658100" y="1047750"/>
            <a:ext cx="3848100" cy="304800"/>
          </a:xfrm>
          <a:prstGeom prst="rect"/>
        </p:spPr>
        <p:txBody>
          <a:bodyPr wrap="none" lIns="0" tIns="0" rIns="0" bIns="0"/>
          <a:p>
            <a:pPr>
              <a:lnSpc>
                <a:spcPct val="145000"/>
              </a:lnSpc>
            </a:pPr>
            <a:r>
              <a:rPr lang="en-US" sz="1350" b="1">
                <a:solidFill>
                  <a:srgbClr val="0B1220"/>
                </a:solidFill>
                <a:latin typeface="Inter"/>
                <a:ea typeface="Inter"/>
              </a:rPr>
              <a:t>Execution allow-list</a:t>
            </a:r>
            <a:endParaRPr/>
          </a:p>
        </p:txBody>
      </p:sp>
      <p:sp>
        <p:nvSpPr>
          <p:cNvPr id="332" name=""/>
          <p:cNvSpPr/>
          <p:nvPr/>
        </p:nvSpPr>
        <p:spPr>
          <a:xfrm rot="0" flipH="0" flipV="0">
            <a:off x="7658100" y="1428750"/>
            <a:ext cx="3848100" cy="952500"/>
          </a:xfrm>
          <a:prstGeom prst="roundRect">
            <a:avLst>
              <a:gd name="adj" fmla="val 6000"/>
            </a:avLst>
          </a:prstGeom>
          <a:solidFill>
            <a:srgbClr val="0B1220"/>
          </a:solidFill>
          <a:ln/>
        </p:spPr>
        <p:txBody>
          <a:bodyPr/>
          <a:p/>
        </p:txBody>
      </p:sp>
      <p:sp>
        <p:nvSpPr>
          <p:cNvPr id="333" name="" descr="{&quot;isTemplate&quot;:true,&quot;type&quot;:&quot;text&quot;}"/>
          <p:cNvSpPr txBox="1"/>
          <p:nvPr/>
        </p:nvSpPr>
        <p:spPr>
          <a:xfrm rot="0" flipH="0" flipV="0">
            <a:off x="7753350" y="1524000"/>
            <a:ext cx="3657600" cy="762000"/>
          </a:xfrm>
          <a:prstGeom prst="rect"/>
        </p:spPr>
        <p:txBody>
          <a:bodyPr wrap="none" lIns="0" tIns="0" rIns="0" bIns="0"/>
          <a:p>
            <a:pPr>
              <a:lnSpc>
                <a:spcPct val="170000"/>
              </a:lnSpc>
            </a:pPr>
            <a:r>
              <a:rPr lang="en-US" sz="975">
                <a:solidFill>
                  <a:srgbClr val="E2E8F0"/>
                </a:solidFill>
                <a:latin typeface="JetBrains Mono"/>
                <a:ea typeface="JetBrains Mono"/>
              </a:rPr>
              <a:t xml:space="preserve">if (act.risk !== 'low') </a:t>
            </a:r>
            <a:r>
              <a:rPr lang="en-US" sz="975">
                <a:solidFill>
                  <a:srgbClr val="E2E8F0"/>
                </a:solidFill>
                <a:latin typeface="JetBrains Mono"/>
                <a:ea typeface="JetBrains Mono"/>
              </a:rPr>
              <a:t>{</a:t>
            </a:r>
            <a:endParaRPr/>
          </a:p>
          <a:p>
            <a:pPr>
              <a:lnSpc>
                <a:spcPct val="170000"/>
              </a:lnSpc>
            </a:pPr>
            <a:r>
              <a:rPr lang="en-US" sz="975">
                <a:solidFill>
                  <a:srgbClr val="E2E8F0"/>
                </a:solidFill>
                <a:latin typeface="JetBrains Mono"/>
                <a:ea typeface="JetBrains Mono"/>
              </a:rPr>
              <a:t xml:space="preserve">  </a:t>
            </a:r>
            <a:r>
              <a:rPr lang="en-US" sz="975">
                <a:solidFill>
                  <a:srgbClr val="E2E8F0"/>
                </a:solidFill>
                <a:latin typeface="JetBrains Mono"/>
                <a:ea typeface="JetBrains Mono"/>
              </a:rPr>
              <a:t xml:space="preserve">return </a:t>
            </a:r>
            <a:r>
              <a:rPr lang="en-US" sz="975">
                <a:solidFill>
                  <a:srgbClr val="E2E8F0"/>
                </a:solidFill>
                <a:latin typeface="JetBrains Mono"/>
                <a:ea typeface="JetBrains Mono"/>
              </a:rPr>
              <a:t>{</a:t>
            </a:r>
            <a:r>
              <a:rPr lang="en-US" sz="975">
                <a:solidFill>
                  <a:srgbClr val="E2E8F0"/>
                </a:solidFill>
                <a:latin typeface="JetBrains Mono"/>
                <a:ea typeface="JetBrains Mono"/>
              </a:rPr>
              <a:t xml:space="preserve"> refused: true </a:t>
            </a:r>
            <a:r>
              <a:rPr lang="en-US" sz="975">
                <a:solidFill>
                  <a:srgbClr val="E2E8F0"/>
                </a:solidFill>
                <a:latin typeface="JetBrains Mono"/>
                <a:ea typeface="JetBrains Mono"/>
              </a:rPr>
              <a:t>}</a:t>
            </a:r>
            <a:endParaRPr/>
          </a:p>
          <a:p>
            <a:pPr>
              <a:lnSpc>
                <a:spcPct val="170000"/>
              </a:lnSpc>
            </a:pPr>
            <a:r>
              <a:rPr lang="en-US" sz="975">
                <a:solidFill>
                  <a:srgbClr val="E2E8F0"/>
                </a:solidFill>
                <a:latin typeface="JetBrains Mono"/>
                <a:ea typeface="JetBrains Mono"/>
              </a:rPr>
              <a:t>}</a:t>
            </a:r>
            <a:endParaRPr/>
          </a:p>
        </p:txBody>
      </p:sp>
      <p:sp>
        <p:nvSpPr>
          <p:cNvPr id="334" name="" descr="{&quot;isTemplate&quot;:true,&quot;type&quot;:&quot;text&quot;}"/>
          <p:cNvSpPr txBox="1"/>
          <p:nvPr/>
        </p:nvSpPr>
        <p:spPr>
          <a:xfrm rot="0" flipH="0" flipV="0">
            <a:off x="7658100" y="2457450"/>
            <a:ext cx="3848100" cy="504825"/>
          </a:xfrm>
          <a:prstGeom prst="rect"/>
        </p:spPr>
        <p:txBody>
          <a:bodyPr wrap="square" lIns="0" tIns="0" rIns="0" bIns="0">
            <a:normAutofit/>
          </a:bodyPr>
          <a:p>
            <a:pPr>
              <a:lnSpc>
                <a:spcPct val="155000"/>
              </a:lnSpc>
            </a:pPr>
            <a:r>
              <a:rPr lang="en-US" sz="1050">
                <a:solidFill>
                  <a:srgbClr val="1A2434"/>
                </a:solidFill>
                <a:latin typeface="Inter"/>
                <a:ea typeface="Inter"/>
              </a:rPr>
              <a:t>The model selects an action ID. The action library supplies its risk level.</a:t>
            </a:r>
            <a:endParaRPr/>
          </a:p>
        </p:txBody>
      </p:sp>
      <p:sp>
        <p:nvSpPr>
          <p:cNvPr id="335" name="" descr="{&quot;isTemplate&quot;:true,&quot;type&quot;:&quot;text&quot;}"/>
          <p:cNvSpPr txBox="1"/>
          <p:nvPr/>
        </p:nvSpPr>
        <p:spPr>
          <a:xfrm rot="0" flipH="0" flipV="0">
            <a:off x="7658100" y="3038475"/>
            <a:ext cx="3848100" cy="276225"/>
          </a:xfrm>
          <a:prstGeom prst="rect"/>
        </p:spPr>
        <p:txBody>
          <a:bodyPr wrap="none" lIns="0" tIns="0" rIns="0" bIns="0"/>
          <a:p>
            <a:pPr>
              <a:lnSpc>
                <a:spcPct val="150000"/>
              </a:lnSpc>
            </a:pPr>
            <a:r>
              <a:rPr lang="en-US" sz="1200" b="1">
                <a:solidFill>
                  <a:srgbClr val="2F6BFF"/>
                </a:solidFill>
                <a:latin typeface="Inter"/>
                <a:ea typeface="Inter"/>
              </a:rPr>
              <a:t>The tool refuses automatic execution above low risk.</a:t>
            </a:r>
            <a:endParaRPr/>
          </a:p>
        </p:txBody>
      </p:sp>
      <p:sp>
        <p:nvSpPr>
          <p:cNvPr id="336" name=""/>
          <p:cNvSpPr/>
          <p:nvPr/>
        </p:nvSpPr>
        <p:spPr>
          <a:xfrm rot="0" flipH="0" flipV="0">
            <a:off x="876300" y="3876675"/>
            <a:ext cx="10439400" cy="2000250"/>
          </a:xfrm>
          <a:prstGeom prst="rect">
            <a:avLst/>
          </a:prstGeom>
          <a:ln w="12700">
            <a:solidFill>
              <a:srgbClr val="E9EDF4"/>
            </a:solidFill>
            <a:prstDash val="solid"/>
          </a:ln>
        </p:spPr>
        <p:txBody>
          <a:bodyPr/>
          <a:p/>
        </p:txBody>
      </p:sp>
      <p:pic>
        <p:nvPicPr>
          <p:cNvPr id="337" name=""/>
          <p:cNvPicPr>
            <a:picLocks noChangeAspect="1"/>
          </p:cNvPicPr>
          <p:nvPr/>
        </p:nvPicPr>
        <p:blipFill>
          <a:blip r:embed="rId1"/>
          <a:stretch>
            <a:fillRect/>
          </a:stretch>
        </p:blipFill>
        <p:spPr>
          <a:xfrm rot="0" flipH="0" flipV="0">
            <a:off x="876300" y="3876675"/>
            <a:ext cx="10439400" cy="2000250"/>
          </a:xfrm>
          <a:prstGeom prst="rect">
            <a:avLst/>
          </a:prstGeom>
          <a:ln/>
        </p:spPr>
      </p:pic>
      <p:sp>
        <p:nvSpPr>
          <p:cNvPr id="338" name="" descr="{&quot;isTemplate&quot;:true,&quot;type&quot;:&quot;text&quot;}"/>
          <p:cNvSpPr txBox="1"/>
          <p:nvPr/>
        </p:nvSpPr>
        <p:spPr>
          <a:xfrm rot="0" flipH="0" flipV="0">
            <a:off x="685800" y="6381750"/>
            <a:ext cx="3962400" cy="161925"/>
          </a:xfrm>
          <a:prstGeom prst="rect"/>
        </p:spPr>
        <p:txBody>
          <a:bodyPr wrap="none" lIns="0" tIns="0" rIns="0" bIns="0"/>
          <a:p>
            <a:pPr>
              <a:lnSpc>
                <a:spcPct val="100000"/>
              </a:lnSpc>
            </a:pPr>
            <a:r>
              <a:rPr lang="en-US" sz="1050">
                <a:solidFill>
                  <a:srgbClr val="64748B"/>
                </a:solidFill>
                <a:latin typeface="Inter"/>
                <a:ea typeface="Inter"/>
              </a:rPr>
              <a:t>Risk levels and approval requirements from the English application</a:t>
            </a:r>
            <a:endParaRPr/>
          </a:p>
        </p:txBody>
      </p:sp>
      <p:sp>
        <p:nvSpPr>
          <p:cNvPr id="339" name="" descr="{&quot;isTemplate&quot;:true,&quot;type&quot;:&quot;text&quot;}"/>
          <p:cNvSpPr txBox="1"/>
          <p:nvPr/>
        </p:nvSpPr>
        <p:spPr>
          <a:xfrm rot="0" flipH="0" flipV="0">
            <a:off x="10934700" y="6381750"/>
            <a:ext cx="571500" cy="161925"/>
          </a:xfrm>
          <a:prstGeom prst="rect"/>
        </p:spPr>
        <p:txBody>
          <a:bodyPr wrap="none" lIns="0" tIns="0" rIns="0" bIns="0"/>
          <a:p>
            <a:pPr>
              <a:lnSpc>
                <a:spcPct val="100000"/>
              </a:lnSpc>
            </a:pPr>
            <a:r>
              <a:rPr lang="en-US" sz="1050">
                <a:solidFill>
                  <a:srgbClr val="64748B"/>
                </a:solidFill>
                <a:latin typeface="JetBrains Mono"/>
                <a:ea typeface="JetBrains Mono"/>
              </a:rPr>
              <a:t>09 / 15</a:t>
            </a:r>
            <a:endParaRPr/>
          </a:p>
        </p:txBody>
      </p:sp>
    </p:spTree>
  </p:cSld>
</p:sld>
</file>

<file path=ppt/slides/slide10.xml><?xml version="1.0" encoding="utf-8"?>
<p:sld xmlns:r="http://schemas.openxmlformats.org/officeDocument/2006/relationships" xmlns:p="http://schemas.openxmlformats.org/presentationml/2006/main" xmlns:a="http://schemas.openxmlformats.org/drawingml/2006/main">
  <p:cSld>
    <p:spTree>
      <p:nvGrpSpPr>
        <p:cNvPr id="22" name="" descr="// 10: triage replay summary and actual application tool trace.&#10;const FONT = 'Inter, &quot;Helvetica Neue&quot;, Arial, sans-serif';&#10;const MONO = '&quot;JetBrains Mono&quot;, &quot;SF Mono&quot;, Menlo, monospace';&#10;const INK = '#0B1220';&#10;const BLUE = '#2F6BFF';&#10;const RED = '#E5484D';&#10;const DIM = '#64748B';&#10;const BODY = '#1A2434';&#10;&#10;&lt;Slide style={{ width: 1280, height: 720, padding: '18px 72px', background: '#FFFFFF', fontFamily: FONT }}&gt;&#10;    &lt;Box style={{ width: 1136, height: 92, flexDirection: 'row', justifyContent: 'space-between', alignItems: 'flex-end' }}&gt;&#10;        &lt;Text style={{ fontSize: 34, fontWeight: 700, color: INK, lineHeight: 1.3 }}&gt;Triage tool trace&lt;/Text&gt;&#10;        &lt;Text style={{ fontFamily: MONO, fontSize: 14, color: DIM, lineHeight: 1.45 }}&gt;case-xid94-rising, local replay&lt;/Text&gt;&#10;    &lt;/Box&gt;&#10;&#10;    &lt;Box style={{ width: 1136, height: 544 }}&gt;&#10;&#10;        &lt;Box style={{ width: 1136, height: 104, flexDirection: 'row', alignItems: 'center', gap: 24 }}&gt;&#10;            &lt;Box style={{ paddingTop: 8, paddingBottom: 8, paddingLeft: 16, paddingRight: 16, borderRadius: 6, background: INK }}&gt;&#10;                &lt;Text style={{ fontFamily: MONO, fontSize: 18, fontWeight: 600, color: '#FFFFFF' }}&gt;hardware&lt;/Text&gt;&#10;            &lt;/Box&gt;&#10;            &lt;Box style={{ paddingTop: 8, paddingBottom: 8, paddingLeft: 16, paddingRight: 16, borderRadius: 6, background: RED }}&gt;&#10;                &lt;Text style={{ fontFamily: MONO, fontSize: 18, fontWeight: 600, color: '#FFFFFF' }}&gt;RMA advised&lt;/Text&gt;&#10;            &lt;/Box&gt;&#10;            &lt;Text style={{ fontFamily: MONO, fontSize: 72, fontWeight: 700, color: INK, lineHeight: 1 }}&gt;0.95&lt;/Text&gt;&#10;            &lt;Box&gt;&#10;                &lt;Text style={{ fontSize: 15, color: DIM, lineHeight: 1.4 }}&gt;confidence in replay fixture&lt;/Text&gt;&#10;                &lt;Text style={{ fontSize: 15, color: DIM, lineHeight: 1.4 }}&gt;4 recorded tool calls&lt;/Text&gt;&#10;            &lt;/Box&gt;&#10;            &lt;Box style={{ flex: 1 }} /&gt;&#10;            &lt;Text style={{ fontFamily: MONO, fontSize: 14, color: DIM, lineHeight: 1.5 }}&gt;expected: hardware, RMA&lt;/Text&gt;&#10;        &lt;/Box&gt;&#10;&#10;        &lt;Box style={{ width: 1136, height: 240 }}&gt;&#10;            &lt;Text style={{ fontFamily: MONO, fontSize: 13, color: DIM, lineHeight: 1.6 }}&gt;&#10;                English replay fixture rendered by the application tool-trace component&#10;            &lt;/Text&gt;&#10;            &lt;Image src='assets/crop-tooltrace.png' style={{ width: 1096, height: 204, marginTop: 8, border: '1px solid #E9EDF4' }} /&gt;&#10;        &lt;/Box&gt;&#10;&#10;        &lt;Box style={{ width: 1136, height: 168, flexDirection: 'row', gap: 36, marginTop: 32 }}&gt;&#10;&#10;            &lt;Box style={{ width: 700 }}&gt;&#10;                &lt;Text style={{ fontSize: 20, fontWeight: 600, color: INK, lineHeight: 1.45 }}&gt;Tool evidence for the recommendation&lt;/Text&gt;&#10;                &lt;Text style={{ fontSize: 15, color: BODY, lineHeight: 1.62, marginTop: 10, width: 700 }}&gt;&#10;                    &lt;span style={{ fontFamily: MONO, color: INK }}&gt;lookup_xid&lt;/span&gt; reads the Xid knowledge base.&#10;                    &lt;span style={{ fontFamily: MONO, color: INK }}&gt; inspect_node&lt;/span&gt; supplies node telemetry.&#10;                    The prompt requires tool evidence for numerical claims.&#10;                &lt;/Text&gt;&#10;            &lt;/Box&gt;&#10;&#10;            &lt;Box style={{ width: 400 }}&gt;&#10;                &lt;Text style={{ fontFamily: MONO, fontSize: 13, color: BLUE, lineHeight: 1.6 }}&gt;References T1, T2 and T3&lt;/Text&gt;&#10;                &lt;Text style={{ fontSize: 15, color: BODY, lineHeight: 1.62, marginTop: 8, width: 400 }}&gt;&#10;                    The app registers references when tools execute. It drops unknown reference IDs from proposed actions and reports the dropped IDs.&#10;                &lt;/Text&gt;&#10;            &lt;/Box&gt;&#10;&#10;        &lt;/Box&gt;&#10;&#10;    &lt;/Box&gt;&#10;&#10;    &lt;Box style={{ width: 1136, height: 48, flexDirection: 'row', justifyContent: 'space-between', alignItems: 'center' }}&gt;&#10;        &lt;Text style={{ fontSize: 14, color: DIM }}&gt;Local replay demonstrates English rendering and makes no model request&lt;/Text&gt;&#10;        &lt;Text style={{ fontFamily: MONO, fontSize: 14, color: DIM }}&gt;10 / 15&lt;/Text&gt;&#10;    &lt;/Box&gt;&#10;&lt;/Slide&gt;&#10;"/>
        <p:cNvGrpSpPr/>
        <p:nvPr/>
      </p:nvGrpSpPr>
      <p:grpSpPr>
        <a:xfrm>
          <a:off x="0" y="0"/>
          <a:ext cx="0" cy="0"/>
          <a:chOff x="0" y="0"/>
          <a:chExt cx="0" cy="0"/>
        </a:xfrm>
      </p:grpSpPr>
      <p:sp>
        <p:nvSpPr>
          <p:cNvPr id="23" name=""/>
          <p:cNvSpPr/>
          <p:nvPr/>
        </p:nvSpPr>
        <p:spPr>
          <a:xfrm rot="0" flipH="0" flipV="0">
            <a:off x="0" y="0"/>
            <a:ext cx="12192000" cy="6858000"/>
          </a:xfrm>
          <a:prstGeom prst="rect">
            <a:avLst/>
          </a:prstGeom>
          <a:solidFill>
            <a:srgbClr val="FFFFFF"/>
          </a:solidFill>
          <a:ln/>
        </p:spPr>
        <p:txBody>
          <a:bodyPr/>
          <a:p/>
        </p:txBody>
      </p:sp>
      <p:sp>
        <p:nvSpPr>
          <p:cNvPr id="24" name="" descr="{&quot;isTemplate&quot;:true,&quot;type&quot;:&quot;text&quot;}"/>
          <p:cNvSpPr txBox="1"/>
          <p:nvPr/>
        </p:nvSpPr>
        <p:spPr>
          <a:xfrm rot="0" flipH="0" flipV="0">
            <a:off x="685800" y="533400"/>
            <a:ext cx="2524125" cy="514350"/>
          </a:xfrm>
          <a:prstGeom prst="rect"/>
        </p:spPr>
        <p:txBody>
          <a:bodyPr wrap="none" lIns="0" tIns="0" rIns="0" bIns="0"/>
          <a:p>
            <a:pPr>
              <a:lnSpc>
                <a:spcPct val="130000"/>
              </a:lnSpc>
            </a:pPr>
            <a:r>
              <a:rPr lang="en-US" sz="2550" b="1">
                <a:solidFill>
                  <a:srgbClr val="0B1220"/>
                </a:solidFill>
                <a:latin typeface="Inter"/>
                <a:ea typeface="Inter"/>
              </a:rPr>
              <a:t>Triage tool trace</a:t>
            </a:r>
            <a:endParaRPr/>
          </a:p>
        </p:txBody>
      </p:sp>
      <p:sp>
        <p:nvSpPr>
          <p:cNvPr id="25" name="" descr="{&quot;isTemplate&quot;:true,&quot;type&quot;:&quot;text&quot;}"/>
          <p:cNvSpPr txBox="1"/>
          <p:nvPr/>
        </p:nvSpPr>
        <p:spPr>
          <a:xfrm rot="0" flipH="0" flipV="0">
            <a:off x="9010650" y="809625"/>
            <a:ext cx="2495550" cy="238125"/>
          </a:xfrm>
          <a:prstGeom prst="rect"/>
        </p:spPr>
        <p:txBody>
          <a:bodyPr wrap="none" lIns="0" tIns="0" rIns="0" bIns="0"/>
          <a:p>
            <a:pPr>
              <a:lnSpc>
                <a:spcPct val="145000"/>
              </a:lnSpc>
            </a:pPr>
            <a:r>
              <a:rPr lang="en-US" sz="1050">
                <a:solidFill>
                  <a:srgbClr val="64748B"/>
                </a:solidFill>
                <a:latin typeface="JetBrains Mono"/>
                <a:ea typeface="JetBrains Mono"/>
              </a:rPr>
              <a:t>case-xid94-rising, local replay</a:t>
            </a:r>
            <a:endParaRPr/>
          </a:p>
        </p:txBody>
      </p:sp>
      <p:sp>
        <p:nvSpPr>
          <p:cNvPr id="26" name=""/>
          <p:cNvSpPr/>
          <p:nvPr/>
        </p:nvSpPr>
        <p:spPr>
          <a:xfrm rot="0" flipH="0" flipV="0">
            <a:off x="685800" y="1362075"/>
            <a:ext cx="1133475" cy="361950"/>
          </a:xfrm>
          <a:prstGeom prst="roundRect">
            <a:avLst>
              <a:gd name="adj" fmla="val 15789"/>
            </a:avLst>
          </a:prstGeom>
          <a:solidFill>
            <a:srgbClr val="0B1220"/>
          </a:solidFill>
          <a:ln/>
        </p:spPr>
        <p:txBody>
          <a:bodyPr/>
          <a:p/>
        </p:txBody>
      </p:sp>
      <p:sp>
        <p:nvSpPr>
          <p:cNvPr id="27" name="" descr="{&quot;isTemplate&quot;:true,&quot;type&quot;:&quot;text&quot;}"/>
          <p:cNvSpPr txBox="1"/>
          <p:nvPr/>
        </p:nvSpPr>
        <p:spPr>
          <a:xfrm rot="0" flipH="0" flipV="0">
            <a:off x="838200" y="1438275"/>
            <a:ext cx="828675" cy="209550"/>
          </a:xfrm>
          <a:prstGeom prst="rect"/>
        </p:spPr>
        <p:txBody>
          <a:bodyPr wrap="none" lIns="0" tIns="0" rIns="0" bIns="0"/>
          <a:p>
            <a:pPr>
              <a:lnSpc>
                <a:spcPct val="100000"/>
              </a:lnSpc>
            </a:pPr>
            <a:r>
              <a:rPr lang="en-US" sz="1350" b="1">
                <a:solidFill>
                  <a:srgbClr val="FFFFFF"/>
                </a:solidFill>
                <a:latin typeface="JetBrains Mono"/>
                <a:ea typeface="JetBrains Mono"/>
              </a:rPr>
              <a:t>hardware</a:t>
            </a:r>
            <a:endParaRPr/>
          </a:p>
        </p:txBody>
      </p:sp>
      <p:sp>
        <p:nvSpPr>
          <p:cNvPr id="28" name=""/>
          <p:cNvSpPr/>
          <p:nvPr/>
        </p:nvSpPr>
        <p:spPr>
          <a:xfrm rot="0" flipH="0" flipV="0">
            <a:off x="2047875" y="1362075"/>
            <a:ext cx="1447800" cy="361950"/>
          </a:xfrm>
          <a:prstGeom prst="roundRect">
            <a:avLst>
              <a:gd name="adj" fmla="val 15789"/>
            </a:avLst>
          </a:prstGeom>
          <a:solidFill>
            <a:srgbClr val="E5484D"/>
          </a:solidFill>
          <a:ln/>
        </p:spPr>
        <p:txBody>
          <a:bodyPr/>
          <a:p/>
        </p:txBody>
      </p:sp>
      <p:sp>
        <p:nvSpPr>
          <p:cNvPr id="29" name="" descr="{&quot;isTemplate&quot;:true,&quot;type&quot;:&quot;text&quot;}"/>
          <p:cNvSpPr txBox="1"/>
          <p:nvPr/>
        </p:nvSpPr>
        <p:spPr>
          <a:xfrm rot="0" flipH="0" flipV="0">
            <a:off x="2200275" y="1438275"/>
            <a:ext cx="1143000" cy="209550"/>
          </a:xfrm>
          <a:prstGeom prst="rect"/>
        </p:spPr>
        <p:txBody>
          <a:bodyPr wrap="none" lIns="0" tIns="0" rIns="0" bIns="0"/>
          <a:p>
            <a:pPr>
              <a:lnSpc>
                <a:spcPct val="100000"/>
              </a:lnSpc>
            </a:pPr>
            <a:r>
              <a:rPr lang="en-US" sz="1350" b="1">
                <a:solidFill>
                  <a:srgbClr val="FFFFFF"/>
                </a:solidFill>
                <a:latin typeface="JetBrains Mono"/>
                <a:ea typeface="JetBrains Mono"/>
              </a:rPr>
              <a:t>RMA advised</a:t>
            </a:r>
            <a:endParaRPr/>
          </a:p>
        </p:txBody>
      </p:sp>
      <p:sp>
        <p:nvSpPr>
          <p:cNvPr id="30" name="" descr="{&quot;isTemplate&quot;:true,&quot;type&quot;:&quot;text&quot;}"/>
          <p:cNvSpPr txBox="1"/>
          <p:nvPr/>
        </p:nvSpPr>
        <p:spPr>
          <a:xfrm rot="0" flipH="0" flipV="0">
            <a:off x="3724275" y="1133475"/>
            <a:ext cx="1657350" cy="828675"/>
          </a:xfrm>
          <a:prstGeom prst="rect"/>
        </p:spPr>
        <p:txBody>
          <a:bodyPr wrap="none" lIns="0" tIns="0" rIns="0" bIns="0"/>
          <a:p>
            <a:pPr>
              <a:lnSpc>
                <a:spcPct val="100000"/>
              </a:lnSpc>
            </a:pPr>
            <a:r>
              <a:rPr lang="en-US" sz="5400" b="1">
                <a:solidFill>
                  <a:srgbClr val="0B1220"/>
                </a:solidFill>
                <a:latin typeface="JetBrains Mono"/>
                <a:ea typeface="JetBrains Mono"/>
              </a:rPr>
              <a:t>0.95</a:t>
            </a:r>
            <a:endParaRPr/>
          </a:p>
        </p:txBody>
      </p:sp>
      <p:sp>
        <p:nvSpPr>
          <p:cNvPr id="31" name="" descr="{&quot;isTemplate&quot;:true,&quot;type&quot;:&quot;text&quot;}"/>
          <p:cNvSpPr txBox="1"/>
          <p:nvPr/>
        </p:nvSpPr>
        <p:spPr>
          <a:xfrm rot="0" flipH="0" flipV="0">
            <a:off x="5610225" y="1295400"/>
            <a:ext cx="1724025" cy="247650"/>
          </a:xfrm>
          <a:prstGeom prst="rect"/>
        </p:spPr>
        <p:txBody>
          <a:bodyPr wrap="none" lIns="0" tIns="0" rIns="0" bIns="0"/>
          <a:p>
            <a:pPr>
              <a:lnSpc>
                <a:spcPct val="140000"/>
              </a:lnSpc>
            </a:pPr>
            <a:r>
              <a:rPr lang="en-US" sz="1125">
                <a:solidFill>
                  <a:srgbClr val="64748B"/>
                </a:solidFill>
                <a:latin typeface="Inter"/>
                <a:ea typeface="Inter"/>
              </a:rPr>
              <a:t>confidence in replay fixture</a:t>
            </a:r>
            <a:endParaRPr/>
          </a:p>
        </p:txBody>
      </p:sp>
      <p:sp>
        <p:nvSpPr>
          <p:cNvPr id="32" name="" descr="{&quot;isTemplate&quot;:true,&quot;type&quot;:&quot;text&quot;}"/>
          <p:cNvSpPr txBox="1"/>
          <p:nvPr/>
        </p:nvSpPr>
        <p:spPr>
          <a:xfrm rot="0" flipH="0" flipV="0">
            <a:off x="5610225" y="1543050"/>
            <a:ext cx="1724025" cy="247650"/>
          </a:xfrm>
          <a:prstGeom prst="rect"/>
        </p:spPr>
        <p:txBody>
          <a:bodyPr wrap="none" lIns="0" tIns="0" rIns="0" bIns="0"/>
          <a:p>
            <a:pPr>
              <a:lnSpc>
                <a:spcPct val="140000"/>
              </a:lnSpc>
            </a:pPr>
            <a:r>
              <a:rPr lang="en-US" sz="1125">
                <a:solidFill>
                  <a:srgbClr val="64748B"/>
                </a:solidFill>
                <a:latin typeface="Inter"/>
                <a:ea typeface="Inter"/>
              </a:rPr>
              <a:t>4 recorded tool calls</a:t>
            </a:r>
            <a:endParaRPr/>
          </a:p>
        </p:txBody>
      </p:sp>
      <p:sp>
        <p:nvSpPr>
          <p:cNvPr id="33" name="" descr="{&quot;isTemplate&quot;:true,&quot;type&quot;:&quot;text&quot;}"/>
          <p:cNvSpPr txBox="1"/>
          <p:nvPr/>
        </p:nvSpPr>
        <p:spPr>
          <a:xfrm rot="0" flipH="0" flipV="0">
            <a:off x="9658350" y="1419225"/>
            <a:ext cx="1847850" cy="247650"/>
          </a:xfrm>
          <a:prstGeom prst="rect"/>
        </p:spPr>
        <p:txBody>
          <a:bodyPr wrap="none" lIns="0" tIns="0" rIns="0" bIns="0"/>
          <a:p>
            <a:pPr>
              <a:lnSpc>
                <a:spcPct val="150000"/>
              </a:lnSpc>
            </a:pPr>
            <a:r>
              <a:rPr lang="en-US" sz="1050">
                <a:solidFill>
                  <a:srgbClr val="64748B"/>
                </a:solidFill>
                <a:latin typeface="JetBrains Mono"/>
                <a:ea typeface="JetBrains Mono"/>
              </a:rPr>
              <a:t>expected: hardware, RMA</a:t>
            </a:r>
            <a:endParaRPr/>
          </a:p>
        </p:txBody>
      </p:sp>
      <p:sp>
        <p:nvSpPr>
          <p:cNvPr id="34" name="" descr="{&quot;isTemplate&quot;:true,&quot;type&quot;:&quot;text&quot;}"/>
          <p:cNvSpPr txBox="1"/>
          <p:nvPr/>
        </p:nvSpPr>
        <p:spPr>
          <a:xfrm rot="0" flipH="0" flipV="0">
            <a:off x="685800" y="2038350"/>
            <a:ext cx="10820400" cy="238125"/>
          </a:xfrm>
          <a:prstGeom prst="rect"/>
        </p:spPr>
        <p:txBody>
          <a:bodyPr wrap="none" lIns="0" tIns="0" rIns="0" bIns="0"/>
          <a:p>
            <a:pPr>
              <a:lnSpc>
                <a:spcPct val="160000"/>
              </a:lnSpc>
            </a:pPr>
            <a:r>
              <a:rPr lang="en-US" sz="975">
                <a:solidFill>
                  <a:srgbClr val="64748B"/>
                </a:solidFill>
                <a:latin typeface="JetBrains Mono"/>
                <a:ea typeface="JetBrains Mono"/>
              </a:rPr>
              <a:t>English replay fixture rendered by the application tool-trace component</a:t>
            </a:r>
            <a:endParaRPr/>
          </a:p>
        </p:txBody>
      </p:sp>
      <p:sp>
        <p:nvSpPr>
          <p:cNvPr id="35" name=""/>
          <p:cNvSpPr/>
          <p:nvPr/>
        </p:nvSpPr>
        <p:spPr>
          <a:xfrm rot="0" flipH="0" flipV="0">
            <a:off x="685800" y="2352675"/>
            <a:ext cx="10439400" cy="1943100"/>
          </a:xfrm>
          <a:prstGeom prst="rect">
            <a:avLst/>
          </a:prstGeom>
          <a:ln w="12700">
            <a:solidFill>
              <a:srgbClr val="E9EDF4"/>
            </a:solidFill>
            <a:prstDash val="solid"/>
          </a:ln>
        </p:spPr>
        <p:txBody>
          <a:bodyPr/>
          <a:p/>
        </p:txBody>
      </p:sp>
      <p:pic>
        <p:nvPicPr>
          <p:cNvPr id="36" name=""/>
          <p:cNvPicPr>
            <a:picLocks noChangeAspect="1"/>
          </p:cNvPicPr>
          <p:nvPr/>
        </p:nvPicPr>
        <p:blipFill>
          <a:blip r:embed="rId1"/>
          <a:stretch>
            <a:fillRect/>
          </a:stretch>
        </p:blipFill>
        <p:spPr>
          <a:xfrm rot="0" flipH="0" flipV="0">
            <a:off x="685800" y="2352675"/>
            <a:ext cx="10439400" cy="1943100"/>
          </a:xfrm>
          <a:prstGeom prst="rect">
            <a:avLst/>
          </a:prstGeom>
          <a:ln/>
        </p:spPr>
      </p:pic>
      <p:sp>
        <p:nvSpPr>
          <p:cNvPr id="37" name="" descr="{&quot;isTemplate&quot;:true,&quot;type&quot;:&quot;text&quot;}"/>
          <p:cNvSpPr txBox="1"/>
          <p:nvPr/>
        </p:nvSpPr>
        <p:spPr>
          <a:xfrm rot="0" flipH="0" flipV="0">
            <a:off x="685800" y="4629150"/>
            <a:ext cx="6667500" cy="333375"/>
          </a:xfrm>
          <a:prstGeom prst="rect"/>
        </p:spPr>
        <p:txBody>
          <a:bodyPr wrap="none" lIns="0" tIns="0" rIns="0" bIns="0"/>
          <a:p>
            <a:pPr>
              <a:lnSpc>
                <a:spcPct val="145000"/>
              </a:lnSpc>
            </a:pPr>
            <a:r>
              <a:rPr lang="en-US" sz="1500" b="1">
                <a:solidFill>
                  <a:srgbClr val="0B1220"/>
                </a:solidFill>
                <a:latin typeface="Inter"/>
                <a:ea typeface="Inter"/>
              </a:rPr>
              <a:t>Tool evidence for the recommendation</a:t>
            </a:r>
            <a:endParaRPr/>
          </a:p>
        </p:txBody>
      </p:sp>
      <p:sp>
        <p:nvSpPr>
          <p:cNvPr id="38" name="" descr="{&quot;isTemplate&quot;:true,&quot;type&quot;:&quot;text&quot;}"/>
          <p:cNvSpPr txBox="1"/>
          <p:nvPr/>
        </p:nvSpPr>
        <p:spPr>
          <a:xfrm rot="0" flipH="0" flipV="0">
            <a:off x="685800" y="5057775"/>
            <a:ext cx="6667500" cy="561975"/>
          </a:xfrm>
          <a:prstGeom prst="rect"/>
        </p:spPr>
        <p:txBody>
          <a:bodyPr wrap="square" lIns="0" tIns="0" rIns="0" bIns="0">
            <a:normAutofit/>
          </a:bodyPr>
          <a:p>
            <a:pPr>
              <a:lnSpc>
                <a:spcPct val="162000"/>
              </a:lnSpc>
            </a:pPr>
            <a:r>
              <a:rPr lang="en-US" sz="1125">
                <a:solidFill>
                  <a:srgbClr val="0B1220"/>
                </a:solidFill>
                <a:latin typeface="Inter"/>
                <a:ea typeface="Inter"/>
              </a:rPr>
              <a:t>lookup_xid</a:t>
            </a:r>
            <a:r>
              <a:rPr lang="en-US" sz="1125">
                <a:solidFill>
                  <a:srgbClr val="1A2434"/>
                </a:solidFill>
                <a:latin typeface="Inter"/>
                <a:ea typeface="Inter"/>
              </a:rPr>
              <a:t xml:space="preserve"> reads the Xid knowledge base.</a:t>
            </a:r>
            <a:r>
              <a:rPr lang="en-US" sz="1125">
                <a:solidFill>
                  <a:srgbClr val="0B1220"/>
                </a:solidFill>
                <a:latin typeface="Inter"/>
                <a:ea typeface="Inter"/>
              </a:rPr>
              <a:t xml:space="preserve"> inspect_node</a:t>
            </a:r>
            <a:r>
              <a:rPr lang="en-US" sz="1125">
                <a:solidFill>
                  <a:srgbClr val="1A2434"/>
                </a:solidFill>
                <a:latin typeface="Inter"/>
                <a:ea typeface="Inter"/>
              </a:rPr>
              <a:t xml:space="preserve"> supplies node telemetry. The prompt requires tool evidence for numerical claims.</a:t>
            </a:r>
            <a:endParaRPr/>
          </a:p>
        </p:txBody>
      </p:sp>
      <p:sp>
        <p:nvSpPr>
          <p:cNvPr id="39" name="" descr="{&quot;isTemplate&quot;:true,&quot;type&quot;:&quot;text&quot;}"/>
          <p:cNvSpPr txBox="1"/>
          <p:nvPr/>
        </p:nvSpPr>
        <p:spPr>
          <a:xfrm rot="0" flipH="0" flipV="0">
            <a:off x="7696200" y="4629150"/>
            <a:ext cx="3810000" cy="238125"/>
          </a:xfrm>
          <a:prstGeom prst="rect"/>
        </p:spPr>
        <p:txBody>
          <a:bodyPr wrap="none" lIns="0" tIns="0" rIns="0" bIns="0"/>
          <a:p>
            <a:pPr>
              <a:lnSpc>
                <a:spcPct val="160000"/>
              </a:lnSpc>
            </a:pPr>
            <a:r>
              <a:rPr lang="en-US" sz="975">
                <a:solidFill>
                  <a:srgbClr val="2F6BFF"/>
                </a:solidFill>
                <a:latin typeface="JetBrains Mono"/>
                <a:ea typeface="JetBrains Mono"/>
              </a:rPr>
              <a:t>References T1, T2 and T3</a:t>
            </a:r>
            <a:endParaRPr/>
          </a:p>
        </p:txBody>
      </p:sp>
      <p:sp>
        <p:nvSpPr>
          <p:cNvPr id="40" name="" descr="{&quot;isTemplate&quot;:true,&quot;type&quot;:&quot;text&quot;}"/>
          <p:cNvSpPr txBox="1"/>
          <p:nvPr/>
        </p:nvSpPr>
        <p:spPr>
          <a:xfrm rot="0" flipH="0" flipV="0">
            <a:off x="7696200" y="4943475"/>
            <a:ext cx="3810000" cy="838200"/>
          </a:xfrm>
          <a:prstGeom prst="rect"/>
        </p:spPr>
        <p:txBody>
          <a:bodyPr wrap="square" lIns="0" tIns="0" rIns="0" bIns="0">
            <a:normAutofit/>
          </a:bodyPr>
          <a:p>
            <a:pPr>
              <a:lnSpc>
                <a:spcPct val="162000"/>
              </a:lnSpc>
            </a:pPr>
            <a:r>
              <a:rPr lang="en-US" sz="1125">
                <a:solidFill>
                  <a:srgbClr val="1A2434"/>
                </a:solidFill>
                <a:latin typeface="Inter"/>
                <a:ea typeface="Inter"/>
              </a:rPr>
              <a:t>The app registers references when tools execute. It drops unknown reference IDs from proposed actions and reports the dropped IDs.</a:t>
            </a:r>
            <a:endParaRPr/>
          </a:p>
        </p:txBody>
      </p:sp>
      <p:sp>
        <p:nvSpPr>
          <p:cNvPr id="41" name="" descr="{&quot;isTemplate&quot;:true,&quot;type&quot;:&quot;text&quot;}"/>
          <p:cNvSpPr txBox="1"/>
          <p:nvPr/>
        </p:nvSpPr>
        <p:spPr>
          <a:xfrm rot="0" flipH="0" flipV="0">
            <a:off x="685800" y="6381750"/>
            <a:ext cx="4419600" cy="161925"/>
          </a:xfrm>
          <a:prstGeom prst="rect"/>
        </p:spPr>
        <p:txBody>
          <a:bodyPr wrap="none" lIns="0" tIns="0" rIns="0" bIns="0"/>
          <a:p>
            <a:pPr>
              <a:lnSpc>
                <a:spcPct val="100000"/>
              </a:lnSpc>
            </a:pPr>
            <a:r>
              <a:rPr lang="en-US" sz="1050">
                <a:solidFill>
                  <a:srgbClr val="64748B"/>
                </a:solidFill>
                <a:latin typeface="Inter"/>
                <a:ea typeface="Inter"/>
              </a:rPr>
              <a:t>Local replay demonstrates English rendering and makes no model request</a:t>
            </a:r>
            <a:endParaRPr/>
          </a:p>
        </p:txBody>
      </p:sp>
      <p:sp>
        <p:nvSpPr>
          <p:cNvPr id="42" name="" descr="{&quot;isTemplate&quot;:true,&quot;type&quot;:&quot;text&quot;}"/>
          <p:cNvSpPr txBox="1"/>
          <p:nvPr/>
        </p:nvSpPr>
        <p:spPr>
          <a:xfrm rot="0" flipH="0" flipV="0">
            <a:off x="10934700" y="6381750"/>
            <a:ext cx="571500" cy="161925"/>
          </a:xfrm>
          <a:prstGeom prst="rect"/>
        </p:spPr>
        <p:txBody>
          <a:bodyPr wrap="none" lIns="0" tIns="0" rIns="0" bIns="0"/>
          <a:p>
            <a:pPr>
              <a:lnSpc>
                <a:spcPct val="100000"/>
              </a:lnSpc>
            </a:pPr>
            <a:r>
              <a:rPr lang="en-US" sz="1050">
                <a:solidFill>
                  <a:srgbClr val="64748B"/>
                </a:solidFill>
                <a:latin typeface="JetBrains Mono"/>
                <a:ea typeface="JetBrains Mono"/>
              </a:rPr>
              <a:t>10 / 15</a:t>
            </a:r>
            <a:endParaRPr/>
          </a:p>
        </p:txBody>
      </p:sp>
    </p:spTree>
  </p:cSld>
</p:sld>
</file>

<file path=ppt/slides/slide11.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43" name="" descr="// 11: evidence section with the joint F8 rule score.&#10;const FONT = 'Inter, &quot;Helvetica Neue&quot;, Arial, sans-serif';&#10;const MONO = '&quot;JetBrains Mono&quot;, &quot;SF Mono&quot;, Menlo, monospace';&#10;const BLUE = '#2F6BFF';&#10;const DEEP = 'linear-gradient(160deg, #0B1220 0%, #131E33 62%, #0B1220 100%)';&#10;&#10;const GRID_X = [0, 71, 142, 213, 284, 355, 426, 497, 568, 639, 710, 781, 852, 923, 994, 1065, 1136];&#10;const GRID_Y = [0, 64, 128, 192, 256, 320, 384, 448, 512, 576];&#10;&#10;&lt;Slide style={{ width: 1280, height: 720, padding: '72px', background: DEEP, fontFamily: FONT }}&gt;&#10;    &lt;Box style={{ position: 'relative', width: 1136, height: 576 }}&gt;&#10;&#10;        &lt;Box style={{ position: 'absolute', left: 0, top: 0, width: 1136, height: 576 }}&gt;&#10;            &lt;svg width={1136} height={576} viewBox='0 0 1136 576'&gt;&#10;                {GRID_X.map((x, i) =&gt; (&#10;                    &lt;line key={'gx' + i} x1={x} y1={0} x2={x} y2={576} stroke='rgba(255,255,255,0.045)' strokeWidth={1} /&gt;&#10;                ))}&#10;                {GRID_Y.map((y, i) =&gt; (&#10;                    &lt;line key={'gy' + i} x1={0} y1={y} x2={1136} y2={y} stroke='rgba(255,255,255,0.045)' strokeWidth={1} /&gt;&#10;                ))}&#10;            &lt;/svg&gt;&#10;        &lt;/Box&gt;&#10;&#10;        &lt;Box style={{ position: 'absolute', right: 0, top: 24, width: 640, alignItems: 'flex-end' }}&gt;&#10;            &lt;Text style={{ fontFamily: MONO, fontSize: 180, fontWeight: 700, color: 'rgba(47,107,255,0.18)', lineHeight: 1 }}&gt;11 /&lt;/Text&gt;&#10;            &lt;Text style={{ fontFamily: MONO, fontSize: 180, fontWeight: 700, color: 'rgba(47,107,255,0.18)', lineHeight: 1 }}&gt;14&lt;/Text&gt;&#10;            &lt;Text style={{ fontFamily: MONO, fontSize: 14, color: 'rgba(255,255,255,0.52)', lineHeight: 1.5, marginTop: 10 }}&gt;&#10;                rule baseline on the 14-case library&#10;            &lt;/Text&gt;&#10;        &lt;/Box&gt;&#10;&#10;        &lt;Box style={{ position: 'relative', width: 760, height: 576, justifyContent: 'center', gap: 18 }}&gt;&#10;            &lt;Text style={{ fontFamily: MONO, fontSize: 14, color: BLUE, letterSpacing: 3 }}&gt;CHAPTER 03&lt;/Text&gt;&#10;            &lt;Text style={{ fontSize: 64, fontWeight: 700, color: '#FFFFFF', lineHeight: 1.1 }}&gt;Evidence and limits&lt;/Text&gt;&#10;            &lt;Text style={{ fontSize: 24, color: '#94A3B8', lineHeight: 1.5 }}&gt;A rule benchmark on 14 constructed cases&lt;/Text&gt;&#10;            &lt;Box style={{ width: 88, height: 3, background: 'rgba(255,255,255,0.28)', marginTop: 14 }} /&gt;&#10;            &lt;Text style={{ fontSize: 18, color: '#C7D2E0', lineHeight: 1.65, width: 740 }}&gt;&#10;                F8 requires both the classification and RMA decision to match the expected result.&#10;                The rule baseline scores 11/14. The constructed case set does not establish production accuracy,&#10;                and this submission reports no aggregate AI score.&#10;            &lt;/Text&gt;&#10;        &lt;/Box&gt;&#10;&#10;        &lt;Box style={{ position: 'absolute', left: 0, bottom: 0, width: 1136, flexDirection: 'row', justifyContent: 'flex-end' }}&gt;&#10;            &lt;Text style={{ fontFamily: MONO, fontSize: 14, color: 'rgba(255,255,255,0.45)' }}&gt;11 / 15&lt;/Text&gt;&#10;        &lt;/Box&gt;&#10;&#10;    &lt;/Box&gt;&#10;&lt;/Slide&gt;&#10;"/>
        <p:cNvGrpSpPr/>
        <p:nvPr/>
      </p:nvGrpSpPr>
      <p:grpSpPr>
        <a:xfrm>
          <a:off x="0" y="0"/>
          <a:ext cx="0" cy="0"/>
          <a:chOff x="0" y="0"/>
          <a:chExt cx="0" cy="0"/>
        </a:xfrm>
      </p:grpSpPr>
      <p:sp>
        <p:nvSpPr>
          <p:cNvPr id="44" name=""/>
          <p:cNvSpPr/>
          <p:nvPr/>
        </p:nvSpPr>
        <p:spPr>
          <a:xfrm rot="0" flipH="0" flipV="0">
            <a:off x="0" y="0"/>
            <a:ext cx="12192000" cy="6858000"/>
          </a:xfrm>
          <a:prstGeom prst="rect">
            <a:avLst/>
          </a:prstGeom>
          <a:gradFill>
            <a:gsLst>
              <a:gs pos="0">
                <a:srgbClr val="0B1220"/>
              </a:gs>
              <a:gs pos="62000">
                <a:srgbClr val="131E33"/>
              </a:gs>
              <a:gs pos="100000">
                <a:srgbClr val="0B1220"/>
              </a:gs>
            </a:gsLst>
            <a:lin ang="4200000" scaled="1"/>
          </a:gradFill>
          <a:ln/>
        </p:spPr>
        <p:txBody>
          <a:bodyPr/>
          <a:p/>
        </p:txBody>
      </p:sp>
      <p:pic>
        <p:nvPicPr>
          <p:cNvPr id="45" name=""/>
          <p:cNvPicPr>
            <a:picLocks noChangeAspect="1"/>
          </p:cNvPicPr>
          <p:nvPr/>
        </p:nvPicPr>
        <p:blipFill>
          <a:blip>
            <a:extLst>
              <a:ext uri="{96DAC541-7B7A-43D3-8B79-37D633B846F1}">
                <asvg:svgBlip r:embed="rId1"/>
              </a:ext>
            </a:extLst>
          </a:blip>
          <a:stretch>
            <a:fillRect/>
          </a:stretch>
        </p:blipFill>
        <p:spPr>
          <a:xfrm rot="0" flipH="0" flipV="0">
            <a:off x="685800" y="685800"/>
            <a:ext cx="10820400" cy="5486400"/>
          </a:xfrm>
          <a:prstGeom prst="rect">
            <a:avLst/>
          </a:prstGeom>
          <a:ln/>
        </p:spPr>
      </p:pic>
      <p:sp>
        <p:nvSpPr>
          <p:cNvPr id="46" name="" descr="{&quot;isTemplate&quot;:true,&quot;type&quot;:&quot;text&quot;}"/>
          <p:cNvSpPr txBox="1"/>
          <p:nvPr/>
        </p:nvSpPr>
        <p:spPr>
          <a:xfrm rot="0" flipH="0" flipV="0">
            <a:off x="7372350" y="914400"/>
            <a:ext cx="4133850" cy="2057400"/>
          </a:xfrm>
          <a:prstGeom prst="rect"/>
        </p:spPr>
        <p:txBody>
          <a:bodyPr wrap="none" lIns="0" tIns="0" rIns="0" bIns="0"/>
          <a:p>
            <a:pPr>
              <a:lnSpc>
                <a:spcPct val="100000"/>
              </a:lnSpc>
            </a:pPr>
            <a:r>
              <a:rPr lang="en-US" sz="13500" b="1">
                <a:solidFill>
                  <a:srgbClr val="2F6BFF">
                    <a:alpha val="18000"/>
                  </a:srgbClr>
                </a:solidFill>
                <a:latin typeface="JetBrains Mono"/>
                <a:ea typeface="JetBrains Mono"/>
              </a:rPr>
              <a:t>11 /</a:t>
            </a:r>
            <a:endParaRPr/>
          </a:p>
        </p:txBody>
      </p:sp>
      <p:sp>
        <p:nvSpPr>
          <p:cNvPr id="47" name="" descr="{&quot;isTemplate&quot;:true,&quot;type&quot;:&quot;text&quot;}"/>
          <p:cNvSpPr txBox="1"/>
          <p:nvPr/>
        </p:nvSpPr>
        <p:spPr>
          <a:xfrm rot="0" flipH="0" flipV="0">
            <a:off x="9439275" y="2971800"/>
            <a:ext cx="2066925" cy="2057400"/>
          </a:xfrm>
          <a:prstGeom prst="rect"/>
        </p:spPr>
        <p:txBody>
          <a:bodyPr wrap="none" lIns="0" tIns="0" rIns="0" bIns="0"/>
          <a:p>
            <a:pPr>
              <a:lnSpc>
                <a:spcPct val="100000"/>
              </a:lnSpc>
            </a:pPr>
            <a:r>
              <a:rPr lang="en-US" sz="13500" b="1">
                <a:solidFill>
                  <a:srgbClr val="2F6BFF">
                    <a:alpha val="18000"/>
                  </a:srgbClr>
                </a:solidFill>
                <a:latin typeface="JetBrains Mono"/>
                <a:ea typeface="JetBrains Mono"/>
              </a:rPr>
              <a:t>14</a:t>
            </a:r>
            <a:endParaRPr/>
          </a:p>
        </p:txBody>
      </p:sp>
      <p:sp>
        <p:nvSpPr>
          <p:cNvPr id="48" name="" descr="{&quot;isTemplate&quot;:true,&quot;type&quot;:&quot;text&quot;}"/>
          <p:cNvSpPr txBox="1"/>
          <p:nvPr/>
        </p:nvSpPr>
        <p:spPr>
          <a:xfrm rot="0" flipH="0" flipV="0">
            <a:off x="8610600" y="5124450"/>
            <a:ext cx="2895600" cy="247650"/>
          </a:xfrm>
          <a:prstGeom prst="rect"/>
        </p:spPr>
        <p:txBody>
          <a:bodyPr wrap="none" lIns="0" tIns="0" rIns="0" bIns="0"/>
          <a:p>
            <a:pPr>
              <a:lnSpc>
                <a:spcPct val="150000"/>
              </a:lnSpc>
            </a:pPr>
            <a:r>
              <a:rPr lang="en-US" sz="1050">
                <a:solidFill>
                  <a:srgbClr val="FFFFFF">
                    <a:alpha val="52000"/>
                  </a:srgbClr>
                </a:solidFill>
                <a:latin typeface="JetBrains Mono"/>
                <a:ea typeface="JetBrains Mono"/>
              </a:rPr>
              <a:t>rule baseline on the 14-case library</a:t>
            </a:r>
            <a:endParaRPr/>
          </a:p>
        </p:txBody>
      </p:sp>
      <p:sp>
        <p:nvSpPr>
          <p:cNvPr id="49" name="" descr="{&quot;isTemplate&quot;:true,&quot;type&quot;:&quot;text&quot;}"/>
          <p:cNvSpPr txBox="1"/>
          <p:nvPr/>
        </p:nvSpPr>
        <p:spPr>
          <a:xfrm rot="0" flipH="0" flipV="0">
            <a:off x="685800" y="1800225"/>
            <a:ext cx="7239000" cy="161925"/>
          </a:xfrm>
          <a:prstGeom prst="rect"/>
        </p:spPr>
        <p:txBody>
          <a:bodyPr wrap="none" lIns="0" tIns="0" rIns="0" bIns="0"/>
          <a:p>
            <a:pPr>
              <a:lnSpc>
                <a:spcPct val="100000"/>
              </a:lnSpc>
            </a:pPr>
            <a:r>
              <a:rPr lang="en-US" sz="1050" spc="225">
                <a:solidFill>
                  <a:srgbClr val="2F6BFF"/>
                </a:solidFill>
                <a:latin typeface="JetBrains Mono"/>
                <a:ea typeface="JetBrains Mono"/>
              </a:rPr>
              <a:t>CHAPTER 03</a:t>
            </a:r>
            <a:endParaRPr/>
          </a:p>
        </p:txBody>
      </p:sp>
      <p:sp>
        <p:nvSpPr>
          <p:cNvPr id="50" name="" descr="{&quot;isTemplate&quot;:true,&quot;type&quot;:&quot;text&quot;}"/>
          <p:cNvSpPr txBox="1"/>
          <p:nvPr/>
        </p:nvSpPr>
        <p:spPr>
          <a:xfrm rot="0" flipH="0" flipV="0">
            <a:off x="685800" y="2133600"/>
            <a:ext cx="7239000" cy="809625"/>
          </a:xfrm>
          <a:prstGeom prst="rect"/>
        </p:spPr>
        <p:txBody>
          <a:bodyPr wrap="none" lIns="0" tIns="0" rIns="0" bIns="0"/>
          <a:p>
            <a:pPr>
              <a:lnSpc>
                <a:spcPct val="110000"/>
              </a:lnSpc>
            </a:pPr>
            <a:r>
              <a:rPr lang="en-US" sz="4800" b="1">
                <a:solidFill>
                  <a:srgbClr val="FFFFFF"/>
                </a:solidFill>
                <a:latin typeface="Inter"/>
                <a:ea typeface="Inter"/>
              </a:rPr>
              <a:t>Evidence and limits</a:t>
            </a:r>
            <a:endParaRPr/>
          </a:p>
        </p:txBody>
      </p:sp>
      <p:sp>
        <p:nvSpPr>
          <p:cNvPr id="51" name="" descr="{&quot;isTemplate&quot;:true,&quot;type&quot;:&quot;text&quot;}"/>
          <p:cNvSpPr txBox="1"/>
          <p:nvPr/>
        </p:nvSpPr>
        <p:spPr>
          <a:xfrm rot="0" flipH="0" flipV="0">
            <a:off x="685800" y="3114675"/>
            <a:ext cx="7239000" cy="419100"/>
          </a:xfrm>
          <a:prstGeom prst="rect"/>
        </p:spPr>
        <p:txBody>
          <a:bodyPr wrap="none" lIns="0" tIns="0" rIns="0" bIns="0"/>
          <a:p>
            <a:pPr>
              <a:lnSpc>
                <a:spcPct val="150000"/>
              </a:lnSpc>
            </a:pPr>
            <a:r>
              <a:rPr lang="en-US" sz="1800">
                <a:solidFill>
                  <a:srgbClr val="94A3B8"/>
                </a:solidFill>
                <a:latin typeface="Inter"/>
                <a:ea typeface="Inter"/>
              </a:rPr>
              <a:t>A rule benchmark on 14 constructed cases</a:t>
            </a:r>
            <a:endParaRPr/>
          </a:p>
        </p:txBody>
      </p:sp>
      <p:sp>
        <p:nvSpPr>
          <p:cNvPr id="52" name=""/>
          <p:cNvSpPr/>
          <p:nvPr/>
        </p:nvSpPr>
        <p:spPr>
          <a:xfrm rot="0" flipH="0" flipV="0">
            <a:off x="685800" y="3838575"/>
            <a:ext cx="838200" cy="28575"/>
          </a:xfrm>
          <a:prstGeom prst="rect">
            <a:avLst/>
          </a:prstGeom>
          <a:solidFill>
            <a:srgbClr val="FFFFFF">
              <a:alpha val="28000"/>
            </a:srgbClr>
          </a:solidFill>
          <a:ln/>
        </p:spPr>
        <p:txBody>
          <a:bodyPr/>
          <a:p/>
        </p:txBody>
      </p:sp>
      <p:sp>
        <p:nvSpPr>
          <p:cNvPr id="53" name="" descr="{&quot;isTemplate&quot;:true,&quot;type&quot;:&quot;text&quot;}"/>
          <p:cNvSpPr txBox="1"/>
          <p:nvPr/>
        </p:nvSpPr>
        <p:spPr>
          <a:xfrm rot="0" flipH="0" flipV="0">
            <a:off x="685800" y="4038600"/>
            <a:ext cx="7048500" cy="1019175"/>
          </a:xfrm>
          <a:prstGeom prst="rect"/>
        </p:spPr>
        <p:txBody>
          <a:bodyPr wrap="square" lIns="0" tIns="0" rIns="0" bIns="0">
            <a:normAutofit/>
          </a:bodyPr>
          <a:p>
            <a:pPr>
              <a:lnSpc>
                <a:spcPct val="165000"/>
              </a:lnSpc>
            </a:pPr>
            <a:r>
              <a:rPr lang="en-US" sz="1350">
                <a:solidFill>
                  <a:srgbClr val="C7D2E0"/>
                </a:solidFill>
                <a:latin typeface="Inter"/>
                <a:ea typeface="Inter"/>
              </a:rPr>
              <a:t>F8 requires both the classification and RMA decision to match the expected result. The rule baseline scores 11/14. The constructed case set does not establish production accuracy, and this submission reports no aggregate AI score.</a:t>
            </a:r>
            <a:endParaRPr/>
          </a:p>
        </p:txBody>
      </p:sp>
      <p:sp>
        <p:nvSpPr>
          <p:cNvPr id="54" name="" descr="{&quot;isTemplate&quot;:true,&quot;type&quot;:&quot;text&quot;}"/>
          <p:cNvSpPr txBox="1"/>
          <p:nvPr/>
        </p:nvSpPr>
        <p:spPr>
          <a:xfrm rot="0" flipH="0" flipV="0">
            <a:off x="10934700" y="6010275"/>
            <a:ext cx="571500" cy="161925"/>
          </a:xfrm>
          <a:prstGeom prst="rect"/>
        </p:spPr>
        <p:txBody>
          <a:bodyPr wrap="none" lIns="0" tIns="0" rIns="0" bIns="0"/>
          <a:p>
            <a:pPr>
              <a:lnSpc>
                <a:spcPct val="100000"/>
              </a:lnSpc>
            </a:pPr>
            <a:r>
              <a:rPr lang="en-US" sz="1050">
                <a:solidFill>
                  <a:srgbClr val="FFFFFF">
                    <a:alpha val="45000"/>
                  </a:srgbClr>
                </a:solidFill>
                <a:latin typeface="JetBrains Mono"/>
                <a:ea typeface="JetBrains Mono"/>
              </a:rPr>
              <a:t>11 / 15</a:t>
            </a:r>
            <a:endParaRPr/>
          </a:p>
        </p:txBody>
      </p:sp>
    </p:spTree>
  </p:cSld>
</p:sld>
</file>

<file path=ppt/slides/slide12.xml><?xml version="1.0" encoding="utf-8"?>
<p:sld xmlns:r="http://schemas.openxmlformats.org/officeDocument/2006/relationships" xmlns:p="http://schemas.openxmlformats.org/presentationml/2006/main" xmlns:a="http://schemas.openxmlformats.org/drawingml/2006/main">
  <p:cSld>
    <p:spTree>
      <p:nvGrpSpPr>
        <p:cNvPr id="55" name="" descr="// 12: joint F8 result and all 14 case rows.&#10;const FONT = 'Inter, &quot;Helvetica Neue&quot;, Arial, sans-serif';&#10;const MONO = '&quot;JetBrains Mono&quot;, &quot;SF Mono&quot;, Menlo, monospace';&#10;const INK = '#0B1220';&#10;const BLUE = '#2F6BFF';&#10;const RED = '#E5484D';&#10;const DIM = '#64748B';&#10;const BODY = '#1A2434';&#10;&#10;const MISSES = [&#10;    { id: 'case-xid48-dbe', why: 'hardware evidence loses to application signature votes' },&#10;    { id: 'case-xid94-rising', why: 'frequent Xid 94 with rising ECC remains hardware_watch' },&#10;    { id: 'case-gpu-hang-deadlock', why: 'a secondary hang taken for the root cause' },&#10;];&#10;&#10;&lt;Slide style={{ width: 1280, height: 720, padding: '18px 72px', background: '#FFFFFF', fontFamily: FONT }}&gt;&#10;    &lt;Box style={{ width: 1136, height: 92, flexDirection: 'row', justifyContent: 'space-between', alignItems: 'flex-end' }}&gt;&#10;        &lt;Text style={{ fontSize: 34, fontWeight: 700, color: INK, lineHeight: 1.3 }}&gt;Rule benchmark results&lt;/Text&gt;&#10;        &lt;Text style={{ fontFamily: MONO, fontSize: 14, color: DIM, lineHeight: 1.45 }}&gt;Offline baseline, no model calls&lt;/Text&gt;&#10;    &lt;/Box&gt;&#10;&#10;    &lt;Box style={{ width: 1136, height: 544, flexDirection: 'row', gap: 24 }}&gt;&#10;&#10;        &lt;Box style={{ width: 452 }}&gt;&#10;            &lt;Text style={{ fontFamily: MONO, fontSize: 104, fontWeight: 700, color: INK, lineHeight: 1 }}&gt;11 / &lt;span style={{ color: RED }}&gt;14&lt;/span&gt;&lt;/Text&gt;&#10;            &lt;Text style={{ fontFamily: MONO, fontSize: 16, color: DIM, lineHeight: 1.5, marginTop: 8 }}&gt;78.6% joint F8, class and RMA&lt;/Text&gt;&#10;&#10;            &lt;Box style={{ width: 452, height: 1, background: '#E6EBF3', marginTop: 16, marginBottom: 14 }} /&gt;&#10;&#10;            &lt;Text style={{ fontSize: 16, fontWeight: 600, color: INK, lineHeight: 1.45 }}&gt;Three rule-baseline misses&lt;/Text&gt;&#10;            {MISSES.map((m, i) =&gt; (&#10;                &lt;Box key={i} style={{ marginTop: 12, width: 452 }}&gt;&#10;                    &lt;Text style={{ fontFamily: MONO, fontSize: 13, color: BLUE, lineHeight: 1.5 }}&gt;{m.id}&lt;/Text&gt;&#10;                    &lt;Text style={{ fontSize: 14, color: BODY, lineHeight: 1.5 }}&gt;{m.why}&lt;/Text&gt;&#10;                &lt;/Box&gt;&#10;            ))}&#10;&#10;            &lt;Text style={{ fontSize: 13, color: DIM, lineHeight: 1.6, marginTop: 16, width: 452 }}&gt;&#10;                Classification alone: 11/14. RMA alone: 12/14.&#10;                The baseline votes over signature hits and maps hardware to an RMA recommendation.&#10;            &lt;/Text&gt;&#10;        &lt;/Box&gt;&#10;&#10;        &lt;Box style={{ width: 660, alignItems: 'center', justifyContent: 'center' }}&gt;&#10;            {/* Keep all case rows inside the measured table crop. */}&#10;            &lt;Image src='assets/crop-bench-table.png' style={{ width: 660, height: 400, border: '1px solid #E9EDF4' }} /&gt;&#10;            &lt;Text style={{ fontSize: 13, color: DIM, lineHeight: 1.5, marginTop: 10, width: 660 }}&gt;&#10;                All 14 constructed cases, scored locally. The AI column shows Not run for this capture.&#10;            &lt;/Text&gt;&#10;        &lt;/Box&gt;&#10;&#10;    &lt;/Box&gt;&#10;&#10;    &lt;Box style={{ width: 1136, height: 48, flexDirection: 'row', justifyContent: 'space-between', alignItems: 'center' }}&gt;&#10;        &lt;Text style={{ fontSize: 14, color: DIM }}&gt;scripts/verify_triage.mjs and the browser use the same scoring path&lt;/Text&gt;&#10;        &lt;Text style={{ fontFamily: MONO, fontSize: 14, color: DIM }}&gt;12 / 15&lt;/Text&gt;&#10;    &lt;/Box&gt;&#10;&lt;/Slide&gt;&#10;"/>
        <p:cNvGrpSpPr/>
        <p:nvPr/>
      </p:nvGrpSpPr>
      <p:grpSpPr>
        <a:xfrm>
          <a:off x="0" y="0"/>
          <a:ext cx="0" cy="0"/>
          <a:chOff x="0" y="0"/>
          <a:chExt cx="0" cy="0"/>
        </a:xfrm>
      </p:grpSpPr>
      <p:sp>
        <p:nvSpPr>
          <p:cNvPr id="56" name=""/>
          <p:cNvSpPr/>
          <p:nvPr/>
        </p:nvSpPr>
        <p:spPr>
          <a:xfrm rot="0" flipH="0" flipV="0">
            <a:off x="0" y="0"/>
            <a:ext cx="12192000" cy="6858000"/>
          </a:xfrm>
          <a:prstGeom prst="rect">
            <a:avLst/>
          </a:prstGeom>
          <a:solidFill>
            <a:srgbClr val="FFFFFF"/>
          </a:solidFill>
          <a:ln/>
        </p:spPr>
        <p:txBody>
          <a:bodyPr/>
          <a:p/>
        </p:txBody>
      </p:sp>
      <p:sp>
        <p:nvSpPr>
          <p:cNvPr id="57" name="" descr="{&quot;isTemplate&quot;:true,&quot;type&quot;:&quot;text&quot;}"/>
          <p:cNvSpPr txBox="1"/>
          <p:nvPr/>
        </p:nvSpPr>
        <p:spPr>
          <a:xfrm rot="0" flipH="0" flipV="0">
            <a:off x="685800" y="533400"/>
            <a:ext cx="3667125" cy="514350"/>
          </a:xfrm>
          <a:prstGeom prst="rect"/>
        </p:spPr>
        <p:txBody>
          <a:bodyPr wrap="none" lIns="0" tIns="0" rIns="0" bIns="0"/>
          <a:p>
            <a:pPr>
              <a:lnSpc>
                <a:spcPct val="130000"/>
              </a:lnSpc>
            </a:pPr>
            <a:r>
              <a:rPr lang="en-US" sz="2550" b="1">
                <a:solidFill>
                  <a:srgbClr val="0B1220"/>
                </a:solidFill>
                <a:latin typeface="Inter"/>
                <a:ea typeface="Inter"/>
              </a:rPr>
              <a:t>Rule benchmark results</a:t>
            </a:r>
            <a:endParaRPr/>
          </a:p>
        </p:txBody>
      </p:sp>
      <p:sp>
        <p:nvSpPr>
          <p:cNvPr id="58" name="" descr="{&quot;isTemplate&quot;:true,&quot;type&quot;:&quot;text&quot;}"/>
          <p:cNvSpPr txBox="1"/>
          <p:nvPr/>
        </p:nvSpPr>
        <p:spPr>
          <a:xfrm rot="0" flipH="0" flipV="0">
            <a:off x="8934450" y="809625"/>
            <a:ext cx="2571750" cy="238125"/>
          </a:xfrm>
          <a:prstGeom prst="rect"/>
        </p:spPr>
        <p:txBody>
          <a:bodyPr wrap="none" lIns="0" tIns="0" rIns="0" bIns="0"/>
          <a:p>
            <a:pPr>
              <a:lnSpc>
                <a:spcPct val="145000"/>
              </a:lnSpc>
            </a:pPr>
            <a:r>
              <a:rPr lang="en-US" sz="1050">
                <a:solidFill>
                  <a:srgbClr val="64748B"/>
                </a:solidFill>
                <a:latin typeface="JetBrains Mono"/>
                <a:ea typeface="JetBrains Mono"/>
              </a:rPr>
              <a:t>Offline baseline, no model calls</a:t>
            </a:r>
            <a:endParaRPr/>
          </a:p>
        </p:txBody>
      </p:sp>
      <p:sp>
        <p:nvSpPr>
          <p:cNvPr id="59" name="" descr="{&quot;isTemplate&quot;:true,&quot;type&quot;:&quot;text&quot;}"/>
          <p:cNvSpPr txBox="1"/>
          <p:nvPr/>
        </p:nvSpPr>
        <p:spPr>
          <a:xfrm rot="0" flipH="0" flipV="0">
            <a:off x="685800" y="1047750"/>
            <a:ext cx="4305300" cy="1190625"/>
          </a:xfrm>
          <a:prstGeom prst="rect"/>
        </p:spPr>
        <p:txBody>
          <a:bodyPr wrap="none" lIns="0" tIns="0" rIns="0" bIns="0"/>
          <a:p>
            <a:pPr>
              <a:lnSpc>
                <a:spcPct val="100000"/>
              </a:lnSpc>
            </a:pPr>
            <a:r>
              <a:rPr lang="en-US" sz="7800" b="1">
                <a:solidFill>
                  <a:srgbClr val="0B1220"/>
                </a:solidFill>
                <a:latin typeface="JetBrains Mono"/>
                <a:ea typeface="JetBrains Mono"/>
              </a:rPr>
              <a:t xml:space="preserve">11 / </a:t>
            </a:r>
            <a:r>
              <a:rPr lang="en-US" sz="7800" b="1">
                <a:solidFill>
                  <a:srgbClr val="E5484D"/>
                </a:solidFill>
                <a:latin typeface="JetBrains Mono"/>
                <a:ea typeface="JetBrains Mono"/>
              </a:rPr>
              <a:t>14</a:t>
            </a:r>
            <a:endParaRPr/>
          </a:p>
        </p:txBody>
      </p:sp>
      <p:sp>
        <p:nvSpPr>
          <p:cNvPr id="60" name="" descr="{&quot;isTemplate&quot;:true,&quot;type&quot;:&quot;text&quot;}"/>
          <p:cNvSpPr txBox="1"/>
          <p:nvPr/>
        </p:nvSpPr>
        <p:spPr>
          <a:xfrm rot="0" flipH="0" flipV="0">
            <a:off x="685800" y="2314575"/>
            <a:ext cx="4305300" cy="276225"/>
          </a:xfrm>
          <a:prstGeom prst="rect"/>
        </p:spPr>
        <p:txBody>
          <a:bodyPr wrap="none" lIns="0" tIns="0" rIns="0" bIns="0"/>
          <a:p>
            <a:pPr>
              <a:lnSpc>
                <a:spcPct val="150000"/>
              </a:lnSpc>
            </a:pPr>
            <a:r>
              <a:rPr lang="en-US" sz="1200">
                <a:solidFill>
                  <a:srgbClr val="64748B"/>
                </a:solidFill>
                <a:latin typeface="JetBrains Mono"/>
                <a:ea typeface="JetBrains Mono"/>
              </a:rPr>
              <a:t>78.6% joint F8, class and RMA</a:t>
            </a:r>
            <a:endParaRPr/>
          </a:p>
        </p:txBody>
      </p:sp>
      <p:sp>
        <p:nvSpPr>
          <p:cNvPr id="61" name=""/>
          <p:cNvSpPr/>
          <p:nvPr/>
        </p:nvSpPr>
        <p:spPr>
          <a:xfrm rot="0" flipH="0" flipV="0">
            <a:off x="685800" y="2743200"/>
            <a:ext cx="4305300" cy="9525"/>
          </a:xfrm>
          <a:prstGeom prst="rect">
            <a:avLst/>
          </a:prstGeom>
          <a:solidFill>
            <a:srgbClr val="E6EBF3"/>
          </a:solidFill>
          <a:ln/>
        </p:spPr>
        <p:txBody>
          <a:bodyPr/>
          <a:p/>
        </p:txBody>
      </p:sp>
      <p:sp>
        <p:nvSpPr>
          <p:cNvPr id="62" name="" descr="{&quot;isTemplate&quot;:true,&quot;type&quot;:&quot;text&quot;}"/>
          <p:cNvSpPr txBox="1"/>
          <p:nvPr/>
        </p:nvSpPr>
        <p:spPr>
          <a:xfrm rot="0" flipH="0" flipV="0">
            <a:off x="685800" y="2886075"/>
            <a:ext cx="4305300" cy="266700"/>
          </a:xfrm>
          <a:prstGeom prst="rect"/>
        </p:spPr>
        <p:txBody>
          <a:bodyPr wrap="none" lIns="0" tIns="0" rIns="0" bIns="0"/>
          <a:p>
            <a:pPr>
              <a:lnSpc>
                <a:spcPct val="145000"/>
              </a:lnSpc>
            </a:pPr>
            <a:r>
              <a:rPr lang="en-US" sz="1200" b="1">
                <a:solidFill>
                  <a:srgbClr val="0B1220"/>
                </a:solidFill>
                <a:latin typeface="Inter"/>
                <a:ea typeface="Inter"/>
              </a:rPr>
              <a:t>Three rule-baseline misses</a:t>
            </a:r>
            <a:endParaRPr/>
          </a:p>
        </p:txBody>
      </p:sp>
      <p:sp>
        <p:nvSpPr>
          <p:cNvPr id="63" name="" descr="{&quot;isTemplate&quot;:true,&quot;type&quot;:&quot;text&quot;}"/>
          <p:cNvSpPr txBox="1"/>
          <p:nvPr/>
        </p:nvSpPr>
        <p:spPr>
          <a:xfrm rot="0" flipH="0" flipV="0">
            <a:off x="685800" y="3267075"/>
            <a:ext cx="4305300" cy="228600"/>
          </a:xfrm>
          <a:prstGeom prst="rect"/>
        </p:spPr>
        <p:txBody>
          <a:bodyPr wrap="none" lIns="0" tIns="0" rIns="0" bIns="0"/>
          <a:p>
            <a:pPr>
              <a:lnSpc>
                <a:spcPct val="150000"/>
              </a:lnSpc>
            </a:pPr>
            <a:r>
              <a:rPr lang="en-US" sz="975">
                <a:solidFill>
                  <a:srgbClr val="2F6BFF"/>
                </a:solidFill>
                <a:latin typeface="JetBrains Mono"/>
                <a:ea typeface="JetBrains Mono"/>
              </a:rPr>
              <a:t>case-xid48-dbe</a:t>
            </a:r>
            <a:endParaRPr/>
          </a:p>
        </p:txBody>
      </p:sp>
      <p:sp>
        <p:nvSpPr>
          <p:cNvPr id="64" name="" descr="{&quot;isTemplate&quot;:true,&quot;type&quot;:&quot;text&quot;}"/>
          <p:cNvSpPr txBox="1"/>
          <p:nvPr/>
        </p:nvSpPr>
        <p:spPr>
          <a:xfrm rot="0" flipH="0" flipV="0">
            <a:off x="685800" y="3495675"/>
            <a:ext cx="4305300" cy="247650"/>
          </a:xfrm>
          <a:prstGeom prst="rect"/>
        </p:spPr>
        <p:txBody>
          <a:bodyPr wrap="none" lIns="0" tIns="0" rIns="0" bIns="0"/>
          <a:p>
            <a:pPr>
              <a:lnSpc>
                <a:spcPct val="150000"/>
              </a:lnSpc>
            </a:pPr>
            <a:r>
              <a:rPr lang="en-US" sz="1050">
                <a:solidFill>
                  <a:srgbClr val="1A2434"/>
                </a:solidFill>
                <a:latin typeface="Inter"/>
                <a:ea typeface="Inter"/>
              </a:rPr>
              <a:t>hardware evidence loses to application signature votes</a:t>
            </a:r>
            <a:endParaRPr/>
          </a:p>
        </p:txBody>
      </p:sp>
      <p:sp>
        <p:nvSpPr>
          <p:cNvPr id="65" name="" descr="{&quot;isTemplate&quot;:true,&quot;type&quot;:&quot;text&quot;}"/>
          <p:cNvSpPr txBox="1"/>
          <p:nvPr/>
        </p:nvSpPr>
        <p:spPr>
          <a:xfrm rot="0" flipH="0" flipV="0">
            <a:off x="685800" y="3857625"/>
            <a:ext cx="4305300" cy="228600"/>
          </a:xfrm>
          <a:prstGeom prst="rect"/>
        </p:spPr>
        <p:txBody>
          <a:bodyPr wrap="none" lIns="0" tIns="0" rIns="0" bIns="0"/>
          <a:p>
            <a:pPr>
              <a:lnSpc>
                <a:spcPct val="150000"/>
              </a:lnSpc>
            </a:pPr>
            <a:r>
              <a:rPr lang="en-US" sz="975">
                <a:solidFill>
                  <a:srgbClr val="2F6BFF"/>
                </a:solidFill>
                <a:latin typeface="JetBrains Mono"/>
                <a:ea typeface="JetBrains Mono"/>
              </a:rPr>
              <a:t>case-xid94-rising</a:t>
            </a:r>
            <a:endParaRPr/>
          </a:p>
        </p:txBody>
      </p:sp>
      <p:sp>
        <p:nvSpPr>
          <p:cNvPr id="66" name="" descr="{&quot;isTemplate&quot;:true,&quot;type&quot;:&quot;text&quot;}"/>
          <p:cNvSpPr txBox="1"/>
          <p:nvPr/>
        </p:nvSpPr>
        <p:spPr>
          <a:xfrm rot="0" flipH="0" flipV="0">
            <a:off x="685800" y="4086225"/>
            <a:ext cx="4305300" cy="247650"/>
          </a:xfrm>
          <a:prstGeom prst="rect"/>
        </p:spPr>
        <p:txBody>
          <a:bodyPr wrap="none" lIns="0" tIns="0" rIns="0" bIns="0"/>
          <a:p>
            <a:pPr>
              <a:lnSpc>
                <a:spcPct val="150000"/>
              </a:lnSpc>
            </a:pPr>
            <a:r>
              <a:rPr lang="en-US" sz="1050">
                <a:solidFill>
                  <a:srgbClr val="1A2434"/>
                </a:solidFill>
                <a:latin typeface="Inter"/>
                <a:ea typeface="Inter"/>
              </a:rPr>
              <a:t>frequent Xid 94 with rising ECC remains hardware_watch</a:t>
            </a:r>
            <a:endParaRPr/>
          </a:p>
        </p:txBody>
      </p:sp>
      <p:sp>
        <p:nvSpPr>
          <p:cNvPr id="67" name="" descr="{&quot;isTemplate&quot;:true,&quot;type&quot;:&quot;text&quot;}"/>
          <p:cNvSpPr txBox="1"/>
          <p:nvPr/>
        </p:nvSpPr>
        <p:spPr>
          <a:xfrm rot="0" flipH="0" flipV="0">
            <a:off x="685800" y="4448175"/>
            <a:ext cx="4305300" cy="228600"/>
          </a:xfrm>
          <a:prstGeom prst="rect"/>
        </p:spPr>
        <p:txBody>
          <a:bodyPr wrap="none" lIns="0" tIns="0" rIns="0" bIns="0"/>
          <a:p>
            <a:pPr>
              <a:lnSpc>
                <a:spcPct val="150000"/>
              </a:lnSpc>
            </a:pPr>
            <a:r>
              <a:rPr lang="en-US" sz="975">
                <a:solidFill>
                  <a:srgbClr val="2F6BFF"/>
                </a:solidFill>
                <a:latin typeface="JetBrains Mono"/>
                <a:ea typeface="JetBrains Mono"/>
              </a:rPr>
              <a:t>case-gpu-hang-deadlock</a:t>
            </a:r>
            <a:endParaRPr/>
          </a:p>
        </p:txBody>
      </p:sp>
      <p:sp>
        <p:nvSpPr>
          <p:cNvPr id="68" name="" descr="{&quot;isTemplate&quot;:true,&quot;type&quot;:&quot;text&quot;}"/>
          <p:cNvSpPr txBox="1"/>
          <p:nvPr/>
        </p:nvSpPr>
        <p:spPr>
          <a:xfrm rot="0" flipH="0" flipV="0">
            <a:off x="685800" y="4676775"/>
            <a:ext cx="4305300" cy="247650"/>
          </a:xfrm>
          <a:prstGeom prst="rect"/>
        </p:spPr>
        <p:txBody>
          <a:bodyPr wrap="none" lIns="0" tIns="0" rIns="0" bIns="0"/>
          <a:p>
            <a:pPr>
              <a:lnSpc>
                <a:spcPct val="150000"/>
              </a:lnSpc>
            </a:pPr>
            <a:r>
              <a:rPr lang="en-US" sz="1050">
                <a:solidFill>
                  <a:srgbClr val="1A2434"/>
                </a:solidFill>
                <a:latin typeface="Inter"/>
                <a:ea typeface="Inter"/>
              </a:rPr>
              <a:t>a secondary hang taken for the root cause</a:t>
            </a:r>
            <a:endParaRPr/>
          </a:p>
        </p:txBody>
      </p:sp>
      <p:sp>
        <p:nvSpPr>
          <p:cNvPr id="69" name="" descr="{&quot;isTemplate&quot;:true,&quot;type&quot;:&quot;text&quot;}"/>
          <p:cNvSpPr txBox="1"/>
          <p:nvPr/>
        </p:nvSpPr>
        <p:spPr>
          <a:xfrm rot="0" flipH="0" flipV="0">
            <a:off x="685800" y="5076825"/>
            <a:ext cx="4305300" cy="476250"/>
          </a:xfrm>
          <a:prstGeom prst="rect"/>
        </p:spPr>
        <p:txBody>
          <a:bodyPr wrap="square" lIns="0" tIns="0" rIns="0" bIns="0">
            <a:normAutofit/>
          </a:bodyPr>
          <a:p>
            <a:pPr>
              <a:lnSpc>
                <a:spcPct val="160000"/>
              </a:lnSpc>
            </a:pPr>
            <a:r>
              <a:rPr lang="en-US" sz="975">
                <a:solidFill>
                  <a:srgbClr val="64748B"/>
                </a:solidFill>
                <a:latin typeface="Inter"/>
                <a:ea typeface="Inter"/>
              </a:rPr>
              <a:t>Classification alone: 11/14. RMA alone: 12/14. The baseline votes over signature hits and maps hardware to an RMA recommendation.</a:t>
            </a:r>
            <a:endParaRPr/>
          </a:p>
        </p:txBody>
      </p:sp>
      <p:sp>
        <p:nvSpPr>
          <p:cNvPr id="70" name=""/>
          <p:cNvSpPr/>
          <p:nvPr/>
        </p:nvSpPr>
        <p:spPr>
          <a:xfrm rot="0" flipH="0" flipV="0">
            <a:off x="5219700" y="1571625"/>
            <a:ext cx="6286500" cy="3810000"/>
          </a:xfrm>
          <a:prstGeom prst="rect">
            <a:avLst/>
          </a:prstGeom>
          <a:ln w="12700">
            <a:solidFill>
              <a:srgbClr val="E9EDF4"/>
            </a:solidFill>
            <a:prstDash val="solid"/>
          </a:ln>
        </p:spPr>
        <p:txBody>
          <a:bodyPr/>
          <a:p/>
        </p:txBody>
      </p:sp>
      <p:pic>
        <p:nvPicPr>
          <p:cNvPr id="71" name=""/>
          <p:cNvPicPr>
            <a:picLocks noChangeAspect="1"/>
          </p:cNvPicPr>
          <p:nvPr/>
        </p:nvPicPr>
        <p:blipFill>
          <a:blip r:embed="rId1"/>
          <a:stretch>
            <a:fillRect/>
          </a:stretch>
        </p:blipFill>
        <p:spPr>
          <a:xfrm rot="0" flipH="0" flipV="0">
            <a:off x="5219700" y="1571625"/>
            <a:ext cx="6286500" cy="3810000"/>
          </a:xfrm>
          <a:prstGeom prst="rect">
            <a:avLst/>
          </a:prstGeom>
          <a:ln/>
        </p:spPr>
      </p:pic>
      <p:sp>
        <p:nvSpPr>
          <p:cNvPr id="72" name="" descr="{&quot;isTemplate&quot;:true,&quot;type&quot;:&quot;text&quot;}"/>
          <p:cNvSpPr txBox="1"/>
          <p:nvPr/>
        </p:nvSpPr>
        <p:spPr>
          <a:xfrm rot="0" flipH="0" flipV="0">
            <a:off x="5219700" y="5476875"/>
            <a:ext cx="6286500" cy="228600"/>
          </a:xfrm>
          <a:prstGeom prst="rect"/>
        </p:spPr>
        <p:txBody>
          <a:bodyPr wrap="none" lIns="0" tIns="0" rIns="0" bIns="0"/>
          <a:p>
            <a:pPr>
              <a:lnSpc>
                <a:spcPct val="150000"/>
              </a:lnSpc>
            </a:pPr>
            <a:r>
              <a:rPr lang="en-US" sz="975">
                <a:solidFill>
                  <a:srgbClr val="64748B"/>
                </a:solidFill>
                <a:latin typeface="Inter"/>
                <a:ea typeface="Inter"/>
              </a:rPr>
              <a:t>All 14 constructed cases, scored locally. The AI column shows Not run for this capture.</a:t>
            </a:r>
            <a:endParaRPr/>
          </a:p>
        </p:txBody>
      </p:sp>
      <p:sp>
        <p:nvSpPr>
          <p:cNvPr id="73" name="" descr="{&quot;isTemplate&quot;:true,&quot;type&quot;:&quot;text&quot;}"/>
          <p:cNvSpPr txBox="1"/>
          <p:nvPr/>
        </p:nvSpPr>
        <p:spPr>
          <a:xfrm rot="0" flipH="0" flipV="0">
            <a:off x="685800" y="6381750"/>
            <a:ext cx="4038600" cy="161925"/>
          </a:xfrm>
          <a:prstGeom prst="rect"/>
        </p:spPr>
        <p:txBody>
          <a:bodyPr wrap="none" lIns="0" tIns="0" rIns="0" bIns="0"/>
          <a:p>
            <a:pPr>
              <a:lnSpc>
                <a:spcPct val="100000"/>
              </a:lnSpc>
            </a:pPr>
            <a:r>
              <a:rPr lang="en-US" sz="1050">
                <a:solidFill>
                  <a:srgbClr val="64748B"/>
                </a:solidFill>
                <a:latin typeface="Inter"/>
                <a:ea typeface="Inter"/>
              </a:rPr>
              <a:t>scripts/verify_triage.mjs and the browser use the same scoring path</a:t>
            </a:r>
            <a:endParaRPr/>
          </a:p>
        </p:txBody>
      </p:sp>
      <p:sp>
        <p:nvSpPr>
          <p:cNvPr id="74" name="" descr="{&quot;isTemplate&quot;:true,&quot;type&quot;:&quot;text&quot;}"/>
          <p:cNvSpPr txBox="1"/>
          <p:nvPr/>
        </p:nvSpPr>
        <p:spPr>
          <a:xfrm rot="0" flipH="0" flipV="0">
            <a:off x="10934700" y="6381750"/>
            <a:ext cx="571500" cy="161925"/>
          </a:xfrm>
          <a:prstGeom prst="rect"/>
        </p:spPr>
        <p:txBody>
          <a:bodyPr wrap="none" lIns="0" tIns="0" rIns="0" bIns="0"/>
          <a:p>
            <a:pPr>
              <a:lnSpc>
                <a:spcPct val="100000"/>
              </a:lnSpc>
            </a:pPr>
            <a:r>
              <a:rPr lang="en-US" sz="1050">
                <a:solidFill>
                  <a:srgbClr val="64748B"/>
                </a:solidFill>
                <a:latin typeface="JetBrains Mono"/>
                <a:ea typeface="JetBrains Mono"/>
              </a:rPr>
              <a:t>12 / 15</a:t>
            </a:r>
            <a:endParaRPr/>
          </a:p>
        </p:txBody>
      </p:sp>
    </p:spTree>
  </p:cSld>
</p:sld>
</file>

<file path=ppt/slides/slide13.xml><?xml version="1.0" encoding="utf-8"?>
<p:sld xmlns:p="http://schemas.openxmlformats.org/presentationml/2006/main" xmlns:a="http://schemas.openxmlformats.org/drawingml/2006/main">
  <p:cSld>
    <p:spTree>
      <p:nvGrpSpPr>
        <p:cNvPr id="75" name="" descr="// 13: five architecture layers and code responsibilities.&#10;const FONT = 'Inter, &quot;Helvetica Neue&quot;, Arial, sans-serif';&#10;const MONO = '&quot;JetBrains Mono&quot;, &quot;SF Mono&quot;, Menlo, monospace';&#10;const INK = '#0B1220';&#10;const BLUE = '#2F6BFF';&#10;const PANEL = '#F1F4FA';&#10;const DIM = '#64748B';&#10;const BODY = '#1A2434';&#10;&#10;const LAYERS = [&#10;    { no: '01', t: 'Knowledge base', d: '24 Xid entries, 27 failure signatures and 6 diagnostic principles' },&#10;    { no: '02', t: 'Deterministic pre-analysis', d: 'Local compatibility checks and memory accounting produce structured facts' },&#10;    { no: '03', t: 'Tools', d: '10 registered tools, with 6 available for cases and all 10 for patrol' },&#10;    { no: '04', t: 'Model loop', d: 'Gemini allows up to 12 turns per attempt. Fallback retains completed calls.' },&#10;    { no: '05', t: 'Execution', d: 'Automatic actions require low risk. The app checks state and records the result.' },&#10;];&#10;&#10;&lt;Slide style={{ width: 1280, height: 720, padding: '18px 72px', background: '#FFFFFF', fontFamily: FONT }}&gt;&#10;    &lt;Box style={{ width: 1136, height: 92, flexDirection: 'row', justifyContent: 'space-between', alignItems: 'flex-end' }}&gt;&#10;        &lt;Text style={{ fontSize: 34, fontWeight: 700, color: INK, lineHeight: 1.3 }}&gt;Application architecture&lt;/Text&gt;&#10;        &lt;Text style={{ fontFamily: MONO, fontSize: 14, color: DIM, lineHeight: 1.45 }}&gt;Architecture&lt;/Text&gt;&#10;    &lt;/Box&gt;&#10;&#10;    &lt;Box style={{ width: 1136, height: 544, flexDirection: 'row', gap: 36 }}&gt;&#10;&#10;        &lt;Box style={{ width: 704 }}&gt;&#10;            {LAYERS.map((l, i) =&gt; (&#10;                &lt;Box key={i} style={{&#10;                    width: 704, height: 96, marginBottom: i &lt; 4 ? 10 : 0, paddingLeft: 16, paddingRight: 16,&#10;                    background: i === 3 ? 'rgba(47,107,255,0.07)' : PANEL, borderRadius: 6,&#10;                    borderLeft: '4px solid ' + (i === 3 ? BLUE : '#C3CFE2'),&#10;                    flexDirection: 'row', alignItems: 'center', gap: 18,&#10;                }}&gt;&#10;                    &lt;Text style={{ fontFamily: MONO, fontSize: 14, fontWeight: 700, color: i === 3 ? BLUE : DIM, width: 30 }}&gt;{l.no}&lt;/Text&gt;&#10;                    &lt;Box style={{ width: 620 }}&gt;&#10;                        &lt;Text style={{ fontSize: 19, fontWeight: 600, color: INK, lineHeight: 1.35 }}&gt;{l.t}&lt;/Text&gt;&#10;                        &lt;Text style={{ fontSize: 14, color: DIM, lineHeight: 1.5, marginTop: 3 }}&gt;{l.d}&lt;/Text&gt;&#10;                    &lt;/Box&gt;&#10;                &lt;/Box&gt;&#10;            ))}&#10;        &lt;/Box&gt;&#10;&#10;        &lt;Box style={{ width: 396 }}&gt;&#10;            &lt;Text style={{ fontSize: 22, fontWeight: 600, color: INK, lineHeight: 1.45 }}&gt;Prompt and code responsibilities&lt;/Text&gt;&#10;            &lt;Text style={{ fontSize: 16, color: BODY, lineHeight: 1.65, marginTop: 14, width: 396 }}&gt;&#10;                The prompt requires tool evidence for numerical claims. The action library supplies risk levels&#10;                for the action IDs the model selects.&#10;            &lt;/Text&gt;&#10;            &lt;Text style={{ fontSize: 16, color: BODY, lineHeight: 1.65, marginTop: 14, width: 396 }}&gt;&#10;                Code limits available tools and rejects automatic execution above low risk.&#10;                Citation checks remove unknown references from proposed actions.&#10;            &lt;/Text&gt;&#10;            &lt;Box style={{ width: 396, height: 1, background: '#E6EBF3', marginTop: 22, marginBottom: 22 }} /&gt;&#10;            &lt;Text style={{ fontSize: 19, fontWeight: 700, color: INK, lineHeight: 1.5, width: 396 }}&gt;&#10;                Medium and high risk actions require operator approval&#10;            &lt;/Text&gt;&#10;        &lt;/Box&gt;&#10;&#10;    &lt;/Box&gt;&#10;&#10;    &lt;Box style={{ width: 1136, height: 48, flexDirection: 'row', justifyContent: 'space-between', alignItems: 'center' }}&gt;&#10;        &lt;Text style={{ fontSize: 14, color: DIM }}&gt;The app selects each mode's tool list before the model loop starts&lt;/Text&gt;&#10;        &lt;Text style={{ fontFamily: MONO, fontSize: 14, color: DIM }}&gt;13 / 15&lt;/Text&gt;&#10;    &lt;/Box&gt;&#10;&lt;/Slide&gt;&#10;"/>
        <p:cNvGrpSpPr/>
        <p:nvPr/>
      </p:nvGrpSpPr>
      <p:grpSpPr>
        <a:xfrm>
          <a:off x="0" y="0"/>
          <a:ext cx="0" cy="0"/>
          <a:chOff x="0" y="0"/>
          <a:chExt cx="0" cy="0"/>
        </a:xfrm>
      </p:grpSpPr>
      <p:sp>
        <p:nvSpPr>
          <p:cNvPr id="76" name=""/>
          <p:cNvSpPr/>
          <p:nvPr/>
        </p:nvSpPr>
        <p:spPr>
          <a:xfrm rot="0" flipH="0" flipV="0">
            <a:off x="0" y="0"/>
            <a:ext cx="12192000" cy="6858000"/>
          </a:xfrm>
          <a:prstGeom prst="rect">
            <a:avLst/>
          </a:prstGeom>
          <a:solidFill>
            <a:srgbClr val="FFFFFF"/>
          </a:solidFill>
          <a:ln/>
        </p:spPr>
        <p:txBody>
          <a:bodyPr/>
          <a:p/>
        </p:txBody>
      </p:sp>
      <p:sp>
        <p:nvSpPr>
          <p:cNvPr id="77" name="" descr="{&quot;isTemplate&quot;:true,&quot;type&quot;:&quot;text&quot;}"/>
          <p:cNvSpPr txBox="1"/>
          <p:nvPr/>
        </p:nvSpPr>
        <p:spPr>
          <a:xfrm rot="0" flipH="0" flipV="0">
            <a:off x="685800" y="533400"/>
            <a:ext cx="3705225" cy="514350"/>
          </a:xfrm>
          <a:prstGeom prst="rect"/>
        </p:spPr>
        <p:txBody>
          <a:bodyPr wrap="none" lIns="0" tIns="0" rIns="0" bIns="0"/>
          <a:p>
            <a:pPr>
              <a:lnSpc>
                <a:spcPct val="130000"/>
              </a:lnSpc>
            </a:pPr>
            <a:r>
              <a:rPr lang="en-US" sz="2550" b="1">
                <a:solidFill>
                  <a:srgbClr val="0B1220"/>
                </a:solidFill>
                <a:latin typeface="Inter"/>
                <a:ea typeface="Inter"/>
              </a:rPr>
              <a:t>Application architecture</a:t>
            </a:r>
            <a:endParaRPr/>
          </a:p>
        </p:txBody>
      </p:sp>
      <p:sp>
        <p:nvSpPr>
          <p:cNvPr id="78" name="" descr="{&quot;isTemplate&quot;:true,&quot;type&quot;:&quot;text&quot;}"/>
          <p:cNvSpPr txBox="1"/>
          <p:nvPr/>
        </p:nvSpPr>
        <p:spPr>
          <a:xfrm rot="0" flipH="0" flipV="0">
            <a:off x="10534650" y="809625"/>
            <a:ext cx="971550" cy="238125"/>
          </a:xfrm>
          <a:prstGeom prst="rect"/>
        </p:spPr>
        <p:txBody>
          <a:bodyPr wrap="none" lIns="0" tIns="0" rIns="0" bIns="0"/>
          <a:p>
            <a:pPr>
              <a:lnSpc>
                <a:spcPct val="145000"/>
              </a:lnSpc>
            </a:pPr>
            <a:r>
              <a:rPr lang="en-US" sz="1050">
                <a:solidFill>
                  <a:srgbClr val="64748B"/>
                </a:solidFill>
                <a:latin typeface="JetBrains Mono"/>
                <a:ea typeface="JetBrains Mono"/>
              </a:rPr>
              <a:t>Architecture</a:t>
            </a:r>
            <a:endParaRPr/>
          </a:p>
        </p:txBody>
      </p:sp>
      <p:sp>
        <p:nvSpPr>
          <p:cNvPr id="79" name=""/>
          <p:cNvSpPr/>
          <p:nvPr/>
        </p:nvSpPr>
        <p:spPr>
          <a:xfrm rot="0" flipH="0" flipV="0">
            <a:off x="723900" y="1047750"/>
            <a:ext cx="6667500" cy="914400"/>
          </a:xfrm>
          <a:prstGeom prst="roundRect">
            <a:avLst>
              <a:gd name="adj" fmla="val 6250"/>
            </a:avLst>
          </a:prstGeom>
          <a:solidFill>
            <a:srgbClr val="F1F4FA"/>
          </a:solidFill>
          <a:ln/>
        </p:spPr>
        <p:txBody>
          <a:bodyPr/>
          <a:p/>
        </p:txBody>
      </p:sp>
      <p:sp>
        <p:nvSpPr>
          <p:cNvPr id="80" name=""/>
          <p:cNvSpPr/>
          <p:nvPr/>
        </p:nvSpPr>
        <p:spPr>
          <a:xfrm rot="0" flipH="0" flipV="0">
            <a:off x="723900" y="1047750"/>
            <a:ext cx="6667500" cy="914400"/>
          </a:xfrm>
          <a:custGeom>
            <a:pathLst>
              <a:path w="700" h="96">
                <a:moveTo>
                  <a:pt x="6" y="0"/>
                </a:moveTo>
                <a:cubicBezTo>
                  <a:pt x="5" y="0"/>
                  <a:pt x="4" y="1"/>
                  <a:pt x="4" y="2"/>
                </a:cubicBezTo>
                <a:lnTo>
                  <a:pt x="4" y="94"/>
                </a:lnTo>
                <a:cubicBezTo>
                  <a:pt x="4" y="95"/>
                  <a:pt x="5" y="96"/>
                  <a:pt x="6" y="96"/>
                </a:cubicBezTo>
                <a:cubicBezTo>
                  <a:pt x="3" y="96"/>
                  <a:pt x="0" y="93"/>
                  <a:pt x="0" y="90"/>
                </a:cubicBezTo>
                <a:lnTo>
                  <a:pt x="0" y="6"/>
                </a:lnTo>
                <a:cubicBezTo>
                  <a:pt x="0" y="3"/>
                  <a:pt x="3" y="0"/>
                  <a:pt x="6" y="0"/>
                </a:cubicBezTo>
                <a:close/>
              </a:path>
            </a:pathLst>
          </a:custGeom>
          <a:solidFill>
            <a:srgbClr val="C3CFE2"/>
          </a:solidFill>
          <a:ln/>
        </p:spPr>
        <p:txBody>
          <a:bodyPr/>
          <a:p/>
        </p:txBody>
      </p:sp>
      <p:sp>
        <p:nvSpPr>
          <p:cNvPr id="81" name="" descr="{&quot;isTemplate&quot;:true,&quot;type&quot;:&quot;text&quot;}"/>
          <p:cNvSpPr txBox="1"/>
          <p:nvPr/>
        </p:nvSpPr>
        <p:spPr>
          <a:xfrm rot="0" flipH="0" flipV="0">
            <a:off x="876300" y="1428750"/>
            <a:ext cx="285750" cy="161925"/>
          </a:xfrm>
          <a:prstGeom prst="rect"/>
        </p:spPr>
        <p:txBody>
          <a:bodyPr wrap="none" lIns="0" tIns="0" rIns="0" bIns="0"/>
          <a:p>
            <a:pPr>
              <a:lnSpc>
                <a:spcPct val="100000"/>
              </a:lnSpc>
            </a:pPr>
            <a:r>
              <a:rPr lang="en-US" sz="1050" b="1">
                <a:solidFill>
                  <a:srgbClr val="64748B"/>
                </a:solidFill>
                <a:latin typeface="JetBrains Mono"/>
                <a:ea typeface="JetBrains Mono"/>
              </a:rPr>
              <a:t>01</a:t>
            </a:r>
            <a:endParaRPr/>
          </a:p>
        </p:txBody>
      </p:sp>
      <p:sp>
        <p:nvSpPr>
          <p:cNvPr id="82" name="" descr="{&quot;isTemplate&quot;:true,&quot;type&quot;:&quot;text&quot;}"/>
          <p:cNvSpPr txBox="1"/>
          <p:nvPr/>
        </p:nvSpPr>
        <p:spPr>
          <a:xfrm rot="0" flipH="0" flipV="0">
            <a:off x="1333500" y="1219200"/>
            <a:ext cx="5905500" cy="295275"/>
          </a:xfrm>
          <a:prstGeom prst="rect"/>
        </p:spPr>
        <p:txBody>
          <a:bodyPr wrap="none" lIns="0" tIns="0" rIns="0" bIns="0"/>
          <a:p>
            <a:pPr>
              <a:lnSpc>
                <a:spcPct val="135000"/>
              </a:lnSpc>
            </a:pPr>
            <a:r>
              <a:rPr lang="en-US" sz="1425" b="1">
                <a:solidFill>
                  <a:srgbClr val="0B1220"/>
                </a:solidFill>
                <a:latin typeface="Inter"/>
                <a:ea typeface="Inter"/>
              </a:rPr>
              <a:t>Knowledge base</a:t>
            </a:r>
            <a:endParaRPr/>
          </a:p>
        </p:txBody>
      </p:sp>
      <p:sp>
        <p:nvSpPr>
          <p:cNvPr id="83" name="" descr="{&quot;isTemplate&quot;:true,&quot;type&quot;:&quot;text&quot;}"/>
          <p:cNvSpPr txBox="1"/>
          <p:nvPr/>
        </p:nvSpPr>
        <p:spPr>
          <a:xfrm rot="0" flipH="0" flipV="0">
            <a:off x="1333500" y="1543050"/>
            <a:ext cx="5905500" cy="247650"/>
          </a:xfrm>
          <a:prstGeom prst="rect"/>
        </p:spPr>
        <p:txBody>
          <a:bodyPr wrap="none" lIns="0" tIns="0" rIns="0" bIns="0"/>
          <a:p>
            <a:pPr>
              <a:lnSpc>
                <a:spcPct val="150000"/>
              </a:lnSpc>
            </a:pPr>
            <a:r>
              <a:rPr lang="en-US" sz="1050">
                <a:solidFill>
                  <a:srgbClr val="64748B"/>
                </a:solidFill>
                <a:latin typeface="Inter"/>
                <a:ea typeface="Inter"/>
              </a:rPr>
              <a:t>24 Xid entries, 27 failure signatures and 6 diagnostic principles</a:t>
            </a:r>
            <a:endParaRPr/>
          </a:p>
        </p:txBody>
      </p:sp>
      <p:sp>
        <p:nvSpPr>
          <p:cNvPr id="84" name=""/>
          <p:cNvSpPr/>
          <p:nvPr/>
        </p:nvSpPr>
        <p:spPr>
          <a:xfrm rot="0" flipH="0" flipV="0">
            <a:off x="723900" y="2057400"/>
            <a:ext cx="6667500" cy="914400"/>
          </a:xfrm>
          <a:prstGeom prst="roundRect">
            <a:avLst>
              <a:gd name="adj" fmla="val 6250"/>
            </a:avLst>
          </a:prstGeom>
          <a:solidFill>
            <a:srgbClr val="F1F4FA"/>
          </a:solidFill>
          <a:ln/>
        </p:spPr>
        <p:txBody>
          <a:bodyPr/>
          <a:p/>
        </p:txBody>
      </p:sp>
      <p:sp>
        <p:nvSpPr>
          <p:cNvPr id="85" name=""/>
          <p:cNvSpPr/>
          <p:nvPr/>
        </p:nvSpPr>
        <p:spPr>
          <a:xfrm rot="0" flipH="0" flipV="0">
            <a:off x="723900" y="2057400"/>
            <a:ext cx="6667500" cy="914400"/>
          </a:xfrm>
          <a:custGeom>
            <a:pathLst>
              <a:path w="700" h="96">
                <a:moveTo>
                  <a:pt x="6" y="0"/>
                </a:moveTo>
                <a:cubicBezTo>
                  <a:pt x="5" y="0"/>
                  <a:pt x="4" y="1"/>
                  <a:pt x="4" y="2"/>
                </a:cubicBezTo>
                <a:lnTo>
                  <a:pt x="4" y="94"/>
                </a:lnTo>
                <a:cubicBezTo>
                  <a:pt x="4" y="95"/>
                  <a:pt x="5" y="96"/>
                  <a:pt x="6" y="96"/>
                </a:cubicBezTo>
                <a:cubicBezTo>
                  <a:pt x="3" y="96"/>
                  <a:pt x="0" y="93"/>
                  <a:pt x="0" y="90"/>
                </a:cubicBezTo>
                <a:lnTo>
                  <a:pt x="0" y="6"/>
                </a:lnTo>
                <a:cubicBezTo>
                  <a:pt x="0" y="3"/>
                  <a:pt x="3" y="0"/>
                  <a:pt x="6" y="0"/>
                </a:cubicBezTo>
                <a:close/>
              </a:path>
            </a:pathLst>
          </a:custGeom>
          <a:solidFill>
            <a:srgbClr val="C3CFE2"/>
          </a:solidFill>
          <a:ln/>
        </p:spPr>
        <p:txBody>
          <a:bodyPr/>
          <a:p/>
        </p:txBody>
      </p:sp>
      <p:sp>
        <p:nvSpPr>
          <p:cNvPr id="86" name="" descr="{&quot;isTemplate&quot;:true,&quot;type&quot;:&quot;text&quot;}"/>
          <p:cNvSpPr txBox="1"/>
          <p:nvPr/>
        </p:nvSpPr>
        <p:spPr>
          <a:xfrm rot="0" flipH="0" flipV="0">
            <a:off x="876300" y="2438400"/>
            <a:ext cx="285750" cy="161925"/>
          </a:xfrm>
          <a:prstGeom prst="rect"/>
        </p:spPr>
        <p:txBody>
          <a:bodyPr wrap="none" lIns="0" tIns="0" rIns="0" bIns="0"/>
          <a:p>
            <a:pPr>
              <a:lnSpc>
                <a:spcPct val="100000"/>
              </a:lnSpc>
            </a:pPr>
            <a:r>
              <a:rPr lang="en-US" sz="1050" b="1">
                <a:solidFill>
                  <a:srgbClr val="64748B"/>
                </a:solidFill>
                <a:latin typeface="JetBrains Mono"/>
                <a:ea typeface="JetBrains Mono"/>
              </a:rPr>
              <a:t>02</a:t>
            </a:r>
            <a:endParaRPr/>
          </a:p>
        </p:txBody>
      </p:sp>
      <p:sp>
        <p:nvSpPr>
          <p:cNvPr id="87" name="" descr="{&quot;isTemplate&quot;:true,&quot;type&quot;:&quot;text&quot;}"/>
          <p:cNvSpPr txBox="1"/>
          <p:nvPr/>
        </p:nvSpPr>
        <p:spPr>
          <a:xfrm rot="0" flipH="0" flipV="0">
            <a:off x="1333500" y="2228850"/>
            <a:ext cx="5905500" cy="295275"/>
          </a:xfrm>
          <a:prstGeom prst="rect"/>
        </p:spPr>
        <p:txBody>
          <a:bodyPr wrap="none" lIns="0" tIns="0" rIns="0" bIns="0"/>
          <a:p>
            <a:pPr>
              <a:lnSpc>
                <a:spcPct val="135000"/>
              </a:lnSpc>
            </a:pPr>
            <a:r>
              <a:rPr lang="en-US" sz="1425" b="1">
                <a:solidFill>
                  <a:srgbClr val="0B1220"/>
                </a:solidFill>
                <a:latin typeface="Inter"/>
                <a:ea typeface="Inter"/>
              </a:rPr>
              <a:t>Deterministic pre-analysis</a:t>
            </a:r>
            <a:endParaRPr/>
          </a:p>
        </p:txBody>
      </p:sp>
      <p:sp>
        <p:nvSpPr>
          <p:cNvPr id="88" name="" descr="{&quot;isTemplate&quot;:true,&quot;type&quot;:&quot;text&quot;}"/>
          <p:cNvSpPr txBox="1"/>
          <p:nvPr/>
        </p:nvSpPr>
        <p:spPr>
          <a:xfrm rot="0" flipH="0" flipV="0">
            <a:off x="1333500" y="2552700"/>
            <a:ext cx="5905500" cy="247650"/>
          </a:xfrm>
          <a:prstGeom prst="rect"/>
        </p:spPr>
        <p:txBody>
          <a:bodyPr wrap="none" lIns="0" tIns="0" rIns="0" bIns="0"/>
          <a:p>
            <a:pPr>
              <a:lnSpc>
                <a:spcPct val="150000"/>
              </a:lnSpc>
            </a:pPr>
            <a:r>
              <a:rPr lang="en-US" sz="1050">
                <a:solidFill>
                  <a:srgbClr val="64748B"/>
                </a:solidFill>
                <a:latin typeface="Inter"/>
                <a:ea typeface="Inter"/>
              </a:rPr>
              <a:t>Local compatibility checks and memory accounting produce structured facts</a:t>
            </a:r>
            <a:endParaRPr/>
          </a:p>
        </p:txBody>
      </p:sp>
      <p:sp>
        <p:nvSpPr>
          <p:cNvPr id="89" name=""/>
          <p:cNvSpPr/>
          <p:nvPr/>
        </p:nvSpPr>
        <p:spPr>
          <a:xfrm rot="0" flipH="0" flipV="0">
            <a:off x="723900" y="3067050"/>
            <a:ext cx="6667500" cy="914400"/>
          </a:xfrm>
          <a:prstGeom prst="roundRect">
            <a:avLst>
              <a:gd name="adj" fmla="val 6250"/>
            </a:avLst>
          </a:prstGeom>
          <a:solidFill>
            <a:srgbClr val="F1F4FA"/>
          </a:solidFill>
          <a:ln/>
        </p:spPr>
        <p:txBody>
          <a:bodyPr/>
          <a:p/>
        </p:txBody>
      </p:sp>
      <p:sp>
        <p:nvSpPr>
          <p:cNvPr id="90" name=""/>
          <p:cNvSpPr/>
          <p:nvPr/>
        </p:nvSpPr>
        <p:spPr>
          <a:xfrm rot="0" flipH="0" flipV="0">
            <a:off x="723900" y="3067050"/>
            <a:ext cx="6667500" cy="914400"/>
          </a:xfrm>
          <a:custGeom>
            <a:pathLst>
              <a:path w="700" h="96">
                <a:moveTo>
                  <a:pt x="6" y="0"/>
                </a:moveTo>
                <a:cubicBezTo>
                  <a:pt x="5" y="0"/>
                  <a:pt x="4" y="1"/>
                  <a:pt x="4" y="2"/>
                </a:cubicBezTo>
                <a:lnTo>
                  <a:pt x="4" y="94"/>
                </a:lnTo>
                <a:cubicBezTo>
                  <a:pt x="4" y="95"/>
                  <a:pt x="5" y="96"/>
                  <a:pt x="6" y="96"/>
                </a:cubicBezTo>
                <a:cubicBezTo>
                  <a:pt x="3" y="96"/>
                  <a:pt x="0" y="93"/>
                  <a:pt x="0" y="90"/>
                </a:cubicBezTo>
                <a:lnTo>
                  <a:pt x="0" y="6"/>
                </a:lnTo>
                <a:cubicBezTo>
                  <a:pt x="0" y="3"/>
                  <a:pt x="3" y="0"/>
                  <a:pt x="6" y="0"/>
                </a:cubicBezTo>
                <a:close/>
              </a:path>
            </a:pathLst>
          </a:custGeom>
          <a:solidFill>
            <a:srgbClr val="C3CFE2"/>
          </a:solidFill>
          <a:ln/>
        </p:spPr>
        <p:txBody>
          <a:bodyPr/>
          <a:p/>
        </p:txBody>
      </p:sp>
      <p:sp>
        <p:nvSpPr>
          <p:cNvPr id="91" name="" descr="{&quot;isTemplate&quot;:true,&quot;type&quot;:&quot;text&quot;}"/>
          <p:cNvSpPr txBox="1"/>
          <p:nvPr/>
        </p:nvSpPr>
        <p:spPr>
          <a:xfrm rot="0" flipH="0" flipV="0">
            <a:off x="876300" y="3448050"/>
            <a:ext cx="285750" cy="161925"/>
          </a:xfrm>
          <a:prstGeom prst="rect"/>
        </p:spPr>
        <p:txBody>
          <a:bodyPr wrap="none" lIns="0" tIns="0" rIns="0" bIns="0"/>
          <a:p>
            <a:pPr>
              <a:lnSpc>
                <a:spcPct val="100000"/>
              </a:lnSpc>
            </a:pPr>
            <a:r>
              <a:rPr lang="en-US" sz="1050" b="1">
                <a:solidFill>
                  <a:srgbClr val="64748B"/>
                </a:solidFill>
                <a:latin typeface="JetBrains Mono"/>
                <a:ea typeface="JetBrains Mono"/>
              </a:rPr>
              <a:t>03</a:t>
            </a:r>
            <a:endParaRPr/>
          </a:p>
        </p:txBody>
      </p:sp>
      <p:sp>
        <p:nvSpPr>
          <p:cNvPr id="92" name="" descr="{&quot;isTemplate&quot;:true,&quot;type&quot;:&quot;text&quot;}"/>
          <p:cNvSpPr txBox="1"/>
          <p:nvPr/>
        </p:nvSpPr>
        <p:spPr>
          <a:xfrm rot="0" flipH="0" flipV="0">
            <a:off x="1333500" y="3238500"/>
            <a:ext cx="5905500" cy="295275"/>
          </a:xfrm>
          <a:prstGeom prst="rect"/>
        </p:spPr>
        <p:txBody>
          <a:bodyPr wrap="none" lIns="0" tIns="0" rIns="0" bIns="0"/>
          <a:p>
            <a:pPr>
              <a:lnSpc>
                <a:spcPct val="135000"/>
              </a:lnSpc>
            </a:pPr>
            <a:r>
              <a:rPr lang="en-US" sz="1425" b="1">
                <a:solidFill>
                  <a:srgbClr val="0B1220"/>
                </a:solidFill>
                <a:latin typeface="Inter"/>
                <a:ea typeface="Inter"/>
              </a:rPr>
              <a:t>Tools</a:t>
            </a:r>
            <a:endParaRPr/>
          </a:p>
        </p:txBody>
      </p:sp>
      <p:sp>
        <p:nvSpPr>
          <p:cNvPr id="93" name="" descr="{&quot;isTemplate&quot;:true,&quot;type&quot;:&quot;text&quot;}"/>
          <p:cNvSpPr txBox="1"/>
          <p:nvPr/>
        </p:nvSpPr>
        <p:spPr>
          <a:xfrm rot="0" flipH="0" flipV="0">
            <a:off x="1333500" y="3562350"/>
            <a:ext cx="5905500" cy="247650"/>
          </a:xfrm>
          <a:prstGeom prst="rect"/>
        </p:spPr>
        <p:txBody>
          <a:bodyPr wrap="none" lIns="0" tIns="0" rIns="0" bIns="0"/>
          <a:p>
            <a:pPr>
              <a:lnSpc>
                <a:spcPct val="150000"/>
              </a:lnSpc>
            </a:pPr>
            <a:r>
              <a:rPr lang="en-US" sz="1050">
                <a:solidFill>
                  <a:srgbClr val="64748B"/>
                </a:solidFill>
                <a:latin typeface="Inter"/>
                <a:ea typeface="Inter"/>
              </a:rPr>
              <a:t>10 registered tools, with 6 available for cases and all 10 for patrol</a:t>
            </a:r>
            <a:endParaRPr/>
          </a:p>
        </p:txBody>
      </p:sp>
      <p:sp>
        <p:nvSpPr>
          <p:cNvPr id="94" name=""/>
          <p:cNvSpPr/>
          <p:nvPr/>
        </p:nvSpPr>
        <p:spPr>
          <a:xfrm rot="0" flipH="0" flipV="0">
            <a:off x="723900" y="4076700"/>
            <a:ext cx="6667500" cy="914400"/>
          </a:xfrm>
          <a:prstGeom prst="roundRect">
            <a:avLst>
              <a:gd name="adj" fmla="val 6250"/>
            </a:avLst>
          </a:prstGeom>
          <a:solidFill>
            <a:srgbClr val="2F6BFF">
              <a:alpha val="7000"/>
            </a:srgbClr>
          </a:solidFill>
          <a:ln/>
        </p:spPr>
        <p:txBody>
          <a:bodyPr/>
          <a:p/>
        </p:txBody>
      </p:sp>
      <p:sp>
        <p:nvSpPr>
          <p:cNvPr id="95" name=""/>
          <p:cNvSpPr/>
          <p:nvPr/>
        </p:nvSpPr>
        <p:spPr>
          <a:xfrm rot="0" flipH="0" flipV="0">
            <a:off x="723900" y="4076700"/>
            <a:ext cx="6667500" cy="914400"/>
          </a:xfrm>
          <a:custGeom>
            <a:pathLst>
              <a:path w="700" h="96">
                <a:moveTo>
                  <a:pt x="6" y="0"/>
                </a:moveTo>
                <a:cubicBezTo>
                  <a:pt x="5" y="0"/>
                  <a:pt x="4" y="1"/>
                  <a:pt x="4" y="2"/>
                </a:cubicBezTo>
                <a:lnTo>
                  <a:pt x="4" y="94"/>
                </a:lnTo>
                <a:cubicBezTo>
                  <a:pt x="4" y="95"/>
                  <a:pt x="5" y="96"/>
                  <a:pt x="6" y="96"/>
                </a:cubicBezTo>
                <a:cubicBezTo>
                  <a:pt x="3" y="96"/>
                  <a:pt x="0" y="93"/>
                  <a:pt x="0" y="90"/>
                </a:cubicBezTo>
                <a:lnTo>
                  <a:pt x="0" y="6"/>
                </a:lnTo>
                <a:cubicBezTo>
                  <a:pt x="0" y="3"/>
                  <a:pt x="3" y="0"/>
                  <a:pt x="6" y="0"/>
                </a:cubicBezTo>
                <a:close/>
              </a:path>
            </a:pathLst>
          </a:custGeom>
          <a:solidFill>
            <a:srgbClr val="2F6BFF"/>
          </a:solidFill>
          <a:ln/>
        </p:spPr>
        <p:txBody>
          <a:bodyPr/>
          <a:p/>
        </p:txBody>
      </p:sp>
      <p:sp>
        <p:nvSpPr>
          <p:cNvPr id="96" name="" descr="{&quot;isTemplate&quot;:true,&quot;type&quot;:&quot;text&quot;}"/>
          <p:cNvSpPr txBox="1"/>
          <p:nvPr/>
        </p:nvSpPr>
        <p:spPr>
          <a:xfrm rot="0" flipH="0" flipV="0">
            <a:off x="876300" y="4457700"/>
            <a:ext cx="285750" cy="161925"/>
          </a:xfrm>
          <a:prstGeom prst="rect"/>
        </p:spPr>
        <p:txBody>
          <a:bodyPr wrap="none" lIns="0" tIns="0" rIns="0" bIns="0"/>
          <a:p>
            <a:pPr>
              <a:lnSpc>
                <a:spcPct val="100000"/>
              </a:lnSpc>
            </a:pPr>
            <a:r>
              <a:rPr lang="en-US" sz="1050" b="1">
                <a:solidFill>
                  <a:srgbClr val="2F6BFF"/>
                </a:solidFill>
                <a:latin typeface="JetBrains Mono"/>
                <a:ea typeface="JetBrains Mono"/>
              </a:rPr>
              <a:t>04</a:t>
            </a:r>
            <a:endParaRPr/>
          </a:p>
        </p:txBody>
      </p:sp>
      <p:sp>
        <p:nvSpPr>
          <p:cNvPr id="97" name="" descr="{&quot;isTemplate&quot;:true,&quot;type&quot;:&quot;text&quot;}"/>
          <p:cNvSpPr txBox="1"/>
          <p:nvPr/>
        </p:nvSpPr>
        <p:spPr>
          <a:xfrm rot="0" flipH="0" flipV="0">
            <a:off x="1333500" y="4248150"/>
            <a:ext cx="5905500" cy="295275"/>
          </a:xfrm>
          <a:prstGeom prst="rect"/>
        </p:spPr>
        <p:txBody>
          <a:bodyPr wrap="none" lIns="0" tIns="0" rIns="0" bIns="0"/>
          <a:p>
            <a:pPr>
              <a:lnSpc>
                <a:spcPct val="135000"/>
              </a:lnSpc>
            </a:pPr>
            <a:r>
              <a:rPr lang="en-US" sz="1425" b="1">
                <a:solidFill>
                  <a:srgbClr val="0B1220"/>
                </a:solidFill>
                <a:latin typeface="Inter"/>
                <a:ea typeface="Inter"/>
              </a:rPr>
              <a:t>Model loop</a:t>
            </a:r>
            <a:endParaRPr/>
          </a:p>
        </p:txBody>
      </p:sp>
      <p:sp>
        <p:nvSpPr>
          <p:cNvPr id="98" name="" descr="{&quot;isTemplate&quot;:true,&quot;type&quot;:&quot;text&quot;}"/>
          <p:cNvSpPr txBox="1"/>
          <p:nvPr/>
        </p:nvSpPr>
        <p:spPr>
          <a:xfrm rot="0" flipH="0" flipV="0">
            <a:off x="1333500" y="4572000"/>
            <a:ext cx="5905500" cy="247650"/>
          </a:xfrm>
          <a:prstGeom prst="rect"/>
        </p:spPr>
        <p:txBody>
          <a:bodyPr wrap="none" lIns="0" tIns="0" rIns="0" bIns="0"/>
          <a:p>
            <a:pPr>
              <a:lnSpc>
                <a:spcPct val="150000"/>
              </a:lnSpc>
            </a:pPr>
            <a:r>
              <a:rPr lang="en-US" sz="1050">
                <a:solidFill>
                  <a:srgbClr val="64748B"/>
                </a:solidFill>
                <a:latin typeface="Inter"/>
                <a:ea typeface="Inter"/>
              </a:rPr>
              <a:t>Gemini allows up to 12 turns per attempt. Fallback retains completed calls.</a:t>
            </a:r>
            <a:endParaRPr/>
          </a:p>
        </p:txBody>
      </p:sp>
      <p:sp>
        <p:nvSpPr>
          <p:cNvPr id="99" name=""/>
          <p:cNvSpPr/>
          <p:nvPr/>
        </p:nvSpPr>
        <p:spPr>
          <a:xfrm rot="0" flipH="0" flipV="0">
            <a:off x="723900" y="5086350"/>
            <a:ext cx="6667500" cy="914400"/>
          </a:xfrm>
          <a:prstGeom prst="roundRect">
            <a:avLst>
              <a:gd name="adj" fmla="val 6250"/>
            </a:avLst>
          </a:prstGeom>
          <a:solidFill>
            <a:srgbClr val="F1F4FA"/>
          </a:solidFill>
          <a:ln/>
        </p:spPr>
        <p:txBody>
          <a:bodyPr/>
          <a:p/>
        </p:txBody>
      </p:sp>
      <p:sp>
        <p:nvSpPr>
          <p:cNvPr id="100" name=""/>
          <p:cNvSpPr/>
          <p:nvPr/>
        </p:nvSpPr>
        <p:spPr>
          <a:xfrm rot="0" flipH="0" flipV="0">
            <a:off x="723900" y="5086350"/>
            <a:ext cx="6667500" cy="914400"/>
          </a:xfrm>
          <a:custGeom>
            <a:pathLst>
              <a:path w="700" h="96">
                <a:moveTo>
                  <a:pt x="6" y="0"/>
                </a:moveTo>
                <a:cubicBezTo>
                  <a:pt x="5" y="0"/>
                  <a:pt x="4" y="1"/>
                  <a:pt x="4" y="2"/>
                </a:cubicBezTo>
                <a:lnTo>
                  <a:pt x="4" y="94"/>
                </a:lnTo>
                <a:cubicBezTo>
                  <a:pt x="4" y="95"/>
                  <a:pt x="5" y="96"/>
                  <a:pt x="6" y="96"/>
                </a:cubicBezTo>
                <a:cubicBezTo>
                  <a:pt x="3" y="96"/>
                  <a:pt x="0" y="93"/>
                  <a:pt x="0" y="90"/>
                </a:cubicBezTo>
                <a:lnTo>
                  <a:pt x="0" y="6"/>
                </a:lnTo>
                <a:cubicBezTo>
                  <a:pt x="0" y="3"/>
                  <a:pt x="3" y="0"/>
                  <a:pt x="6" y="0"/>
                </a:cubicBezTo>
                <a:close/>
              </a:path>
            </a:pathLst>
          </a:custGeom>
          <a:solidFill>
            <a:srgbClr val="C3CFE2"/>
          </a:solidFill>
          <a:ln/>
        </p:spPr>
        <p:txBody>
          <a:bodyPr/>
          <a:p/>
        </p:txBody>
      </p:sp>
      <p:sp>
        <p:nvSpPr>
          <p:cNvPr id="101" name="" descr="{&quot;isTemplate&quot;:true,&quot;type&quot;:&quot;text&quot;}"/>
          <p:cNvSpPr txBox="1"/>
          <p:nvPr/>
        </p:nvSpPr>
        <p:spPr>
          <a:xfrm rot="0" flipH="0" flipV="0">
            <a:off x="876300" y="5467350"/>
            <a:ext cx="285750" cy="161925"/>
          </a:xfrm>
          <a:prstGeom prst="rect"/>
        </p:spPr>
        <p:txBody>
          <a:bodyPr wrap="none" lIns="0" tIns="0" rIns="0" bIns="0"/>
          <a:p>
            <a:pPr>
              <a:lnSpc>
                <a:spcPct val="100000"/>
              </a:lnSpc>
            </a:pPr>
            <a:r>
              <a:rPr lang="en-US" sz="1050" b="1">
                <a:solidFill>
                  <a:srgbClr val="64748B"/>
                </a:solidFill>
                <a:latin typeface="JetBrains Mono"/>
                <a:ea typeface="JetBrains Mono"/>
              </a:rPr>
              <a:t>05</a:t>
            </a:r>
            <a:endParaRPr/>
          </a:p>
        </p:txBody>
      </p:sp>
      <p:sp>
        <p:nvSpPr>
          <p:cNvPr id="102" name="" descr="{&quot;isTemplate&quot;:true,&quot;type&quot;:&quot;text&quot;}"/>
          <p:cNvSpPr txBox="1"/>
          <p:nvPr/>
        </p:nvSpPr>
        <p:spPr>
          <a:xfrm rot="0" flipH="0" flipV="0">
            <a:off x="1333500" y="5257800"/>
            <a:ext cx="5905500" cy="295275"/>
          </a:xfrm>
          <a:prstGeom prst="rect"/>
        </p:spPr>
        <p:txBody>
          <a:bodyPr wrap="none" lIns="0" tIns="0" rIns="0" bIns="0"/>
          <a:p>
            <a:pPr>
              <a:lnSpc>
                <a:spcPct val="135000"/>
              </a:lnSpc>
            </a:pPr>
            <a:r>
              <a:rPr lang="en-US" sz="1425" b="1">
                <a:solidFill>
                  <a:srgbClr val="0B1220"/>
                </a:solidFill>
                <a:latin typeface="Inter"/>
                <a:ea typeface="Inter"/>
              </a:rPr>
              <a:t>Execution</a:t>
            </a:r>
            <a:endParaRPr/>
          </a:p>
        </p:txBody>
      </p:sp>
      <p:sp>
        <p:nvSpPr>
          <p:cNvPr id="103" name="" descr="{&quot;isTemplate&quot;:true,&quot;type&quot;:&quot;text&quot;}"/>
          <p:cNvSpPr txBox="1"/>
          <p:nvPr/>
        </p:nvSpPr>
        <p:spPr>
          <a:xfrm rot="0" flipH="0" flipV="0">
            <a:off x="1333500" y="5581650"/>
            <a:ext cx="5905500" cy="247650"/>
          </a:xfrm>
          <a:prstGeom prst="rect"/>
        </p:spPr>
        <p:txBody>
          <a:bodyPr wrap="none" lIns="0" tIns="0" rIns="0" bIns="0"/>
          <a:p>
            <a:pPr>
              <a:lnSpc>
                <a:spcPct val="150000"/>
              </a:lnSpc>
            </a:pPr>
            <a:r>
              <a:rPr lang="en-US" sz="1050">
                <a:solidFill>
                  <a:srgbClr val="64748B"/>
                </a:solidFill>
                <a:latin typeface="Inter"/>
                <a:ea typeface="Inter"/>
              </a:rPr>
              <a:t>Automatic actions require low risk. The app checks state and records the result.</a:t>
            </a:r>
            <a:endParaRPr/>
          </a:p>
        </p:txBody>
      </p:sp>
      <p:sp>
        <p:nvSpPr>
          <p:cNvPr id="104" name="" descr="{&quot;isTemplate&quot;:true,&quot;type&quot;:&quot;text&quot;}"/>
          <p:cNvSpPr txBox="1"/>
          <p:nvPr/>
        </p:nvSpPr>
        <p:spPr>
          <a:xfrm rot="0" flipH="0" flipV="0">
            <a:off x="7734300" y="1047750"/>
            <a:ext cx="3771900" cy="371475"/>
          </a:xfrm>
          <a:prstGeom prst="rect"/>
        </p:spPr>
        <p:txBody>
          <a:bodyPr wrap="none" lIns="0" tIns="0" rIns="0" bIns="0"/>
          <a:p>
            <a:pPr>
              <a:lnSpc>
                <a:spcPct val="145000"/>
              </a:lnSpc>
            </a:pPr>
            <a:r>
              <a:rPr lang="en-US" sz="1650" b="1">
                <a:solidFill>
                  <a:srgbClr val="0B1220"/>
                </a:solidFill>
                <a:latin typeface="Inter"/>
                <a:ea typeface="Inter"/>
              </a:rPr>
              <a:t>Prompt and code responsibilities</a:t>
            </a:r>
            <a:endParaRPr/>
          </a:p>
        </p:txBody>
      </p:sp>
      <p:sp>
        <p:nvSpPr>
          <p:cNvPr id="105" name="" descr="{&quot;isTemplate&quot;:true,&quot;type&quot;:&quot;text&quot;}"/>
          <p:cNvSpPr txBox="1"/>
          <p:nvPr/>
        </p:nvSpPr>
        <p:spPr>
          <a:xfrm rot="0" flipH="0" flipV="0">
            <a:off x="7734300" y="1552575"/>
            <a:ext cx="3771900" cy="914400"/>
          </a:xfrm>
          <a:prstGeom prst="rect"/>
        </p:spPr>
        <p:txBody>
          <a:bodyPr wrap="square" lIns="0" tIns="0" rIns="0" bIns="0">
            <a:normAutofit/>
          </a:bodyPr>
          <a:p>
            <a:pPr>
              <a:lnSpc>
                <a:spcPct val="165000"/>
              </a:lnSpc>
            </a:pPr>
            <a:r>
              <a:rPr lang="en-US" sz="1200">
                <a:solidFill>
                  <a:srgbClr val="1A2434"/>
                </a:solidFill>
                <a:latin typeface="Inter"/>
                <a:ea typeface="Inter"/>
              </a:rPr>
              <a:t>The prompt requires tool evidence for numerical claims. The action library supplies risk levels for the action IDs the model selects.</a:t>
            </a:r>
            <a:endParaRPr/>
          </a:p>
        </p:txBody>
      </p:sp>
      <p:sp>
        <p:nvSpPr>
          <p:cNvPr id="106" name="" descr="{&quot;isTemplate&quot;:true,&quot;type&quot;:&quot;text&quot;}"/>
          <p:cNvSpPr txBox="1"/>
          <p:nvPr/>
        </p:nvSpPr>
        <p:spPr>
          <a:xfrm rot="0" flipH="0" flipV="0">
            <a:off x="7734300" y="2600325"/>
            <a:ext cx="3771900" cy="914400"/>
          </a:xfrm>
          <a:prstGeom prst="rect"/>
        </p:spPr>
        <p:txBody>
          <a:bodyPr wrap="square" lIns="0" tIns="0" rIns="0" bIns="0">
            <a:normAutofit/>
          </a:bodyPr>
          <a:p>
            <a:pPr>
              <a:lnSpc>
                <a:spcPct val="165000"/>
              </a:lnSpc>
            </a:pPr>
            <a:r>
              <a:rPr lang="en-US" sz="1200">
                <a:solidFill>
                  <a:srgbClr val="1A2434"/>
                </a:solidFill>
                <a:latin typeface="Inter"/>
                <a:ea typeface="Inter"/>
              </a:rPr>
              <a:t>Code limits available tools and rejects automatic execution above low risk. Citation checks remove unknown references from proposed actions.</a:t>
            </a:r>
            <a:endParaRPr/>
          </a:p>
        </p:txBody>
      </p:sp>
      <p:sp>
        <p:nvSpPr>
          <p:cNvPr id="107" name=""/>
          <p:cNvSpPr/>
          <p:nvPr/>
        </p:nvSpPr>
        <p:spPr>
          <a:xfrm rot="0" flipH="0" flipV="0">
            <a:off x="7734300" y="3724275"/>
            <a:ext cx="3771900" cy="9525"/>
          </a:xfrm>
          <a:prstGeom prst="rect">
            <a:avLst/>
          </a:prstGeom>
          <a:solidFill>
            <a:srgbClr val="E6EBF3"/>
          </a:solidFill>
          <a:ln/>
        </p:spPr>
        <p:txBody>
          <a:bodyPr/>
          <a:p/>
        </p:txBody>
      </p:sp>
      <p:sp>
        <p:nvSpPr>
          <p:cNvPr id="108" name="" descr="{&quot;isTemplate&quot;:true,&quot;type&quot;:&quot;text&quot;}"/>
          <p:cNvSpPr txBox="1"/>
          <p:nvPr/>
        </p:nvSpPr>
        <p:spPr>
          <a:xfrm rot="0" flipH="0" flipV="0">
            <a:off x="7734300" y="3943350"/>
            <a:ext cx="3771900" cy="657225"/>
          </a:xfrm>
          <a:prstGeom prst="rect"/>
        </p:spPr>
        <p:txBody>
          <a:bodyPr wrap="square" lIns="0" tIns="0" rIns="0" bIns="0">
            <a:normAutofit/>
          </a:bodyPr>
          <a:p>
            <a:pPr>
              <a:lnSpc>
                <a:spcPct val="150000"/>
              </a:lnSpc>
            </a:pPr>
            <a:r>
              <a:rPr lang="en-US" sz="1425" b="1">
                <a:solidFill>
                  <a:srgbClr val="0B1220"/>
                </a:solidFill>
                <a:latin typeface="Inter"/>
                <a:ea typeface="Inter"/>
              </a:rPr>
              <a:t>Medium and high risk actions require operator approval</a:t>
            </a:r>
            <a:endParaRPr/>
          </a:p>
        </p:txBody>
      </p:sp>
      <p:sp>
        <p:nvSpPr>
          <p:cNvPr id="109" name="" descr="{&quot;isTemplate&quot;:true,&quot;type&quot;:&quot;text&quot;}"/>
          <p:cNvSpPr txBox="1"/>
          <p:nvPr/>
        </p:nvSpPr>
        <p:spPr>
          <a:xfrm rot="0" flipH="0" flipV="0">
            <a:off x="685800" y="6381750"/>
            <a:ext cx="3943350" cy="161925"/>
          </a:xfrm>
          <a:prstGeom prst="rect"/>
        </p:spPr>
        <p:txBody>
          <a:bodyPr wrap="none" lIns="0" tIns="0" rIns="0" bIns="0"/>
          <a:p>
            <a:pPr>
              <a:lnSpc>
                <a:spcPct val="100000"/>
              </a:lnSpc>
            </a:pPr>
            <a:r>
              <a:rPr lang="en-US" sz="1050">
                <a:solidFill>
                  <a:srgbClr val="64748B"/>
                </a:solidFill>
                <a:latin typeface="Inter"/>
                <a:ea typeface="Inter"/>
              </a:rPr>
              <a:t>The app selects each mode's tool list before the model loop starts</a:t>
            </a:r>
            <a:endParaRPr/>
          </a:p>
        </p:txBody>
      </p:sp>
      <p:sp>
        <p:nvSpPr>
          <p:cNvPr id="110" name="" descr="{&quot;isTemplate&quot;:true,&quot;type&quot;:&quot;text&quot;}"/>
          <p:cNvSpPr txBox="1"/>
          <p:nvPr/>
        </p:nvSpPr>
        <p:spPr>
          <a:xfrm rot="0" flipH="0" flipV="0">
            <a:off x="10934700" y="6381750"/>
            <a:ext cx="571500" cy="161925"/>
          </a:xfrm>
          <a:prstGeom prst="rect"/>
        </p:spPr>
        <p:txBody>
          <a:bodyPr wrap="none" lIns="0" tIns="0" rIns="0" bIns="0"/>
          <a:p>
            <a:pPr>
              <a:lnSpc>
                <a:spcPct val="100000"/>
              </a:lnSpc>
            </a:pPr>
            <a:r>
              <a:rPr lang="en-US" sz="1050">
                <a:solidFill>
                  <a:srgbClr val="64748B"/>
                </a:solidFill>
                <a:latin typeface="JetBrains Mono"/>
                <a:ea typeface="JetBrains Mono"/>
              </a:rPr>
              <a:t>13 / 15</a:t>
            </a:r>
            <a:endParaRPr/>
          </a:p>
        </p:txBody>
      </p:sp>
    </p:spTree>
  </p:cSld>
</p:sld>
</file>

<file path=ppt/slides/slide14.xml><?xml version="1.0" encoding="utf-8"?>
<p:sld xmlns:p="http://schemas.openxmlformats.org/presentationml/2006/main" xmlns:a="http://schemas.openxmlformats.org/drawingml/2006/main">
  <p:cSld>
    <p:spTree>
      <p:nvGrpSpPr>
        <p:cNvPr id="111" name="" descr="// 14: implemented evidence tiers and the future non-browser REA option.&#10;const FONT = 'Inter, &quot;Helvetica Neue&quot;, Arial, sans-serif';&#10;const MONO = '&quot;JetBrains Mono&quot;, &quot;SF Mono&quot;, Menlo, monospace';&#10;const INK = '#0B1220';&#10;const BLUE = '#2F6BFF';&#10;const PANEL = '#F1F4FA';&#10;const EDGE = '#C3CFE2';&#10;const DIM = '#64748B';&#10;const BODY = '#1A2434';&#10;&#10;const TIERS = [&#10;    {&#10;        no: '1', key: 'snapshot', t: 'Case evidence snapshot', shipped: true,&#10;        d: 'Constructed telemetry stored with a case for repeatable diagnosis and benchmark scoring.',&#10;    },&#10;    {&#10;        no: '2', key: 'live', t: 'Live read', shipped: true,&#10;        d: 'Current node state from the simulated Firestore cluster, including action results.',&#10;    },&#10;    {&#10;        no: '3', key: 'artifact', t: 'Local artifact inspection', shipped: false,&#10;        d: 'Inspection of local files such as binaries or packet captures requires a separate deployment.',&#10;    },&#10;];&#10;&#10;&lt;Slide style={{ width: 1280, height: 720, padding: '18px 72px', background: '#FFFFFF', fontFamily: FONT }}&gt;&#10;    &lt;Box style={{ width: 1136, height: 92, flexDirection: 'row', justifyContent: 'space-between', alignItems: 'flex-end' }}&gt;&#10;        &lt;Text style={{ fontSize: 34, fontWeight: 700, color: INK, lineHeight: 1.3 }}&gt;Evidence support and REA&lt;/Text&gt;&#10;        &lt;Text style={{ fontFamily: MONO, fontSize: 14, color: DIM, lineHeight: 1.45 }}&gt;3 declared tiers, 2 implemented&lt;/Text&gt;&#10;    &lt;/Box&gt;&#10;&#10;    &lt;Box style={{ width: 1136, height: 544 }}&gt;&#10;&#10;        &lt;Box style={{ width: 1136 }}&gt;&#10;            {TIERS.map((t, i) =&gt; (&#10;                &lt;Box key={i} style={{&#10;                    width: 1136, height: 92, marginBottom: i &lt; 2 ? 12 : 0,&#10;                    paddingLeft: 16, paddingRight: 16, borderRadius: 6,&#10;                    background: t.shipped ? PANEL : '#FFFFFF',&#10;                    borderLeft: '4px solid ' + (t.shipped ? BLUE : EDGE),&#10;                    borderTop: t.shipped ? 'none' : '1px dashed ' + EDGE,&#10;                    borderRight: t.shipped ? 'none' : '1px dashed ' + EDGE,&#10;                    borderBottom: t.shipped ? 'none' : '1px dashed ' + EDGE,&#10;                    flexDirection: 'row', alignItems: 'center', gap: 16,&#10;                }}&gt;&#10;                    &lt;Text style={{ fontFamily: MONO, fontSize: 14, fontWeight: 700, color: t.shipped ? BLUE : DIM, width: 22, lineHeight: 1.6 }}&gt;{t.no}&lt;/Text&gt;&#10;                    &lt;Text style={{ fontFamily: MONO, fontSize: 15, fontWeight: 700, color: t.shipped ? INK : DIM, width: 116, lineHeight: 1.6 }}&gt;{t.key}&lt;/Text&gt;&#10;                    &lt;Box style={{ flex: 1 }}&gt;&#10;                        &lt;Text style={{ fontSize: 17, fontWeight: 600, color: t.shipped ? INK : DIM, lineHeight: 1.35 }}&gt;{t.t}&lt;/Text&gt;&#10;                        &lt;Text style={{ fontSize: 13, color: t.shipped ? DIM : '#94A3B8', lineHeight: 1.5, marginTop: 3 }}&gt;{t.d}&lt;/Text&gt;&#10;                    &lt;/Box&gt;&#10;                    &lt;Text style={{ fontFamily: MONO, fontSize: 12, fontWeight: 700, color: t.shipped ? BLUE : DIM, width: 128, textAlign: 'right', lineHeight: 1.6 }}&gt;&#10;                        {t.shipped ? 'SHIPPED' : 'NO PRODUCER'}&#10;                    &lt;/Text&gt;&#10;                &lt;/Box&gt;&#10;            ))}&#10;        &lt;/Box&gt;&#10;&#10;        &lt;Box style={{ width: 1136, height: 210, flexDirection: 'row', gap: 32, marginTop: 20 }}&gt;&#10;&#10;            &lt;Box style={{ width: 620 }}&gt;&#10;                &lt;Text style={{ fontSize: 18, fontWeight: 600, color: INK, lineHeight: 1.45 }}&gt;Browser deployment boundary&lt;/Text&gt;&#10;                &lt;Text style={{ fontSize: 14, color: BODY, lineHeight: 1.6, marginTop: 8, width: 620 }}&gt;&#10;                    The submitted browser build has no local artifact producer.&#10;                    The artifact tier has implemented set to false. Requests for it raise an error.&#10;                &lt;/Text&gt;&#10;                &lt;Box style={{ marginTop: 12, padding: 12, borderRadius: 6, background: INK, width: 620 }}&gt;&#10;                    &lt;Text style={{ fontFamily: MONO, fontSize: 13, color: '#E2E8F0', lineHeight: 1.7 }}&gt;&#10;                        EVIDENCE_TIERS.artifact.implemented   // false&#10;                        &lt;br /&gt;&#10;                        evidenceTier('artifact')              // throws&#10;                    &lt;/Text&gt;&#10;                &lt;/Box&gt;&#10;            &lt;/Box&gt;&#10;&#10;            &lt;Box style={{ width: 484 }}&gt;&#10;                &lt;Text style={{ fontSize: 18, fontWeight: 600, color: INK, lineHeight: 1.45 }}&gt;Future non-browser option&lt;/Text&gt;&#10;                &lt;Text style={{ fontSize: 14, color: BODY, lineHeight: 1.6, marginTop: 8, width: 484 }}&gt;&#10;                    REA is not included in this build. The browser application produces snapshot and live evidence only.&#10;                &lt;/Text&gt;&#10;                &lt;Text style={{ fontSize: 15, fontWeight: 600, color: BLUE, lineHeight: 1.55, marginTop: 10, width: 484 }}&gt;&#10;                    A future CLI or server deployment could evaluate rea-agents for local artifact inspection.&#10;                &lt;/Text&gt;&#10;            &lt;/Box&gt;&#10;&#10;        &lt;/Box&gt;&#10;&#10;    &lt;/Box&gt;&#10;&#10;    &lt;Box style={{ width: 1136, height: 48, flexDirection: 'row', justifyContent: 'space-between', alignItems: 'center' }}&gt;&#10;        &lt;Text style={{ fontSize: 14, color: DIM }}&gt;REA remains a future option for a non-browser deployment&lt;/Text&gt;&#10;        &lt;Text style={{ fontFamily: MONO, fontSize: 14, color: DIM }}&gt;14 / 15&lt;/Text&gt;&#10;    &lt;/Box&gt;&#10;&lt;/Slide&gt;&#10;"/>
        <p:cNvGrpSpPr/>
        <p:nvPr/>
      </p:nvGrpSpPr>
      <p:grpSpPr>
        <a:xfrm>
          <a:off x="0" y="0"/>
          <a:ext cx="0" cy="0"/>
          <a:chOff x="0" y="0"/>
          <a:chExt cx="0" cy="0"/>
        </a:xfrm>
      </p:grpSpPr>
      <p:sp>
        <p:nvSpPr>
          <p:cNvPr id="112" name=""/>
          <p:cNvSpPr/>
          <p:nvPr/>
        </p:nvSpPr>
        <p:spPr>
          <a:xfrm rot="0" flipH="0" flipV="0">
            <a:off x="0" y="0"/>
            <a:ext cx="12192000" cy="6858000"/>
          </a:xfrm>
          <a:prstGeom prst="rect">
            <a:avLst/>
          </a:prstGeom>
          <a:solidFill>
            <a:srgbClr val="FFFFFF"/>
          </a:solidFill>
          <a:ln/>
        </p:spPr>
        <p:txBody>
          <a:bodyPr/>
          <a:p/>
        </p:txBody>
      </p:sp>
      <p:sp>
        <p:nvSpPr>
          <p:cNvPr id="113" name="" descr="{&quot;isTemplate&quot;:true,&quot;type&quot;:&quot;text&quot;}"/>
          <p:cNvSpPr txBox="1"/>
          <p:nvPr/>
        </p:nvSpPr>
        <p:spPr>
          <a:xfrm rot="0" flipH="0" flipV="0">
            <a:off x="685800" y="533400"/>
            <a:ext cx="4124325" cy="514350"/>
          </a:xfrm>
          <a:prstGeom prst="rect"/>
        </p:spPr>
        <p:txBody>
          <a:bodyPr wrap="none" lIns="0" tIns="0" rIns="0" bIns="0"/>
          <a:p>
            <a:pPr>
              <a:lnSpc>
                <a:spcPct val="130000"/>
              </a:lnSpc>
            </a:pPr>
            <a:r>
              <a:rPr lang="en-US" sz="2550" b="1">
                <a:solidFill>
                  <a:srgbClr val="0B1220"/>
                </a:solidFill>
                <a:latin typeface="Inter"/>
                <a:ea typeface="Inter"/>
              </a:rPr>
              <a:t>Evidence support and REA</a:t>
            </a:r>
            <a:endParaRPr/>
          </a:p>
        </p:txBody>
      </p:sp>
      <p:sp>
        <p:nvSpPr>
          <p:cNvPr id="114" name="" descr="{&quot;isTemplate&quot;:true,&quot;type&quot;:&quot;text&quot;}"/>
          <p:cNvSpPr txBox="1"/>
          <p:nvPr/>
        </p:nvSpPr>
        <p:spPr>
          <a:xfrm rot="0" flipH="0" flipV="0">
            <a:off x="9010650" y="809625"/>
            <a:ext cx="2495550" cy="238125"/>
          </a:xfrm>
          <a:prstGeom prst="rect"/>
        </p:spPr>
        <p:txBody>
          <a:bodyPr wrap="none" lIns="0" tIns="0" rIns="0" bIns="0"/>
          <a:p>
            <a:pPr>
              <a:lnSpc>
                <a:spcPct val="145000"/>
              </a:lnSpc>
            </a:pPr>
            <a:r>
              <a:rPr lang="en-US" sz="1050">
                <a:solidFill>
                  <a:srgbClr val="64748B"/>
                </a:solidFill>
                <a:latin typeface="JetBrains Mono"/>
                <a:ea typeface="JetBrains Mono"/>
              </a:rPr>
              <a:t>3 declared tiers, 2 implemented</a:t>
            </a:r>
            <a:endParaRPr/>
          </a:p>
        </p:txBody>
      </p:sp>
      <p:sp>
        <p:nvSpPr>
          <p:cNvPr id="115" name=""/>
          <p:cNvSpPr/>
          <p:nvPr/>
        </p:nvSpPr>
        <p:spPr>
          <a:xfrm rot="0" flipH="0" flipV="0">
            <a:off x="723900" y="1047750"/>
            <a:ext cx="10782300" cy="876300"/>
          </a:xfrm>
          <a:prstGeom prst="roundRect">
            <a:avLst>
              <a:gd name="adj" fmla="val 6522"/>
            </a:avLst>
          </a:prstGeom>
          <a:solidFill>
            <a:srgbClr val="F1F4FA"/>
          </a:solidFill>
          <a:ln/>
        </p:spPr>
        <p:txBody>
          <a:bodyPr/>
          <a:p/>
        </p:txBody>
      </p:sp>
      <p:sp>
        <p:nvSpPr>
          <p:cNvPr id="116" name=""/>
          <p:cNvSpPr/>
          <p:nvPr/>
        </p:nvSpPr>
        <p:spPr>
          <a:xfrm rot="0" flipH="0" flipV="0">
            <a:off x="723900" y="1047750"/>
            <a:ext cx="10782300" cy="876300"/>
          </a:xfrm>
          <a:custGeom>
            <a:pathLst>
              <a:path w="1132" h="92">
                <a:moveTo>
                  <a:pt x="6" y="0"/>
                </a:moveTo>
                <a:cubicBezTo>
                  <a:pt x="5" y="0"/>
                  <a:pt x="4" y="1"/>
                  <a:pt x="4" y="2"/>
                </a:cubicBezTo>
                <a:lnTo>
                  <a:pt x="4" y="90"/>
                </a:lnTo>
                <a:cubicBezTo>
                  <a:pt x="4" y="91"/>
                  <a:pt x="5" y="92"/>
                  <a:pt x="6" y="92"/>
                </a:cubicBezTo>
                <a:cubicBezTo>
                  <a:pt x="3" y="92"/>
                  <a:pt x="0" y="89"/>
                  <a:pt x="0" y="86"/>
                </a:cubicBezTo>
                <a:lnTo>
                  <a:pt x="0" y="6"/>
                </a:lnTo>
                <a:cubicBezTo>
                  <a:pt x="0" y="3"/>
                  <a:pt x="3" y="0"/>
                  <a:pt x="6" y="0"/>
                </a:cubicBezTo>
                <a:close/>
              </a:path>
            </a:pathLst>
          </a:custGeom>
          <a:solidFill>
            <a:srgbClr val="2F6BFF"/>
          </a:solidFill>
          <a:ln/>
        </p:spPr>
        <p:txBody>
          <a:bodyPr/>
          <a:p/>
        </p:txBody>
      </p:sp>
      <p:sp>
        <p:nvSpPr>
          <p:cNvPr id="117" name="" descr="{&quot;isTemplate&quot;:true,&quot;type&quot;:&quot;text&quot;}"/>
          <p:cNvSpPr txBox="1"/>
          <p:nvPr/>
        </p:nvSpPr>
        <p:spPr>
          <a:xfrm rot="0" flipH="0" flipV="0">
            <a:off x="876300" y="1362075"/>
            <a:ext cx="209550" cy="257175"/>
          </a:xfrm>
          <a:prstGeom prst="rect"/>
        </p:spPr>
        <p:txBody>
          <a:bodyPr wrap="none" lIns="0" tIns="0" rIns="0" bIns="0"/>
          <a:p>
            <a:pPr>
              <a:lnSpc>
                <a:spcPct val="160000"/>
              </a:lnSpc>
            </a:pPr>
            <a:r>
              <a:rPr lang="en-US" sz="1050" b="1">
                <a:solidFill>
                  <a:srgbClr val="2F6BFF"/>
                </a:solidFill>
                <a:latin typeface="JetBrains Mono"/>
                <a:ea typeface="JetBrains Mono"/>
              </a:rPr>
              <a:t>1</a:t>
            </a:r>
            <a:endParaRPr/>
          </a:p>
        </p:txBody>
      </p:sp>
      <p:sp>
        <p:nvSpPr>
          <p:cNvPr id="118" name="" descr="{&quot;isTemplate&quot;:true,&quot;type&quot;:&quot;text&quot;}"/>
          <p:cNvSpPr txBox="1"/>
          <p:nvPr/>
        </p:nvSpPr>
        <p:spPr>
          <a:xfrm rot="0" flipH="0" flipV="0">
            <a:off x="1238250" y="1352550"/>
            <a:ext cx="1104900" cy="276225"/>
          </a:xfrm>
          <a:prstGeom prst="rect"/>
        </p:spPr>
        <p:txBody>
          <a:bodyPr wrap="none" lIns="0" tIns="0" rIns="0" bIns="0"/>
          <a:p>
            <a:pPr>
              <a:lnSpc>
                <a:spcPct val="160000"/>
              </a:lnSpc>
            </a:pPr>
            <a:r>
              <a:rPr lang="en-US" sz="1125" b="1">
                <a:solidFill>
                  <a:srgbClr val="0B1220"/>
                </a:solidFill>
                <a:latin typeface="JetBrains Mono"/>
                <a:ea typeface="JetBrains Mono"/>
              </a:rPr>
              <a:t>snapshot</a:t>
            </a:r>
            <a:endParaRPr/>
          </a:p>
        </p:txBody>
      </p:sp>
      <p:sp>
        <p:nvSpPr>
          <p:cNvPr id="119" name="" descr="{&quot;isTemplate&quot;:true,&quot;type&quot;:&quot;text&quot;}"/>
          <p:cNvSpPr txBox="1"/>
          <p:nvPr/>
        </p:nvSpPr>
        <p:spPr>
          <a:xfrm rot="0" flipH="0" flipV="0">
            <a:off x="2495550" y="1228725"/>
            <a:ext cx="7486650" cy="266700"/>
          </a:xfrm>
          <a:prstGeom prst="rect"/>
        </p:spPr>
        <p:txBody>
          <a:bodyPr wrap="none" lIns="0" tIns="0" rIns="0" bIns="0"/>
          <a:p>
            <a:pPr>
              <a:lnSpc>
                <a:spcPct val="135000"/>
              </a:lnSpc>
            </a:pPr>
            <a:r>
              <a:rPr lang="en-US" sz="1275" b="1">
                <a:solidFill>
                  <a:srgbClr val="0B1220"/>
                </a:solidFill>
                <a:latin typeface="Inter"/>
                <a:ea typeface="Inter"/>
              </a:rPr>
              <a:t>Case evidence snapshot</a:t>
            </a:r>
            <a:endParaRPr/>
          </a:p>
        </p:txBody>
      </p:sp>
      <p:sp>
        <p:nvSpPr>
          <p:cNvPr id="120" name="" descr="{&quot;isTemplate&quot;:true,&quot;type&quot;:&quot;text&quot;}"/>
          <p:cNvSpPr txBox="1"/>
          <p:nvPr/>
        </p:nvSpPr>
        <p:spPr>
          <a:xfrm rot="0" flipH="0" flipV="0">
            <a:off x="2495550" y="1524000"/>
            <a:ext cx="7486650" cy="228600"/>
          </a:xfrm>
          <a:prstGeom prst="rect"/>
        </p:spPr>
        <p:txBody>
          <a:bodyPr wrap="none" lIns="0" tIns="0" rIns="0" bIns="0"/>
          <a:p>
            <a:pPr>
              <a:lnSpc>
                <a:spcPct val="150000"/>
              </a:lnSpc>
            </a:pPr>
            <a:r>
              <a:rPr lang="en-US" sz="975">
                <a:solidFill>
                  <a:srgbClr val="64748B"/>
                </a:solidFill>
                <a:latin typeface="Inter"/>
                <a:ea typeface="Inter"/>
              </a:rPr>
              <a:t>Constructed telemetry stored with a case for repeatable diagnosis and benchmark scoring.</a:t>
            </a:r>
            <a:endParaRPr/>
          </a:p>
        </p:txBody>
      </p:sp>
      <p:sp>
        <p:nvSpPr>
          <p:cNvPr id="121" name="" descr="{&quot;isTemplate&quot;:true,&quot;type&quot;:&quot;text&quot;}"/>
          <p:cNvSpPr txBox="1"/>
          <p:nvPr/>
        </p:nvSpPr>
        <p:spPr>
          <a:xfrm rot="0" flipH="0" flipV="0">
            <a:off x="10134600" y="1371600"/>
            <a:ext cx="1219200" cy="228600"/>
          </a:xfrm>
          <a:prstGeom prst="rect"/>
        </p:spPr>
        <p:txBody>
          <a:bodyPr wrap="none" lIns="0" tIns="0" rIns="0" bIns="0"/>
          <a:p>
            <a:pPr algn="r">
              <a:lnSpc>
                <a:spcPct val="160000"/>
              </a:lnSpc>
            </a:pPr>
            <a:r>
              <a:rPr lang="en-US" sz="900" b="1">
                <a:solidFill>
                  <a:srgbClr val="2F6BFF"/>
                </a:solidFill>
                <a:latin typeface="JetBrains Mono"/>
                <a:ea typeface="JetBrains Mono"/>
              </a:rPr>
              <a:t>SHIPPED</a:t>
            </a:r>
            <a:endParaRPr/>
          </a:p>
        </p:txBody>
      </p:sp>
      <p:sp>
        <p:nvSpPr>
          <p:cNvPr id="122" name=""/>
          <p:cNvSpPr/>
          <p:nvPr/>
        </p:nvSpPr>
        <p:spPr>
          <a:xfrm rot="0" flipH="0" flipV="0">
            <a:off x="723900" y="2038350"/>
            <a:ext cx="10782300" cy="876300"/>
          </a:xfrm>
          <a:prstGeom prst="roundRect">
            <a:avLst>
              <a:gd name="adj" fmla="val 6522"/>
            </a:avLst>
          </a:prstGeom>
          <a:solidFill>
            <a:srgbClr val="F1F4FA"/>
          </a:solidFill>
          <a:ln/>
        </p:spPr>
        <p:txBody>
          <a:bodyPr/>
          <a:p/>
        </p:txBody>
      </p:sp>
      <p:sp>
        <p:nvSpPr>
          <p:cNvPr id="123" name=""/>
          <p:cNvSpPr/>
          <p:nvPr/>
        </p:nvSpPr>
        <p:spPr>
          <a:xfrm rot="0" flipH="0" flipV="0">
            <a:off x="723900" y="2038350"/>
            <a:ext cx="10782300" cy="876300"/>
          </a:xfrm>
          <a:custGeom>
            <a:pathLst>
              <a:path w="1132" h="92">
                <a:moveTo>
                  <a:pt x="6" y="0"/>
                </a:moveTo>
                <a:cubicBezTo>
                  <a:pt x="5" y="0"/>
                  <a:pt x="4" y="1"/>
                  <a:pt x="4" y="2"/>
                </a:cubicBezTo>
                <a:lnTo>
                  <a:pt x="4" y="90"/>
                </a:lnTo>
                <a:cubicBezTo>
                  <a:pt x="4" y="91"/>
                  <a:pt x="5" y="92"/>
                  <a:pt x="6" y="92"/>
                </a:cubicBezTo>
                <a:cubicBezTo>
                  <a:pt x="3" y="92"/>
                  <a:pt x="0" y="89"/>
                  <a:pt x="0" y="86"/>
                </a:cubicBezTo>
                <a:lnTo>
                  <a:pt x="0" y="6"/>
                </a:lnTo>
                <a:cubicBezTo>
                  <a:pt x="0" y="3"/>
                  <a:pt x="3" y="0"/>
                  <a:pt x="6" y="0"/>
                </a:cubicBezTo>
                <a:close/>
              </a:path>
            </a:pathLst>
          </a:custGeom>
          <a:solidFill>
            <a:srgbClr val="2F6BFF"/>
          </a:solidFill>
          <a:ln/>
        </p:spPr>
        <p:txBody>
          <a:bodyPr/>
          <a:p/>
        </p:txBody>
      </p:sp>
      <p:sp>
        <p:nvSpPr>
          <p:cNvPr id="124" name="" descr="{&quot;isTemplate&quot;:true,&quot;type&quot;:&quot;text&quot;}"/>
          <p:cNvSpPr txBox="1"/>
          <p:nvPr/>
        </p:nvSpPr>
        <p:spPr>
          <a:xfrm rot="0" flipH="0" flipV="0">
            <a:off x="876300" y="2352675"/>
            <a:ext cx="209550" cy="257175"/>
          </a:xfrm>
          <a:prstGeom prst="rect"/>
        </p:spPr>
        <p:txBody>
          <a:bodyPr wrap="none" lIns="0" tIns="0" rIns="0" bIns="0"/>
          <a:p>
            <a:pPr>
              <a:lnSpc>
                <a:spcPct val="160000"/>
              </a:lnSpc>
            </a:pPr>
            <a:r>
              <a:rPr lang="en-US" sz="1050" b="1">
                <a:solidFill>
                  <a:srgbClr val="2F6BFF"/>
                </a:solidFill>
                <a:latin typeface="JetBrains Mono"/>
                <a:ea typeface="JetBrains Mono"/>
              </a:rPr>
              <a:t>2</a:t>
            </a:r>
            <a:endParaRPr/>
          </a:p>
        </p:txBody>
      </p:sp>
      <p:sp>
        <p:nvSpPr>
          <p:cNvPr id="125" name="" descr="{&quot;isTemplate&quot;:true,&quot;type&quot;:&quot;text&quot;}"/>
          <p:cNvSpPr txBox="1"/>
          <p:nvPr/>
        </p:nvSpPr>
        <p:spPr>
          <a:xfrm rot="0" flipH="0" flipV="0">
            <a:off x="1238250" y="2343150"/>
            <a:ext cx="1104900" cy="276225"/>
          </a:xfrm>
          <a:prstGeom prst="rect"/>
        </p:spPr>
        <p:txBody>
          <a:bodyPr wrap="none" lIns="0" tIns="0" rIns="0" bIns="0"/>
          <a:p>
            <a:pPr>
              <a:lnSpc>
                <a:spcPct val="160000"/>
              </a:lnSpc>
            </a:pPr>
            <a:r>
              <a:rPr lang="en-US" sz="1125" b="1">
                <a:solidFill>
                  <a:srgbClr val="0B1220"/>
                </a:solidFill>
                <a:latin typeface="JetBrains Mono"/>
                <a:ea typeface="JetBrains Mono"/>
              </a:rPr>
              <a:t>live</a:t>
            </a:r>
            <a:endParaRPr/>
          </a:p>
        </p:txBody>
      </p:sp>
      <p:sp>
        <p:nvSpPr>
          <p:cNvPr id="126" name="" descr="{&quot;isTemplate&quot;:true,&quot;type&quot;:&quot;text&quot;}"/>
          <p:cNvSpPr txBox="1"/>
          <p:nvPr/>
        </p:nvSpPr>
        <p:spPr>
          <a:xfrm rot="0" flipH="0" flipV="0">
            <a:off x="2495550" y="2219325"/>
            <a:ext cx="7486650" cy="266700"/>
          </a:xfrm>
          <a:prstGeom prst="rect"/>
        </p:spPr>
        <p:txBody>
          <a:bodyPr wrap="none" lIns="0" tIns="0" rIns="0" bIns="0"/>
          <a:p>
            <a:pPr>
              <a:lnSpc>
                <a:spcPct val="135000"/>
              </a:lnSpc>
            </a:pPr>
            <a:r>
              <a:rPr lang="en-US" sz="1275" b="1">
                <a:solidFill>
                  <a:srgbClr val="0B1220"/>
                </a:solidFill>
                <a:latin typeface="Inter"/>
                <a:ea typeface="Inter"/>
              </a:rPr>
              <a:t>Live read</a:t>
            </a:r>
            <a:endParaRPr/>
          </a:p>
        </p:txBody>
      </p:sp>
      <p:sp>
        <p:nvSpPr>
          <p:cNvPr id="127" name="" descr="{&quot;isTemplate&quot;:true,&quot;type&quot;:&quot;text&quot;}"/>
          <p:cNvSpPr txBox="1"/>
          <p:nvPr/>
        </p:nvSpPr>
        <p:spPr>
          <a:xfrm rot="0" flipH="0" flipV="0">
            <a:off x="2495550" y="2514600"/>
            <a:ext cx="7486650" cy="228600"/>
          </a:xfrm>
          <a:prstGeom prst="rect"/>
        </p:spPr>
        <p:txBody>
          <a:bodyPr wrap="none" lIns="0" tIns="0" rIns="0" bIns="0"/>
          <a:p>
            <a:pPr>
              <a:lnSpc>
                <a:spcPct val="150000"/>
              </a:lnSpc>
            </a:pPr>
            <a:r>
              <a:rPr lang="en-US" sz="975">
                <a:solidFill>
                  <a:srgbClr val="64748B"/>
                </a:solidFill>
                <a:latin typeface="Inter"/>
                <a:ea typeface="Inter"/>
              </a:rPr>
              <a:t>Current node state from the simulated Firestore cluster, including action results.</a:t>
            </a:r>
            <a:endParaRPr/>
          </a:p>
        </p:txBody>
      </p:sp>
      <p:sp>
        <p:nvSpPr>
          <p:cNvPr id="128" name="" descr="{&quot;isTemplate&quot;:true,&quot;type&quot;:&quot;text&quot;}"/>
          <p:cNvSpPr txBox="1"/>
          <p:nvPr/>
        </p:nvSpPr>
        <p:spPr>
          <a:xfrm rot="0" flipH="0" flipV="0">
            <a:off x="10134600" y="2362200"/>
            <a:ext cx="1219200" cy="228600"/>
          </a:xfrm>
          <a:prstGeom prst="rect"/>
        </p:spPr>
        <p:txBody>
          <a:bodyPr wrap="none" lIns="0" tIns="0" rIns="0" bIns="0"/>
          <a:p>
            <a:pPr algn="r">
              <a:lnSpc>
                <a:spcPct val="160000"/>
              </a:lnSpc>
            </a:pPr>
            <a:r>
              <a:rPr lang="en-US" sz="900" b="1">
                <a:solidFill>
                  <a:srgbClr val="2F6BFF"/>
                </a:solidFill>
                <a:latin typeface="JetBrains Mono"/>
                <a:ea typeface="JetBrains Mono"/>
              </a:rPr>
              <a:t>SHIPPED</a:t>
            </a:r>
            <a:endParaRPr/>
          </a:p>
        </p:txBody>
      </p:sp>
      <p:sp>
        <p:nvSpPr>
          <p:cNvPr id="129" name=""/>
          <p:cNvSpPr/>
          <p:nvPr/>
        </p:nvSpPr>
        <p:spPr>
          <a:xfrm rot="0" flipH="0" flipV="0">
            <a:off x="723900" y="3038475"/>
            <a:ext cx="10772775" cy="857250"/>
          </a:xfrm>
          <a:prstGeom prst="roundRect">
            <a:avLst>
              <a:gd name="adj" fmla="val 6667"/>
            </a:avLst>
          </a:prstGeom>
          <a:solidFill>
            <a:srgbClr val="FFFFFF"/>
          </a:solidFill>
          <a:ln/>
        </p:spPr>
        <p:txBody>
          <a:bodyPr/>
          <a:p/>
        </p:txBody>
      </p:sp>
      <p:sp>
        <p:nvSpPr>
          <p:cNvPr id="130" name=""/>
          <p:cNvSpPr/>
          <p:nvPr/>
        </p:nvSpPr>
        <p:spPr>
          <a:xfrm rot="0" flipH="0" flipV="0">
            <a:off x="723900" y="3038475"/>
            <a:ext cx="10772775" cy="857250"/>
          </a:xfrm>
          <a:custGeom>
            <a:pathLst>
              <a:path w="1131" h="90">
                <a:moveTo>
                  <a:pt x="6" y="0"/>
                </a:moveTo>
                <a:cubicBezTo>
                  <a:pt x="5" y="0"/>
                  <a:pt x="4" y="1"/>
                  <a:pt x="4" y="2"/>
                </a:cubicBezTo>
                <a:lnTo>
                  <a:pt x="4" y="88"/>
                </a:lnTo>
                <a:cubicBezTo>
                  <a:pt x="4" y="89"/>
                  <a:pt x="5" y="90"/>
                  <a:pt x="6" y="90"/>
                </a:cubicBezTo>
                <a:cubicBezTo>
                  <a:pt x="3" y="90"/>
                  <a:pt x="0" y="87"/>
                  <a:pt x="0" y="84"/>
                </a:cubicBezTo>
                <a:lnTo>
                  <a:pt x="0" y="6"/>
                </a:lnTo>
                <a:cubicBezTo>
                  <a:pt x="0" y="3"/>
                  <a:pt x="3" y="0"/>
                  <a:pt x="6" y="0"/>
                </a:cubicBezTo>
                <a:close/>
              </a:path>
            </a:pathLst>
          </a:custGeom>
          <a:solidFill>
            <a:srgbClr val="C3CFE2"/>
          </a:solidFill>
          <a:ln/>
        </p:spPr>
        <p:txBody>
          <a:bodyPr/>
          <a:p/>
        </p:txBody>
      </p:sp>
      <p:sp>
        <p:nvSpPr>
          <p:cNvPr id="131" name=""/>
          <p:cNvSpPr/>
          <p:nvPr/>
        </p:nvSpPr>
        <p:spPr>
          <a:xfrm rot="0" flipH="0" flipV="0">
            <a:off x="723900" y="3038475"/>
            <a:ext cx="10772775" cy="857250"/>
          </a:xfrm>
          <a:custGeom>
            <a:pathLst>
              <a:path w="1131" h="90">
                <a:moveTo>
                  <a:pt x="1125" y="90"/>
                </a:moveTo>
                <a:cubicBezTo>
                  <a:pt x="1128" y="90"/>
                  <a:pt x="1130" y="88"/>
                  <a:pt x="1130" y="85"/>
                </a:cubicBezTo>
                <a:lnTo>
                  <a:pt x="1130" y="5"/>
                </a:lnTo>
                <a:cubicBezTo>
                  <a:pt x="1130" y="3"/>
                  <a:pt x="1129" y="1"/>
                  <a:pt x="1126" y="0"/>
                </a:cubicBezTo>
                <a:cubicBezTo>
                  <a:pt x="1129" y="1"/>
                  <a:pt x="1131" y="3"/>
                  <a:pt x="1131" y="6"/>
                </a:cubicBezTo>
                <a:lnTo>
                  <a:pt x="1131" y="84"/>
                </a:lnTo>
                <a:cubicBezTo>
                  <a:pt x="1131" y="87"/>
                  <a:pt x="1128" y="90"/>
                  <a:pt x="1125" y="90"/>
                </a:cubicBezTo>
                <a:close/>
              </a:path>
            </a:pathLst>
          </a:custGeom>
          <a:solidFill>
            <a:srgbClr val="C3CFE2"/>
          </a:solidFill>
          <a:ln/>
        </p:spPr>
        <p:txBody>
          <a:bodyPr/>
          <a:p/>
        </p:txBody>
      </p:sp>
      <p:sp>
        <p:nvSpPr>
          <p:cNvPr id="132" name=""/>
          <p:cNvSpPr/>
          <p:nvPr/>
        </p:nvSpPr>
        <p:spPr>
          <a:xfrm rot="0" flipH="0" flipV="0">
            <a:off x="723900" y="3038475"/>
            <a:ext cx="10772775" cy="857250"/>
          </a:xfrm>
          <a:custGeom>
            <a:pathLst>
              <a:path w="1131" h="90">
                <a:moveTo>
                  <a:pt x="1125" y="0"/>
                </a:moveTo>
                <a:cubicBezTo>
                  <a:pt x="1128" y="0"/>
                  <a:pt x="1130" y="2"/>
                  <a:pt x="1131" y="4"/>
                </a:cubicBezTo>
                <a:cubicBezTo>
                  <a:pt x="1130" y="2"/>
                  <a:pt x="1128" y="1"/>
                  <a:pt x="1126" y="1"/>
                </a:cubicBezTo>
                <a:lnTo>
                  <a:pt x="5" y="1"/>
                </a:lnTo>
                <a:cubicBezTo>
                  <a:pt x="3" y="1"/>
                  <a:pt x="1" y="2"/>
                  <a:pt x="0" y="5"/>
                </a:cubicBezTo>
                <a:cubicBezTo>
                  <a:pt x="1" y="2"/>
                  <a:pt x="3" y="0"/>
                  <a:pt x="6" y="0"/>
                </a:cubicBezTo>
                <a:lnTo>
                  <a:pt x="1125" y="0"/>
                </a:lnTo>
                <a:close/>
              </a:path>
            </a:pathLst>
          </a:custGeom>
          <a:solidFill>
            <a:srgbClr val="C3CFE2"/>
          </a:solidFill>
          <a:ln/>
        </p:spPr>
        <p:txBody>
          <a:bodyPr/>
          <a:p/>
        </p:txBody>
      </p:sp>
      <p:sp>
        <p:nvSpPr>
          <p:cNvPr id="133" name=""/>
          <p:cNvSpPr/>
          <p:nvPr/>
        </p:nvSpPr>
        <p:spPr>
          <a:xfrm rot="0" flipH="0" flipV="0">
            <a:off x="723900" y="3038475"/>
            <a:ext cx="10772775" cy="857250"/>
          </a:xfrm>
          <a:custGeom>
            <a:pathLst>
              <a:path w="1131" h="90">
                <a:moveTo>
                  <a:pt x="0" y="84"/>
                </a:moveTo>
                <a:cubicBezTo>
                  <a:pt x="0" y="87"/>
                  <a:pt x="2" y="89"/>
                  <a:pt x="5" y="89"/>
                </a:cubicBezTo>
                <a:lnTo>
                  <a:pt x="1126" y="89"/>
                </a:lnTo>
                <a:cubicBezTo>
                  <a:pt x="1128" y="89"/>
                  <a:pt x="1130" y="88"/>
                  <a:pt x="1131" y="85"/>
                </a:cubicBezTo>
                <a:cubicBezTo>
                  <a:pt x="1130" y="88"/>
                  <a:pt x="1128" y="90"/>
                  <a:pt x="1125" y="90"/>
                </a:cubicBezTo>
                <a:lnTo>
                  <a:pt x="6" y="90"/>
                </a:lnTo>
                <a:cubicBezTo>
                  <a:pt x="3" y="90"/>
                  <a:pt x="0" y="87"/>
                  <a:pt x="0" y="84"/>
                </a:cubicBezTo>
                <a:close/>
              </a:path>
            </a:pathLst>
          </a:custGeom>
          <a:solidFill>
            <a:srgbClr val="C3CFE2"/>
          </a:solidFill>
          <a:ln/>
        </p:spPr>
        <p:txBody>
          <a:bodyPr/>
          <a:p/>
        </p:txBody>
      </p:sp>
      <p:sp>
        <p:nvSpPr>
          <p:cNvPr id="134" name="" descr="{&quot;isTemplate&quot;:true,&quot;type&quot;:&quot;text&quot;}"/>
          <p:cNvSpPr txBox="1"/>
          <p:nvPr/>
        </p:nvSpPr>
        <p:spPr>
          <a:xfrm rot="0" flipH="0" flipV="0">
            <a:off x="876300" y="3343275"/>
            <a:ext cx="209550" cy="257175"/>
          </a:xfrm>
          <a:prstGeom prst="rect"/>
        </p:spPr>
        <p:txBody>
          <a:bodyPr wrap="none" lIns="0" tIns="0" rIns="0" bIns="0"/>
          <a:p>
            <a:pPr>
              <a:lnSpc>
                <a:spcPct val="160000"/>
              </a:lnSpc>
            </a:pPr>
            <a:r>
              <a:rPr lang="en-US" sz="1050" b="1">
                <a:solidFill>
                  <a:srgbClr val="64748B"/>
                </a:solidFill>
                <a:latin typeface="JetBrains Mono"/>
                <a:ea typeface="JetBrains Mono"/>
              </a:rPr>
              <a:t>3</a:t>
            </a:r>
            <a:endParaRPr/>
          </a:p>
        </p:txBody>
      </p:sp>
      <p:sp>
        <p:nvSpPr>
          <p:cNvPr id="135" name="" descr="{&quot;isTemplate&quot;:true,&quot;type&quot;:&quot;text&quot;}"/>
          <p:cNvSpPr txBox="1"/>
          <p:nvPr/>
        </p:nvSpPr>
        <p:spPr>
          <a:xfrm rot="0" flipH="0" flipV="0">
            <a:off x="1238250" y="3333750"/>
            <a:ext cx="1104900" cy="276225"/>
          </a:xfrm>
          <a:prstGeom prst="rect"/>
        </p:spPr>
        <p:txBody>
          <a:bodyPr wrap="none" lIns="0" tIns="0" rIns="0" bIns="0"/>
          <a:p>
            <a:pPr>
              <a:lnSpc>
                <a:spcPct val="160000"/>
              </a:lnSpc>
            </a:pPr>
            <a:r>
              <a:rPr lang="en-US" sz="1125" b="1">
                <a:solidFill>
                  <a:srgbClr val="64748B"/>
                </a:solidFill>
                <a:latin typeface="JetBrains Mono"/>
                <a:ea typeface="JetBrains Mono"/>
              </a:rPr>
              <a:t>artifact</a:t>
            </a:r>
            <a:endParaRPr/>
          </a:p>
        </p:txBody>
      </p:sp>
      <p:sp>
        <p:nvSpPr>
          <p:cNvPr id="136" name="" descr="{&quot;isTemplate&quot;:true,&quot;type&quot;:&quot;text&quot;}"/>
          <p:cNvSpPr txBox="1"/>
          <p:nvPr/>
        </p:nvSpPr>
        <p:spPr>
          <a:xfrm rot="0" flipH="0" flipV="0">
            <a:off x="2495550" y="3209925"/>
            <a:ext cx="7477125" cy="266700"/>
          </a:xfrm>
          <a:prstGeom prst="rect"/>
        </p:spPr>
        <p:txBody>
          <a:bodyPr wrap="none" lIns="0" tIns="0" rIns="0" bIns="0"/>
          <a:p>
            <a:pPr>
              <a:lnSpc>
                <a:spcPct val="135000"/>
              </a:lnSpc>
            </a:pPr>
            <a:r>
              <a:rPr lang="en-US" sz="1275" b="1">
                <a:solidFill>
                  <a:srgbClr val="64748B"/>
                </a:solidFill>
                <a:latin typeface="Inter"/>
                <a:ea typeface="Inter"/>
              </a:rPr>
              <a:t>Local artifact inspection</a:t>
            </a:r>
            <a:endParaRPr/>
          </a:p>
        </p:txBody>
      </p:sp>
      <p:sp>
        <p:nvSpPr>
          <p:cNvPr id="137" name="" descr="{&quot;isTemplate&quot;:true,&quot;type&quot;:&quot;text&quot;}"/>
          <p:cNvSpPr txBox="1"/>
          <p:nvPr/>
        </p:nvSpPr>
        <p:spPr>
          <a:xfrm rot="0" flipH="0" flipV="0">
            <a:off x="2495550" y="3505200"/>
            <a:ext cx="7477125" cy="228600"/>
          </a:xfrm>
          <a:prstGeom prst="rect"/>
        </p:spPr>
        <p:txBody>
          <a:bodyPr wrap="none" lIns="0" tIns="0" rIns="0" bIns="0"/>
          <a:p>
            <a:pPr>
              <a:lnSpc>
                <a:spcPct val="150000"/>
              </a:lnSpc>
            </a:pPr>
            <a:r>
              <a:rPr lang="en-US" sz="975">
                <a:solidFill>
                  <a:srgbClr val="94A3B8"/>
                </a:solidFill>
                <a:latin typeface="Inter"/>
                <a:ea typeface="Inter"/>
              </a:rPr>
              <a:t>Inspection of local files such as binaries or packet captures requires a separate deployment.</a:t>
            </a:r>
            <a:endParaRPr/>
          </a:p>
        </p:txBody>
      </p:sp>
      <p:sp>
        <p:nvSpPr>
          <p:cNvPr id="138" name="" descr="{&quot;isTemplate&quot;:true,&quot;type&quot;:&quot;text&quot;}"/>
          <p:cNvSpPr txBox="1"/>
          <p:nvPr/>
        </p:nvSpPr>
        <p:spPr>
          <a:xfrm rot="0" flipH="0" flipV="0">
            <a:off x="10125075" y="3352800"/>
            <a:ext cx="1219200" cy="228600"/>
          </a:xfrm>
          <a:prstGeom prst="rect"/>
        </p:spPr>
        <p:txBody>
          <a:bodyPr wrap="none" lIns="0" tIns="0" rIns="0" bIns="0"/>
          <a:p>
            <a:pPr algn="r">
              <a:lnSpc>
                <a:spcPct val="160000"/>
              </a:lnSpc>
            </a:pPr>
            <a:r>
              <a:rPr lang="en-US" sz="900" b="1">
                <a:solidFill>
                  <a:srgbClr val="64748B"/>
                </a:solidFill>
                <a:latin typeface="JetBrains Mono"/>
                <a:ea typeface="JetBrains Mono"/>
              </a:rPr>
              <a:t>NO PRODUCER</a:t>
            </a:r>
            <a:endParaRPr/>
          </a:p>
        </p:txBody>
      </p:sp>
      <p:sp>
        <p:nvSpPr>
          <p:cNvPr id="139" name="" descr="{&quot;isTemplate&quot;:true,&quot;type&quot;:&quot;text&quot;}"/>
          <p:cNvSpPr txBox="1"/>
          <p:nvPr/>
        </p:nvSpPr>
        <p:spPr>
          <a:xfrm rot="0" flipH="0" flipV="0">
            <a:off x="685800" y="4095750"/>
            <a:ext cx="5905500" cy="304800"/>
          </a:xfrm>
          <a:prstGeom prst="rect"/>
        </p:spPr>
        <p:txBody>
          <a:bodyPr wrap="none" lIns="0" tIns="0" rIns="0" bIns="0"/>
          <a:p>
            <a:pPr>
              <a:lnSpc>
                <a:spcPct val="145000"/>
              </a:lnSpc>
            </a:pPr>
            <a:r>
              <a:rPr lang="en-US" sz="1350" b="1">
                <a:solidFill>
                  <a:srgbClr val="0B1220"/>
                </a:solidFill>
                <a:latin typeface="Inter"/>
                <a:ea typeface="Inter"/>
              </a:rPr>
              <a:t>Browser deployment boundary</a:t>
            </a:r>
            <a:endParaRPr/>
          </a:p>
        </p:txBody>
      </p:sp>
      <p:sp>
        <p:nvSpPr>
          <p:cNvPr id="140" name="" descr="{&quot;isTemplate&quot;:true,&quot;type&quot;:&quot;text&quot;}"/>
          <p:cNvSpPr txBox="1"/>
          <p:nvPr/>
        </p:nvSpPr>
        <p:spPr>
          <a:xfrm rot="0" flipH="0" flipV="0">
            <a:off x="685800" y="4476750"/>
            <a:ext cx="5905500" cy="514350"/>
          </a:xfrm>
          <a:prstGeom prst="rect"/>
        </p:spPr>
        <p:txBody>
          <a:bodyPr wrap="square" lIns="0" tIns="0" rIns="0" bIns="0">
            <a:normAutofit/>
          </a:bodyPr>
          <a:p>
            <a:pPr>
              <a:lnSpc>
                <a:spcPct val="160000"/>
              </a:lnSpc>
            </a:pPr>
            <a:r>
              <a:rPr lang="en-US" sz="1050">
                <a:solidFill>
                  <a:srgbClr val="1A2434"/>
                </a:solidFill>
                <a:latin typeface="Inter"/>
                <a:ea typeface="Inter"/>
              </a:rPr>
              <a:t>The submitted browser build has no local artifact producer. The artifact tier has implemented set to false. Requests for it raise an error.</a:t>
            </a:r>
            <a:endParaRPr/>
          </a:p>
        </p:txBody>
      </p:sp>
      <p:sp>
        <p:nvSpPr>
          <p:cNvPr id="141" name=""/>
          <p:cNvSpPr/>
          <p:nvPr/>
        </p:nvSpPr>
        <p:spPr>
          <a:xfrm rot="0" flipH="0" flipV="0">
            <a:off x="685800" y="5105400"/>
            <a:ext cx="5905500" cy="742950"/>
          </a:xfrm>
          <a:prstGeom prst="roundRect">
            <a:avLst>
              <a:gd name="adj" fmla="val 7692"/>
            </a:avLst>
          </a:prstGeom>
          <a:solidFill>
            <a:srgbClr val="0B1220"/>
          </a:solidFill>
          <a:ln/>
        </p:spPr>
        <p:txBody>
          <a:bodyPr/>
          <a:p/>
        </p:txBody>
      </p:sp>
      <p:sp>
        <p:nvSpPr>
          <p:cNvPr id="142" name="" descr="{&quot;isTemplate&quot;:true,&quot;type&quot;:&quot;text&quot;}"/>
          <p:cNvSpPr txBox="1"/>
          <p:nvPr/>
        </p:nvSpPr>
        <p:spPr>
          <a:xfrm rot="0" flipH="0" flipV="0">
            <a:off x="800100" y="5219700"/>
            <a:ext cx="5676900" cy="514350"/>
          </a:xfrm>
          <a:prstGeom prst="rect"/>
        </p:spPr>
        <p:txBody>
          <a:bodyPr wrap="none" lIns="0" tIns="0" rIns="0" bIns="0"/>
          <a:p>
            <a:pPr>
              <a:lnSpc>
                <a:spcPct val="170000"/>
              </a:lnSpc>
            </a:pPr>
            <a:r>
              <a:rPr lang="en-US" sz="975">
                <a:solidFill>
                  <a:srgbClr val="E2E8F0"/>
                </a:solidFill>
                <a:latin typeface="JetBrains Mono"/>
                <a:ea typeface="JetBrains Mono"/>
              </a:rPr>
              <a:t>EVIDENCE_TIERS.artifact.implemented   // false</a:t>
            </a:r>
            <a:endParaRPr/>
          </a:p>
          <a:p>
            <a:pPr>
              <a:lnSpc>
                <a:spcPct val="170000"/>
              </a:lnSpc>
            </a:pPr>
            <a:r>
              <a:rPr lang="en-US" sz="975">
                <a:solidFill>
                  <a:srgbClr val="E2E8F0"/>
                </a:solidFill>
                <a:latin typeface="JetBrains Mono"/>
                <a:ea typeface="JetBrains Mono"/>
              </a:rPr>
              <a:t>evidenceTier('artifact')              // throws</a:t>
            </a:r>
            <a:endParaRPr/>
          </a:p>
        </p:txBody>
      </p:sp>
      <p:sp>
        <p:nvSpPr>
          <p:cNvPr id="143" name="" descr="{&quot;isTemplate&quot;:true,&quot;type&quot;:&quot;text&quot;}"/>
          <p:cNvSpPr txBox="1"/>
          <p:nvPr/>
        </p:nvSpPr>
        <p:spPr>
          <a:xfrm rot="0" flipH="0" flipV="0">
            <a:off x="6896100" y="4095750"/>
            <a:ext cx="4610100" cy="304800"/>
          </a:xfrm>
          <a:prstGeom prst="rect"/>
        </p:spPr>
        <p:txBody>
          <a:bodyPr wrap="none" lIns="0" tIns="0" rIns="0" bIns="0"/>
          <a:p>
            <a:pPr>
              <a:lnSpc>
                <a:spcPct val="145000"/>
              </a:lnSpc>
            </a:pPr>
            <a:r>
              <a:rPr lang="en-US" sz="1350" b="1">
                <a:solidFill>
                  <a:srgbClr val="0B1220"/>
                </a:solidFill>
                <a:latin typeface="Inter"/>
                <a:ea typeface="Inter"/>
              </a:rPr>
              <a:t>Future non-browser option</a:t>
            </a:r>
            <a:endParaRPr/>
          </a:p>
        </p:txBody>
      </p:sp>
      <p:sp>
        <p:nvSpPr>
          <p:cNvPr id="144" name="" descr="{&quot;isTemplate&quot;:true,&quot;type&quot;:&quot;text&quot;}"/>
          <p:cNvSpPr txBox="1"/>
          <p:nvPr/>
        </p:nvSpPr>
        <p:spPr>
          <a:xfrm rot="0" flipH="0" flipV="0">
            <a:off x="6896100" y="4476750"/>
            <a:ext cx="4610100" cy="514350"/>
          </a:xfrm>
          <a:prstGeom prst="rect"/>
        </p:spPr>
        <p:txBody>
          <a:bodyPr wrap="square" lIns="0" tIns="0" rIns="0" bIns="0">
            <a:normAutofit/>
          </a:bodyPr>
          <a:p>
            <a:pPr>
              <a:lnSpc>
                <a:spcPct val="160000"/>
              </a:lnSpc>
            </a:pPr>
            <a:r>
              <a:rPr lang="en-US" sz="1050">
                <a:solidFill>
                  <a:srgbClr val="1A2434"/>
                </a:solidFill>
                <a:latin typeface="Inter"/>
                <a:ea typeface="Inter"/>
              </a:rPr>
              <a:t>REA is not included in this build. The browser application produces snapshot and live evidence only.</a:t>
            </a:r>
            <a:endParaRPr/>
          </a:p>
        </p:txBody>
      </p:sp>
      <p:sp>
        <p:nvSpPr>
          <p:cNvPr id="145" name="" descr="{&quot;isTemplate&quot;:true,&quot;type&quot;:&quot;text&quot;}"/>
          <p:cNvSpPr txBox="1"/>
          <p:nvPr/>
        </p:nvSpPr>
        <p:spPr>
          <a:xfrm rot="0" flipH="0" flipV="0">
            <a:off x="6896100" y="5086350"/>
            <a:ext cx="4610100" cy="533400"/>
          </a:xfrm>
          <a:prstGeom prst="rect"/>
        </p:spPr>
        <p:txBody>
          <a:bodyPr wrap="square" lIns="0" tIns="0" rIns="0" bIns="0">
            <a:normAutofit/>
          </a:bodyPr>
          <a:p>
            <a:pPr>
              <a:lnSpc>
                <a:spcPct val="155000"/>
              </a:lnSpc>
            </a:pPr>
            <a:r>
              <a:rPr lang="en-US" sz="1125" b="1">
                <a:solidFill>
                  <a:srgbClr val="2F6BFF"/>
                </a:solidFill>
                <a:latin typeface="Inter"/>
                <a:ea typeface="Inter"/>
              </a:rPr>
              <a:t>A future CLI or server deployment could evaluate rea-agents for local artifact inspection.</a:t>
            </a:r>
            <a:endParaRPr/>
          </a:p>
        </p:txBody>
      </p:sp>
      <p:sp>
        <p:nvSpPr>
          <p:cNvPr id="146" name="" descr="{&quot;isTemplate&quot;:true,&quot;type&quot;:&quot;text&quot;}"/>
          <p:cNvSpPr txBox="1"/>
          <p:nvPr/>
        </p:nvSpPr>
        <p:spPr>
          <a:xfrm rot="0" flipH="0" flipV="0">
            <a:off x="685800" y="6381750"/>
            <a:ext cx="3514725" cy="161925"/>
          </a:xfrm>
          <a:prstGeom prst="rect"/>
        </p:spPr>
        <p:txBody>
          <a:bodyPr wrap="none" lIns="0" tIns="0" rIns="0" bIns="0"/>
          <a:p>
            <a:pPr>
              <a:lnSpc>
                <a:spcPct val="100000"/>
              </a:lnSpc>
            </a:pPr>
            <a:r>
              <a:rPr lang="en-US" sz="1050">
                <a:solidFill>
                  <a:srgbClr val="64748B"/>
                </a:solidFill>
                <a:latin typeface="Inter"/>
                <a:ea typeface="Inter"/>
              </a:rPr>
              <a:t>REA remains a future option for a non-browser deployment</a:t>
            </a:r>
            <a:endParaRPr/>
          </a:p>
        </p:txBody>
      </p:sp>
      <p:sp>
        <p:nvSpPr>
          <p:cNvPr id="147" name="" descr="{&quot;isTemplate&quot;:true,&quot;type&quot;:&quot;text&quot;}"/>
          <p:cNvSpPr txBox="1"/>
          <p:nvPr/>
        </p:nvSpPr>
        <p:spPr>
          <a:xfrm rot="0" flipH="0" flipV="0">
            <a:off x="10934700" y="6381750"/>
            <a:ext cx="571500" cy="161925"/>
          </a:xfrm>
          <a:prstGeom prst="rect"/>
        </p:spPr>
        <p:txBody>
          <a:bodyPr wrap="none" lIns="0" tIns="0" rIns="0" bIns="0"/>
          <a:p>
            <a:pPr>
              <a:lnSpc>
                <a:spcPct val="100000"/>
              </a:lnSpc>
            </a:pPr>
            <a:r>
              <a:rPr lang="en-US" sz="1050">
                <a:solidFill>
                  <a:srgbClr val="64748B"/>
                </a:solidFill>
                <a:latin typeface="JetBrains Mono"/>
                <a:ea typeface="JetBrains Mono"/>
              </a:rPr>
              <a:t>14 / 15</a:t>
            </a:r>
            <a:endParaRPr/>
          </a:p>
        </p:txBody>
      </p:sp>
    </p:spTree>
  </p:cSld>
</p:sld>
</file>

<file path=ppt/slides/slide1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48" name="" descr="// 15: demo URL and verification references.&#10;const FONT = 'Inter, &quot;Helvetica Neue&quot;, Arial, sans-serif';&#10;const MONO = '&quot;JetBrains Mono&quot;, &quot;SF Mono&quot;, Menlo, monospace';&#10;const BLUE = '#2F6BFF';&#10;const DEEP = 'linear-gradient(160deg, #0B1220 0%, #131E33 62%, #0B1220 100%)';&#10;&#10;const GRID_X = [0, 71, 142, 213, 284, 355, 426, 497, 568, 639, 710, 781, 852, 923, 994, 1065, 1136];&#10;const GRID_Y = [0, 64, 128, 192, 256, 320, 384, 448, 512, 576];&#10;&#10;const CHECKS = [&#10;    { k: 'verify_triage.mjs', v: 'rule baseline and result invariants' },&#10;    { k: 'verify_pipeline.mjs', v: '81 / 81, scripted transport and in-memory cluster' },&#10;    { k: 'browser_check.mjs', v: '31 / 31 in the earlier recorded browser check' },&#10;];&#10;&#10;&lt;Slide style={{ width: 1280, height: 720, padding: '72px', background: DEEP, fontFamily: FONT }}&gt;&#10;    &lt;Box style={{ position: 'relative', width: 1136, height: 576 }}&gt;&#10;&#10;        &lt;Box style={{ position: 'absolute', left: 0, top: 0, width: 1136, height: 576 }}&gt;&#10;            &lt;svg width={1136} height={576} viewBox='0 0 1136 576'&gt;&#10;                {GRID_X.map((x, i) =&gt; (&#10;                    &lt;line key={'gx' + i} x1={x} y1={0} x2={x} y2={576} stroke='rgba(255,255,255,0.045)' strokeWidth={1} /&gt;&#10;                ))}&#10;                {GRID_Y.map((y, i) =&gt; (&#10;                    &lt;line key={'gy' + i} x1={0} y1={y} x2={1136} y2={y} stroke='rgba(255,255,255,0.045)' strokeWidth={1} /&gt;&#10;                ))}&#10;            &lt;/svg&gt;&#10;        &lt;/Box&gt;&#10;&#10;        &lt;Box style={{ position: 'relative', width: 1136, height: 576, alignItems: 'center', justifyContent: 'center', gap: 20 }}&gt;&#10;&#10;            &lt;Text style={{ fontFamily: MONO, fontSize: 14, color: BLUE, letterSpacing: 3 }}&gt;AI BUILDER CUP 2026, JAPAC&lt;/Text&gt;&#10;&#10;            &lt;Text style={{ fontSize: 52, fontWeight: 600, color: '#FFFFFF', lineHeight: 1.25, textAlign: 'center', width: 1000 }}&gt;&#10;                Demo and verification&#10;            &lt;/Text&gt;&#10;&#10;            &lt;Text style={{ fontSize: 20, color: '#94A3B8', lineHeight: 1.6, textAlign: 'center', width: 880 }}&gt;&#10;                The browser demo uses simulated cluster state. Offline scripts reproduce the rule score and&#10;                exercise tool execution, fallback and approval boundaries.&#10;            &lt;/Text&gt;&#10;&#10;            &lt;Box style={{ width: 96, height: 3, background: 'rgba(255,255,255,0.3)', marginTop: 10, marginBottom: 6 }} /&gt;&#10;&#10;            &lt;Box style={{ flexDirection: 'row', gap: 34, alignItems: 'flex-start' }}&gt;&#10;                &lt;Box style={{ gap: 6 }}&gt;&#10;                    &lt;Text style={{ fontFamily: MONO, fontSize: 13, color: 'rgba(255,255,255,0.5)', lineHeight: 1.5 }}&gt;live demo&lt;/Text&gt;&#10;                    &lt;Text style={{ fontFamily: MONO, fontSize: 15, color: '#FFFFFF', lineHeight: 1.5 }}&gt;gpu-waste-auditor-2026.web.app&lt;/Text&gt;&#10;                &lt;/Box&gt;&#10;                &lt;Box style={{ width: 1, height: 74, background: 'rgba(255,255,255,0.16)' }} /&gt;&#10;                &lt;Box style={{ gap: 6 }}&gt;&#10;                    &lt;Text style={{ fontFamily: MONO, fontSize: 13, color: 'rgba(255,255,255,0.5)', lineHeight: 1.5 }}&gt;verification scripts&lt;/Text&gt;&#10;                    {CHECKS.map((c, i) =&gt; (&#10;                        &lt;Text key={i} style={{ fontFamily: MONO, fontSize: 14, color: '#C7D2E0', lineHeight: 1.55 }}&gt;&#10;                            {c.k}  &lt;span style={{ color: 'rgba(255,255,255,0.5)' }}&gt;{c.v}&lt;/span&gt;&#10;                        &lt;/Text&gt;&#10;                    ))}&#10;                &lt;/Box&gt;&#10;            &lt;/Box&gt;&#10;&#10;        &lt;/Box&gt;&#10;&#10;        &lt;Box style={{ position: 'absolute', left: 0, bottom: 0, width: 1136, flexDirection: 'row', justifyContent: 'space-between', alignItems: 'center' }}&gt;&#10;            &lt;Text style={{ fontSize: 14, color: 'rgba(255,255,255,0.45)' }}&gt;Training Failure Triage, AI Builder Cup 2026&lt;/Text&gt;&#10;            &lt;Text style={{ fontFamily: MONO, fontSize: 14, color: 'rgba(255,255,255,0.45)' }}&gt;15 / 15&lt;/Text&gt;&#10;        &lt;/Box&gt;&#10;&#10;    &lt;/Box&gt;&#10;&lt;/Slide&gt;&#10;"/>
        <p:cNvGrpSpPr/>
        <p:nvPr/>
      </p:nvGrpSpPr>
      <p:grpSpPr>
        <a:xfrm>
          <a:off x="0" y="0"/>
          <a:ext cx="0" cy="0"/>
          <a:chOff x="0" y="0"/>
          <a:chExt cx="0" cy="0"/>
        </a:xfrm>
      </p:grpSpPr>
      <p:sp>
        <p:nvSpPr>
          <p:cNvPr id="149" name=""/>
          <p:cNvSpPr/>
          <p:nvPr/>
        </p:nvSpPr>
        <p:spPr>
          <a:xfrm rot="0" flipH="0" flipV="0">
            <a:off x="0" y="0"/>
            <a:ext cx="12192000" cy="6858000"/>
          </a:xfrm>
          <a:prstGeom prst="rect">
            <a:avLst/>
          </a:prstGeom>
          <a:gradFill>
            <a:gsLst>
              <a:gs pos="0">
                <a:srgbClr val="0B1220"/>
              </a:gs>
              <a:gs pos="62000">
                <a:srgbClr val="131E33"/>
              </a:gs>
              <a:gs pos="100000">
                <a:srgbClr val="0B1220"/>
              </a:gs>
            </a:gsLst>
            <a:lin ang="4200000" scaled="1"/>
          </a:gradFill>
          <a:ln/>
        </p:spPr>
        <p:txBody>
          <a:bodyPr/>
          <a:p/>
        </p:txBody>
      </p:sp>
      <p:pic>
        <p:nvPicPr>
          <p:cNvPr id="150" name=""/>
          <p:cNvPicPr>
            <a:picLocks noChangeAspect="1"/>
          </p:cNvPicPr>
          <p:nvPr/>
        </p:nvPicPr>
        <p:blipFill>
          <a:blip>
            <a:extLst>
              <a:ext uri="{96DAC541-7B7A-43D3-8B79-37D633B846F1}">
                <asvg:svgBlip r:embed="rId1"/>
              </a:ext>
            </a:extLst>
          </a:blip>
          <a:stretch>
            <a:fillRect/>
          </a:stretch>
        </p:blipFill>
        <p:spPr>
          <a:xfrm rot="0" flipH="0" flipV="0">
            <a:off x="685800" y="685800"/>
            <a:ext cx="10820400" cy="5486400"/>
          </a:xfrm>
          <a:prstGeom prst="rect">
            <a:avLst/>
          </a:prstGeom>
          <a:ln/>
        </p:spPr>
      </p:pic>
      <p:sp>
        <p:nvSpPr>
          <p:cNvPr id="151" name="" descr="{&quot;isTemplate&quot;:true,&quot;type&quot;:&quot;text&quot;}"/>
          <p:cNvSpPr txBox="1"/>
          <p:nvPr/>
        </p:nvSpPr>
        <p:spPr>
          <a:xfrm rot="0" flipH="0" flipV="0">
            <a:off x="4676775" y="1552575"/>
            <a:ext cx="2838450" cy="161925"/>
          </a:xfrm>
          <a:prstGeom prst="rect"/>
        </p:spPr>
        <p:txBody>
          <a:bodyPr wrap="none" lIns="0" tIns="0" rIns="0" bIns="0"/>
          <a:p>
            <a:pPr>
              <a:lnSpc>
                <a:spcPct val="100000"/>
              </a:lnSpc>
            </a:pPr>
            <a:r>
              <a:rPr lang="en-US" sz="1050" spc="225">
                <a:solidFill>
                  <a:srgbClr val="2F6BFF"/>
                </a:solidFill>
                <a:latin typeface="JetBrains Mono"/>
                <a:ea typeface="JetBrains Mono"/>
              </a:rPr>
              <a:t>AI BUILDER CUP 2026, JAPAC</a:t>
            </a:r>
            <a:endParaRPr/>
          </a:p>
        </p:txBody>
      </p:sp>
      <p:sp>
        <p:nvSpPr>
          <p:cNvPr id="152" name="" descr="{&quot;isTemplate&quot;:true,&quot;type&quot;:&quot;text&quot;}"/>
          <p:cNvSpPr txBox="1"/>
          <p:nvPr/>
        </p:nvSpPr>
        <p:spPr>
          <a:xfrm rot="0" flipH="0" flipV="0">
            <a:off x="1333500" y="1905000"/>
            <a:ext cx="9525000" cy="742950"/>
          </a:xfrm>
          <a:prstGeom prst="rect"/>
        </p:spPr>
        <p:txBody>
          <a:bodyPr wrap="none" lIns="0" tIns="0" rIns="0" bIns="0"/>
          <a:p>
            <a:pPr algn="ctr">
              <a:lnSpc>
                <a:spcPct val="125000"/>
              </a:lnSpc>
            </a:pPr>
            <a:r>
              <a:rPr lang="en-US" sz="3900" b="1">
                <a:solidFill>
                  <a:srgbClr val="FFFFFF"/>
                </a:solidFill>
                <a:latin typeface="Inter"/>
                <a:ea typeface="Inter"/>
              </a:rPr>
              <a:t>Demo and verification</a:t>
            </a:r>
            <a:endParaRPr/>
          </a:p>
        </p:txBody>
      </p:sp>
      <p:sp>
        <p:nvSpPr>
          <p:cNvPr id="153" name="" descr="{&quot;isTemplate&quot;:true,&quot;type&quot;:&quot;text&quot;}"/>
          <p:cNvSpPr txBox="1"/>
          <p:nvPr/>
        </p:nvSpPr>
        <p:spPr>
          <a:xfrm rot="0" flipH="0" flipV="0">
            <a:off x="1905000" y="2838450"/>
            <a:ext cx="8382000" cy="733425"/>
          </a:xfrm>
          <a:prstGeom prst="rect"/>
        </p:spPr>
        <p:txBody>
          <a:bodyPr wrap="square" lIns="0" tIns="0" rIns="0" bIns="0">
            <a:normAutofit/>
          </a:bodyPr>
          <a:p>
            <a:pPr algn="ctr">
              <a:lnSpc>
                <a:spcPct val="160000"/>
              </a:lnSpc>
            </a:pPr>
            <a:r>
              <a:rPr lang="en-US" sz="1500">
                <a:solidFill>
                  <a:srgbClr val="94A3B8"/>
                </a:solidFill>
                <a:latin typeface="Inter"/>
                <a:ea typeface="Inter"/>
              </a:rPr>
              <a:t>The browser demo uses simulated cluster state. Offline scripts reproduce the rule score and exercise tool execution, fallback and approval boundaries.</a:t>
            </a:r>
            <a:endParaRPr/>
          </a:p>
        </p:txBody>
      </p:sp>
      <p:sp>
        <p:nvSpPr>
          <p:cNvPr id="154" name=""/>
          <p:cNvSpPr/>
          <p:nvPr/>
        </p:nvSpPr>
        <p:spPr>
          <a:xfrm rot="0" flipH="0" flipV="0">
            <a:off x="5638800" y="3857625"/>
            <a:ext cx="914400" cy="28575"/>
          </a:xfrm>
          <a:prstGeom prst="rect">
            <a:avLst/>
          </a:prstGeom>
          <a:solidFill>
            <a:srgbClr val="FFFFFF">
              <a:alpha val="30000"/>
            </a:srgbClr>
          </a:solidFill>
          <a:ln/>
        </p:spPr>
        <p:txBody>
          <a:bodyPr/>
          <a:p/>
        </p:txBody>
      </p:sp>
      <p:sp>
        <p:nvSpPr>
          <p:cNvPr id="155" name="" descr="{&quot;isTemplate&quot;:true,&quot;type&quot;:&quot;text&quot;}"/>
          <p:cNvSpPr txBox="1"/>
          <p:nvPr/>
        </p:nvSpPr>
        <p:spPr>
          <a:xfrm rot="0" flipH="0" flipV="0">
            <a:off x="1666875" y="4133850"/>
            <a:ext cx="2581275" cy="228600"/>
          </a:xfrm>
          <a:prstGeom prst="rect"/>
        </p:spPr>
        <p:txBody>
          <a:bodyPr wrap="none" lIns="0" tIns="0" rIns="0" bIns="0"/>
          <a:p>
            <a:pPr>
              <a:lnSpc>
                <a:spcPct val="150000"/>
              </a:lnSpc>
            </a:pPr>
            <a:r>
              <a:rPr lang="en-US" sz="975">
                <a:solidFill>
                  <a:srgbClr val="FFFFFF">
                    <a:alpha val="50000"/>
                  </a:srgbClr>
                </a:solidFill>
                <a:latin typeface="JetBrains Mono"/>
                <a:ea typeface="JetBrains Mono"/>
              </a:rPr>
              <a:t>live demo</a:t>
            </a:r>
            <a:endParaRPr/>
          </a:p>
        </p:txBody>
      </p:sp>
      <p:sp>
        <p:nvSpPr>
          <p:cNvPr id="156" name="" descr="{&quot;isTemplate&quot;:true,&quot;type&quot;:&quot;text&quot;}"/>
          <p:cNvSpPr txBox="1"/>
          <p:nvPr/>
        </p:nvSpPr>
        <p:spPr>
          <a:xfrm rot="0" flipH="0" flipV="0">
            <a:off x="1666875" y="4419600"/>
            <a:ext cx="2581275" cy="257175"/>
          </a:xfrm>
          <a:prstGeom prst="rect"/>
        </p:spPr>
        <p:txBody>
          <a:bodyPr wrap="none" lIns="0" tIns="0" rIns="0" bIns="0"/>
          <a:p>
            <a:pPr>
              <a:lnSpc>
                <a:spcPct val="150000"/>
              </a:lnSpc>
            </a:pPr>
            <a:r>
              <a:rPr lang="en-US" sz="1125">
                <a:solidFill>
                  <a:srgbClr val="FFFFFF"/>
                </a:solidFill>
                <a:latin typeface="JetBrains Mono"/>
                <a:ea typeface="JetBrains Mono"/>
              </a:rPr>
              <a:t>gpu-waste-auditor-2026.web.app</a:t>
            </a:r>
            <a:endParaRPr/>
          </a:p>
        </p:txBody>
      </p:sp>
      <p:sp>
        <p:nvSpPr>
          <p:cNvPr id="157" name=""/>
          <p:cNvSpPr/>
          <p:nvPr/>
        </p:nvSpPr>
        <p:spPr>
          <a:xfrm rot="0" flipH="0" flipV="0">
            <a:off x="4572000" y="4133850"/>
            <a:ext cx="9525" cy="704850"/>
          </a:xfrm>
          <a:prstGeom prst="rect">
            <a:avLst/>
          </a:prstGeom>
          <a:solidFill>
            <a:srgbClr val="FFFFFF">
              <a:alpha val="16000"/>
            </a:srgbClr>
          </a:solidFill>
          <a:ln/>
        </p:spPr>
        <p:txBody>
          <a:bodyPr/>
          <a:p/>
        </p:txBody>
      </p:sp>
      <p:sp>
        <p:nvSpPr>
          <p:cNvPr id="158" name="" descr="{&quot;isTemplate&quot;:true,&quot;type&quot;:&quot;text&quot;}"/>
          <p:cNvSpPr txBox="1"/>
          <p:nvPr/>
        </p:nvSpPr>
        <p:spPr>
          <a:xfrm rot="0" flipH="0" flipV="0">
            <a:off x="4905375" y="4133850"/>
            <a:ext cx="5629275" cy="228600"/>
          </a:xfrm>
          <a:prstGeom prst="rect"/>
        </p:spPr>
        <p:txBody>
          <a:bodyPr wrap="none" lIns="0" tIns="0" rIns="0" bIns="0"/>
          <a:p>
            <a:pPr>
              <a:lnSpc>
                <a:spcPct val="150000"/>
              </a:lnSpc>
            </a:pPr>
            <a:r>
              <a:rPr lang="en-US" sz="975">
                <a:solidFill>
                  <a:srgbClr val="FFFFFF">
                    <a:alpha val="50000"/>
                  </a:srgbClr>
                </a:solidFill>
                <a:latin typeface="JetBrains Mono"/>
                <a:ea typeface="JetBrains Mono"/>
              </a:rPr>
              <a:t>verification scripts</a:t>
            </a:r>
            <a:endParaRPr/>
          </a:p>
        </p:txBody>
      </p:sp>
      <p:sp>
        <p:nvSpPr>
          <p:cNvPr id="159" name="" descr="{&quot;isTemplate&quot;:true,&quot;type&quot;:&quot;text&quot;}"/>
          <p:cNvSpPr txBox="1"/>
          <p:nvPr/>
        </p:nvSpPr>
        <p:spPr>
          <a:xfrm rot="0" flipH="0" flipV="0">
            <a:off x="4905375" y="4419600"/>
            <a:ext cx="5629275" cy="257175"/>
          </a:xfrm>
          <a:prstGeom prst="rect"/>
        </p:spPr>
        <p:txBody>
          <a:bodyPr wrap="none" lIns="0" tIns="0" rIns="0" bIns="0"/>
          <a:p>
            <a:pPr>
              <a:lnSpc>
                <a:spcPct val="155000"/>
              </a:lnSpc>
            </a:pPr>
            <a:r>
              <a:rPr lang="en-US" sz="1050">
                <a:solidFill>
                  <a:srgbClr val="C7D2E0"/>
                </a:solidFill>
                <a:latin typeface="JetBrains Mono"/>
                <a:ea typeface="JetBrains Mono"/>
              </a:rPr>
              <a:t>verify_triage.mjs</a:t>
            </a:r>
            <a:r>
              <a:rPr lang="en-US" sz="1050">
                <a:solidFill>
                  <a:srgbClr val="C7D2E0"/>
                </a:solidFill>
                <a:latin typeface="JetBrains Mono"/>
                <a:ea typeface="JetBrains Mono"/>
              </a:rPr>
              <a:t xml:space="preserve">  </a:t>
            </a:r>
            <a:r>
              <a:rPr lang="en-US" sz="1050">
                <a:solidFill>
                  <a:srgbClr val="FFFFFF">
                    <a:alpha val="50000"/>
                  </a:srgbClr>
                </a:solidFill>
                <a:latin typeface="JetBrains Mono"/>
                <a:ea typeface="JetBrains Mono"/>
              </a:rPr>
              <a:t>rule baseline and result invariants</a:t>
            </a:r>
            <a:endParaRPr/>
          </a:p>
        </p:txBody>
      </p:sp>
      <p:sp>
        <p:nvSpPr>
          <p:cNvPr id="160" name="" descr="{&quot;isTemplate&quot;:true,&quot;type&quot;:&quot;text&quot;}"/>
          <p:cNvSpPr txBox="1"/>
          <p:nvPr/>
        </p:nvSpPr>
        <p:spPr>
          <a:xfrm rot="0" flipH="0" flipV="0">
            <a:off x="4905375" y="4733925"/>
            <a:ext cx="5629275" cy="257175"/>
          </a:xfrm>
          <a:prstGeom prst="rect"/>
        </p:spPr>
        <p:txBody>
          <a:bodyPr wrap="none" lIns="0" tIns="0" rIns="0" bIns="0"/>
          <a:p>
            <a:pPr>
              <a:lnSpc>
                <a:spcPct val="155000"/>
              </a:lnSpc>
            </a:pPr>
            <a:r>
              <a:rPr lang="en-US" sz="1050">
                <a:solidFill>
                  <a:srgbClr val="C7D2E0"/>
                </a:solidFill>
                <a:latin typeface="JetBrains Mono"/>
                <a:ea typeface="JetBrains Mono"/>
              </a:rPr>
              <a:t>verify_pipeline.mjs</a:t>
            </a:r>
            <a:r>
              <a:rPr lang="en-US" sz="1050">
                <a:solidFill>
                  <a:srgbClr val="C7D2E0"/>
                </a:solidFill>
                <a:latin typeface="JetBrains Mono"/>
                <a:ea typeface="JetBrains Mono"/>
              </a:rPr>
              <a:t xml:space="preserve">  </a:t>
            </a:r>
            <a:r>
              <a:rPr lang="en-US" sz="1050">
                <a:solidFill>
                  <a:srgbClr val="FFFFFF">
                    <a:alpha val="50000"/>
                  </a:srgbClr>
                </a:solidFill>
                <a:latin typeface="JetBrains Mono"/>
                <a:ea typeface="JetBrains Mono"/>
              </a:rPr>
              <a:t>81 / 81, scripted transport and in-memory cluster</a:t>
            </a:r>
            <a:endParaRPr/>
          </a:p>
        </p:txBody>
      </p:sp>
      <p:sp>
        <p:nvSpPr>
          <p:cNvPr id="161" name="" descr="{&quot;isTemplate&quot;:true,&quot;type&quot;:&quot;text&quot;}"/>
          <p:cNvSpPr txBox="1"/>
          <p:nvPr/>
        </p:nvSpPr>
        <p:spPr>
          <a:xfrm rot="0" flipH="0" flipV="0">
            <a:off x="4905375" y="5048250"/>
            <a:ext cx="5629275" cy="257175"/>
          </a:xfrm>
          <a:prstGeom prst="rect"/>
        </p:spPr>
        <p:txBody>
          <a:bodyPr wrap="none" lIns="0" tIns="0" rIns="0" bIns="0"/>
          <a:p>
            <a:pPr>
              <a:lnSpc>
                <a:spcPct val="155000"/>
              </a:lnSpc>
            </a:pPr>
            <a:r>
              <a:rPr lang="en-US" sz="1050">
                <a:solidFill>
                  <a:srgbClr val="C7D2E0"/>
                </a:solidFill>
                <a:latin typeface="JetBrains Mono"/>
                <a:ea typeface="JetBrains Mono"/>
              </a:rPr>
              <a:t>browser_check.mjs</a:t>
            </a:r>
            <a:r>
              <a:rPr lang="en-US" sz="1050">
                <a:solidFill>
                  <a:srgbClr val="C7D2E0"/>
                </a:solidFill>
                <a:latin typeface="JetBrains Mono"/>
                <a:ea typeface="JetBrains Mono"/>
              </a:rPr>
              <a:t xml:space="preserve">  </a:t>
            </a:r>
            <a:r>
              <a:rPr lang="en-US" sz="1050">
                <a:solidFill>
                  <a:srgbClr val="FFFFFF">
                    <a:alpha val="50000"/>
                  </a:srgbClr>
                </a:solidFill>
                <a:latin typeface="JetBrains Mono"/>
                <a:ea typeface="JetBrains Mono"/>
              </a:rPr>
              <a:t>31 / 31 in the earlier recorded browser check</a:t>
            </a:r>
            <a:endParaRPr/>
          </a:p>
        </p:txBody>
      </p:sp>
      <p:sp>
        <p:nvSpPr>
          <p:cNvPr id="162" name="" descr="{&quot;isTemplate&quot;:true,&quot;type&quot;:&quot;text&quot;}"/>
          <p:cNvSpPr txBox="1"/>
          <p:nvPr/>
        </p:nvSpPr>
        <p:spPr>
          <a:xfrm rot="0" flipH="0" flipV="0">
            <a:off x="685800" y="6010275"/>
            <a:ext cx="2571750" cy="161925"/>
          </a:xfrm>
          <a:prstGeom prst="rect"/>
        </p:spPr>
        <p:txBody>
          <a:bodyPr wrap="none" lIns="0" tIns="0" rIns="0" bIns="0"/>
          <a:p>
            <a:pPr>
              <a:lnSpc>
                <a:spcPct val="100000"/>
              </a:lnSpc>
            </a:pPr>
            <a:r>
              <a:rPr lang="en-US" sz="1050">
                <a:solidFill>
                  <a:srgbClr val="FFFFFF">
                    <a:alpha val="45000"/>
                  </a:srgbClr>
                </a:solidFill>
                <a:latin typeface="Inter"/>
                <a:ea typeface="Inter"/>
              </a:rPr>
              <a:t>Training Failure Triage, AI Builder Cup 2026</a:t>
            </a:r>
            <a:endParaRPr/>
          </a:p>
        </p:txBody>
      </p:sp>
      <p:sp>
        <p:nvSpPr>
          <p:cNvPr id="163" name="" descr="{&quot;isTemplate&quot;:true,&quot;type&quot;:&quot;text&quot;}"/>
          <p:cNvSpPr txBox="1"/>
          <p:nvPr/>
        </p:nvSpPr>
        <p:spPr>
          <a:xfrm rot="0" flipH="0" flipV="0">
            <a:off x="10934700" y="6010275"/>
            <a:ext cx="571500" cy="161925"/>
          </a:xfrm>
          <a:prstGeom prst="rect"/>
        </p:spPr>
        <p:txBody>
          <a:bodyPr wrap="none" lIns="0" tIns="0" rIns="0" bIns="0"/>
          <a:p>
            <a:pPr>
              <a:lnSpc>
                <a:spcPct val="100000"/>
              </a:lnSpc>
            </a:pPr>
            <a:r>
              <a:rPr lang="en-US" sz="1050">
                <a:solidFill>
                  <a:srgbClr val="FFFFFF">
                    <a:alpha val="45000"/>
                  </a:srgbClr>
                </a:solidFill>
                <a:latin typeface="JetBrains Mono"/>
                <a:ea typeface="JetBrains Mono"/>
              </a:rPr>
              <a:t>15 / 15</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2026-10-15T13:33:56Z</dcterms:created>
  <dcterms:modified xsi:type="dcterms:W3CDTF">2026-10-15T13:33:56Z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{"AIGC":{"Label":"1","ContentProducer":"00119111010856365494821B355","ProduceID":"01a13ae58f427ce48d3212ea1aeeb4d4","ReservedCode1":"","ContentPropagator":"00119111010856365494821B355","PropagateID":"01a13ae58f427ce48d3212ea1aeeb4d4","ReservedCode2":""}}</vt:lpwstr>
  </property>
</Properties>
</file>