
<file path=[Content_Types].xml><?xml version="1.0" encoding="utf-8"?>
<Types xmlns="http://schemas.openxmlformats.org/package/2006/content-types">
  <Default Extension="svg" ContentType="image/svg+xml"/>
  <Default Extension="png" ContentType="image/png"/>
  <Default Extension="xml" ContentType="application/xml"/>
  <Default Extension="rels" ContentType="application/vnd.openxmlformats-package.relationships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docProps/core.xml" ContentType="application/vnd.openxmlformats-package.core-properties+xml"/>
  <Override PartName="/ppt/slides/slide3.xml" ContentType="application/vnd.openxmlformats-officedocument.presentationml.slide+xml"/>
  <Override PartName="/ppt/theme/theme2.xml" ContentType="application/vnd.openxmlformats-officedocument.them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viewProps.xml" ContentType="application/vnd.openxmlformats-officedocument.presentationml.view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s/slide14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1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6" Type="http://schemas.openxmlformats.org/officeDocument/2006/relationships/slide" Target="slides/slide6.xml" /><Relationship Id="rId5" Type="http://schemas.openxmlformats.org/officeDocument/2006/relationships/slide" Target="slides/slide5.xml" /><Relationship Id="rId4" Type="http://schemas.openxmlformats.org/officeDocument/2006/relationships/slide" Target="slides/slide4.xml" /><Relationship Id="rId7" Type="http://schemas.openxmlformats.org/officeDocument/2006/relationships/slide" Target="slides/slide7.xml" /><Relationship Id="rId2" Type="http://schemas.openxmlformats.org/officeDocument/2006/relationships/slide" Target="slides/slide2.xml" /><Relationship Id="rId12" Type="http://schemas.openxmlformats.org/officeDocument/2006/relationships/slide" Target="slides/slide12.xml" /><Relationship Id="rId18" Type="http://schemas.openxmlformats.org/officeDocument/2006/relationships/viewProps" Target="viewProps.xml" /><Relationship Id="rId16" Type="http://schemas.openxmlformats.org/officeDocument/2006/relationships/presProps" Target="presProps.xml" /><Relationship Id="rId3" Type="http://schemas.openxmlformats.org/officeDocument/2006/relationships/slide" Target="slides/slide3.xml" /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8" Type="http://schemas.openxmlformats.org/officeDocument/2006/relationships/slide" Target="slides/slide8.xml" /><Relationship Id="rId17" Type="http://schemas.openxmlformats.org/officeDocument/2006/relationships/tableStyles" Target="tableStyles.xml" /><Relationship Id="rId15" Type="http://schemas.openxmlformats.org/officeDocument/2006/relationships/notesMaster" Target="notesMasters/notesMaster1.xml" /><Relationship Id="rId9" Type="http://schemas.openxmlformats.org/officeDocument/2006/relationships/slide" Target="slides/slide9.xml" /><Relationship Id="rId1" Type="http://schemas.openxmlformats.org/officeDocument/2006/relationships/slide" Target="slides/slide1.xml" /><Relationship Id="rId14" Type="http://schemas.openxmlformats.org/officeDocument/2006/relationships/slide" Target="slides/slide14.xml" /><Relationship Id="rId13" Type="http://schemas.openxmlformats.org/officeDocument/2006/relationships/slide" Target="slides/slide13.xml" /><Relationship Id="rId11" Type="http://schemas.openxmlformats.org/officeDocument/2006/relationships/slide" Target="slides/slide1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2" Type="http://schemas.openxmlformats.org/officeDocument/2006/relationships/image" Target="media/image7.png" /><Relationship Id="rId1" Type="http://schemas.openxmlformats.org/officeDocument/2006/relationships/image" Target="media/image6.png" /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8.pn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9.pn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10.pn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2.pn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4.pn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slide1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62000">
                <a:srgbClr val="131E33"/>
              </a:gs>
              <a:gs pos="100000">
                <a:srgbClr val="0B1220"/>
              </a:gs>
            </a:gsLst>
            <a:lin ang="4200000" scaled="1"/>
          </a:gradFill>
          <a:ln/>
        </p:spPr>
        <p:txBody>
          <a:bodyPr/>
          <a:p>
            <a:pPr/>
            <a:endParaRPr/>
          </a:p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685800"/>
            <a:ext cx="10820400" cy="5486400"/>
          </a:xfrm>
          <a:prstGeom prst="rect">
            <a:avLst/>
          </a:prstGeom>
          <a:ln/>
        </p:spPr>
      </p:pic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467600" y="1390650"/>
            <a:ext cx="4038600" cy="2057400"/>
          </a:xfrm>
          <a:prstGeom prst="rect"/>
        </p:spPr>
        <p:txBody>
          <a:bodyPr wrap="none" lIns="0" tIns="0" rIns="0" bIns="0"/>
          <a:p>
            <a:pPr>
              <a:lnSpc>
                <a:spcPct val="102000"/>
              </a:lnSpc>
            </a:pPr>
            <a:r>
              <a:rPr lang="en-US" sz="13200" b="1">
                <a:solidFill>
                  <a:srgbClr val="2F6BFF">
                    <a:alpha val="17000"/>
                  </a:srgbClr>
                </a:solidFill>
                <a:latin typeface="JetBrains Mono"/>
                <a:ea typeface="JetBrains Mono"/>
              </a:rPr>
              <a:t>11 /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9486900" y="3448050"/>
            <a:ext cx="2019300" cy="2057400"/>
          </a:xfrm>
          <a:prstGeom prst="rect"/>
        </p:spPr>
        <p:txBody>
          <a:bodyPr wrap="none" lIns="0" tIns="0" rIns="0" bIns="0"/>
          <a:p>
            <a:pPr>
              <a:lnSpc>
                <a:spcPct val="102000"/>
              </a:lnSpc>
            </a:pPr>
            <a:r>
              <a:rPr lang="en-US" sz="13200" b="1">
                <a:solidFill>
                  <a:srgbClr val="2F6BFF">
                    <a:alpha val="17000"/>
                  </a:srgbClr>
                </a:solidFill>
                <a:latin typeface="JetBrains Mono"/>
                <a:ea typeface="JetBrains Mono"/>
              </a:rPr>
              <a:t>14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85800" y="1028700"/>
            <a:ext cx="7524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F6BFF"/>
                </a:solidFill>
                <a:latin typeface="JetBrains Mono"/>
                <a:ea typeface="JetBrains Mono"/>
              </a:rPr>
              <a:t>AI BUILDER CUP 2026 · JAPAC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1400175"/>
            <a:ext cx="7524750" cy="942975"/>
          </a:xfrm>
          <a:prstGeom prst="rect"/>
        </p:spPr>
        <p:txBody>
          <a:bodyPr wrap="none" lIns="0" tIns="0" rIns="0" bIns="0"/>
          <a:p>
            <a:pPr>
              <a:lnSpc>
                <a:spcPct val="108000"/>
              </a:lnSpc>
            </a:pPr>
            <a:r>
              <a:rPr lang="en-US" sz="5700" b="1">
                <a:solidFill>
                  <a:srgbClr val="FFFFFF"/>
                </a:solidFill>
                <a:latin typeface="Inter"/>
                <a:ea typeface="Inter"/>
              </a:rPr>
              <a:t>Training Failure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2552700"/>
            <a:ext cx="7524750" cy="942975"/>
          </a:xfrm>
          <a:prstGeom prst="rect"/>
        </p:spPr>
        <p:txBody>
          <a:bodyPr wrap="none" lIns="0" tIns="0" rIns="0" bIns="0"/>
          <a:p>
            <a:pPr>
              <a:lnSpc>
                <a:spcPct val="108000"/>
              </a:lnSpc>
            </a:pPr>
            <a:r>
              <a:rPr lang="en-US" sz="5700" b="1">
                <a:solidFill>
                  <a:srgbClr val="FFFFFF"/>
                </a:solidFill>
                <a:latin typeface="Inter"/>
                <a:ea typeface="Inter"/>
              </a:rPr>
              <a:t>Triage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85800" y="3800475"/>
            <a:ext cx="914400" cy="28575"/>
          </a:xfrm>
          <a:prstGeom prst="rect">
            <a:avLst/>
          </a:prstGeom>
          <a:solidFill>
            <a:srgbClr val="2F6B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4038600"/>
            <a:ext cx="68580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2000"/>
              </a:lnSpc>
            </a:pPr>
            <a:r>
              <a:rPr lang="en-US" sz="1500">
                <a:solidFill>
                  <a:srgbClr val="94A3B8"/>
                </a:solidFill>
                <a:latin typeface="Inter"/>
                <a:ea typeface="Inter"/>
              </a:rPr>
              <a:t xml:space="preserve">A training job fails. The task is to decide </a:t>
            </a:r>
            <a:r>
              <a:rPr lang="en-US" sz="1500">
                <a:solidFill>
                  <a:srgbClr val="E2E8F0"/>
                </a:solidFill>
                <a:latin typeface="Inter"/>
                <a:ea typeface="Inter"/>
              </a:rPr>
              <a:t>whether the fault is in the software or in the card</a:t>
            </a:r>
            <a:r>
              <a:rPr lang="en-US" sz="1500">
                <a:solidFill>
                  <a:srgbClr val="94A3B8"/>
                </a:solidFill>
                <a:latin typeface="Inter"/>
                <a:ea typeface="Inter"/>
              </a:rPr>
              <a:t>, and to show the evidence the decision rests on.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685800" y="5105400"/>
            <a:ext cx="647700" cy="295275"/>
          </a:xfrm>
          <a:prstGeom prst="roundRect">
            <a:avLst>
              <a:gd name="adj" fmla="val 16129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3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809625" y="5172075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7D2E0"/>
                </a:solidFill>
                <a:latin typeface="Inter"/>
                <a:ea typeface="Inter"/>
              </a:rPr>
              <a:t>Detect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1428750" y="5105400"/>
            <a:ext cx="1238250" cy="295275"/>
          </a:xfrm>
          <a:prstGeom prst="roundRect">
            <a:avLst>
              <a:gd name="adj" fmla="val 16129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3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552575" y="5172075"/>
            <a:ext cx="990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7D2E0"/>
                </a:solidFill>
                <a:latin typeface="Inter"/>
                <a:ea typeface="Inter"/>
              </a:rPr>
              <a:t>Collect evidence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2762250" y="5105400"/>
            <a:ext cx="1228725" cy="295275"/>
          </a:xfrm>
          <a:prstGeom prst="roundRect">
            <a:avLst>
              <a:gd name="adj" fmla="val 16129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3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2886075" y="5172075"/>
            <a:ext cx="9810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7D2E0"/>
                </a:solidFill>
                <a:latin typeface="Inter"/>
                <a:ea typeface="Inter"/>
              </a:rPr>
              <a:t>Diagnose &amp; plan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4086225" y="5105400"/>
            <a:ext cx="1323975" cy="295275"/>
          </a:xfrm>
          <a:prstGeom prst="roundRect">
            <a:avLst>
              <a:gd name="adj" fmla="val 16129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FFFFFF">
                <a:alpha val="13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4210050" y="5172075"/>
            <a:ext cx="1076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7D2E0"/>
                </a:solidFill>
                <a:latin typeface="Inter"/>
                <a:ea typeface="Inter"/>
              </a:rPr>
              <a:t>Act · notify · verify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85800" y="5610225"/>
            <a:ext cx="68580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FFFFFF">
                    <a:alpha val="42000"/>
                  </a:srgbClr>
                </a:solidFill>
                <a:latin typeface="JetBrains Mono"/>
                <a:ea typeface="JetBrains Mono"/>
              </a:rPr>
              <a:t>11 / 14 above = the rule baseline's score on the 14-case library (chapter 03)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85800" y="6010275"/>
            <a:ext cx="2409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52000"/>
                  </a:srgbClr>
                </a:solidFill>
                <a:latin typeface="JetBrains Mono"/>
                <a:ea typeface="JetBrains Mono"/>
              </a:rPr>
              <a:t>gpu-waste-auditor-2026.web.app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9734550" y="6010275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52000"/>
                  </a:srgbClr>
                </a:solidFill>
                <a:latin typeface="Inter"/>
                <a:ea typeface="Inter"/>
              </a:rPr>
              <a:t>Sustainability &amp; Social Impact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333625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0B1220"/>
                </a:solidFill>
                <a:latin typeface="Inter"/>
                <a:ea typeface="Inter"/>
              </a:rPr>
              <a:t>Three chapters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0934700" y="809625"/>
            <a:ext cx="5715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Roadmap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685800" y="1047750"/>
            <a:ext cx="28575" cy="590550"/>
          </a:xfrm>
          <a:prstGeom prst="rect">
            <a:avLst/>
          </a:prstGeom>
          <a:solidFill>
            <a:srgbClr val="2F6B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85800" y="1809750"/>
            <a:ext cx="3238500" cy="762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650" b="1">
                <a:solidFill>
                  <a:srgbClr val="0B1220"/>
                </a:solidFill>
                <a:latin typeface="Inter"/>
                <a:ea typeface="Inter"/>
              </a:rPr>
              <a:t>Each chapter ends on a number you can rerun.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85800" y="2743200"/>
            <a:ext cx="323850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64748B"/>
                </a:solidFill>
                <a:latin typeface="Inter"/>
                <a:ea typeface="Inter"/>
              </a:rPr>
              <a:t>A benchmark score, a tool-call count, an operation log. Where a number was never measured, the page shows a blank instead of a plausible value.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685800" y="4143375"/>
            <a:ext cx="32385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detect → collect evidence → diagnose &amp; plan → act, notify, verify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305300" y="1047750"/>
            <a:ext cx="7200900" cy="1714500"/>
          </a:xfrm>
          <a:custGeom>
            <a:pathLst>
              <a:path w="756" h="180">
                <a:moveTo>
                  <a:pt x="0" y="179"/>
                </a:moveTo>
                <a:lnTo>
                  <a:pt x="756" y="179"/>
                </a:lnTo>
                <a:lnTo>
                  <a:pt x="756" y="180"/>
                </a:lnTo>
                <a:lnTo>
                  <a:pt x="0" y="180"/>
                </a:lnTo>
                <a:close/>
              </a:path>
            </a:pathLst>
          </a:custGeom>
          <a:solidFill>
            <a:srgbClr val="E6EBF3"/>
          </a:solidFill>
          <a:ln/>
        </p:spPr>
        <p:txBody>
          <a:bodyPr/>
          <a:p>
            <a:pPr/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4305300" y="1676400"/>
            <a:ext cx="7048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2F6BFF"/>
                </a:solidFill>
                <a:latin typeface="JetBrains Mono"/>
                <a:ea typeface="JetBrains Mono"/>
              </a:rPr>
              <a:t>01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238750" y="1543050"/>
            <a:ext cx="5467350" cy="4191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950" b="1">
                <a:solidFill>
                  <a:srgbClr val="0B1220"/>
                </a:solidFill>
                <a:latin typeface="Inter"/>
                <a:ea typeface="Inter"/>
              </a:rPr>
              <a:t>The problem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5238750" y="2000250"/>
            <a:ext cx="54673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64748B"/>
                </a:solidFill>
                <a:latin typeface="Inter"/>
                <a:ea typeface="Inter"/>
              </a:rPr>
              <a:t>One error code, two opposite readings, both expensive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10934700" y="1819275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03 – 05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4305300" y="2762250"/>
            <a:ext cx="7200900" cy="1714500"/>
          </a:xfrm>
          <a:custGeom>
            <a:pathLst>
              <a:path w="756" h="180">
                <a:moveTo>
                  <a:pt x="0" y="179"/>
                </a:moveTo>
                <a:lnTo>
                  <a:pt x="756" y="179"/>
                </a:lnTo>
                <a:lnTo>
                  <a:pt x="756" y="180"/>
                </a:lnTo>
                <a:lnTo>
                  <a:pt x="0" y="180"/>
                </a:lnTo>
                <a:close/>
              </a:path>
            </a:pathLst>
          </a:custGeom>
          <a:solidFill>
            <a:srgbClr val="E6EBF3"/>
          </a:solidFill>
          <a:ln/>
        </p:spPr>
        <p:txBody>
          <a:bodyPr/>
          <a:p>
            <a:pPr/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4305300" y="3390900"/>
            <a:ext cx="7048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2F6BFF"/>
                </a:solidFill>
                <a:latin typeface="JetBrains Mono"/>
                <a:ea typeface="JetBrains Mono"/>
              </a:rPr>
              <a:t>02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5238750" y="3257550"/>
            <a:ext cx="5467350" cy="4191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950" b="1">
                <a:solidFill>
                  <a:srgbClr val="0B1220"/>
                </a:solidFill>
                <a:latin typeface="Inter"/>
                <a:ea typeface="Inter"/>
              </a:rPr>
              <a:t>What we built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5238750" y="3714750"/>
            <a:ext cx="54673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64748B"/>
                </a:solidFill>
                <a:latin typeface="Inter"/>
                <a:ea typeface="Inter"/>
              </a:rPr>
              <a:t>The agent reads the cluster, decides, acts, then reads back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10934700" y="3533775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06 – 10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305300" y="5105400"/>
            <a:ext cx="7048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2F6BFF"/>
                </a:solidFill>
                <a:latin typeface="JetBrains Mono"/>
                <a:ea typeface="JetBrains Mono"/>
              </a:rPr>
              <a:t>03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5238750" y="4972050"/>
            <a:ext cx="5467350" cy="4191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950" b="1">
                <a:solidFill>
                  <a:srgbClr val="0B1220"/>
                </a:solidFill>
                <a:latin typeface="Inter"/>
                <a:ea typeface="Inter"/>
              </a:rPr>
              <a:t>Evidence &amp; boundaries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5238750" y="5429250"/>
            <a:ext cx="54673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64748B"/>
                </a:solidFill>
                <a:latin typeface="Inter"/>
                <a:ea typeface="Inter"/>
              </a:rPr>
              <a:t>The rule baseline scores 11 of 14; the 3 misses are listed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10934700" y="5257800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11 – 14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85800" y="6381750"/>
            <a:ext cx="2609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Training Failure Triage · AI Builder Cup 2026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10934700" y="6381750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02 / 14</a:t>
            </a:r>
            <a:endParaRPr/>
          </a:p>
        </p:txBody>
      </p:sp>
    </p:spTree>
  </p:cSld>
</p:sld>
</file>

<file path=ppt/slides/slide3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62000">
                <a:srgbClr val="131E33"/>
              </a:gs>
              <a:gs pos="100000">
                <a:srgbClr val="0B1220"/>
              </a:gs>
            </a:gsLst>
            <a:lin ang="4200000" scaled="1"/>
          </a:gradFill>
          <a:ln/>
        </p:spPr>
        <p:txBody>
          <a:bodyPr/>
          <a:p>
            <a:pPr/>
            <a:endParaRPr/>
          </a:p>
        </p:txBody>
      </p:sp>
      <p:pic>
        <p:nvPicPr>
          <p:cNvPr id="1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685800"/>
            <a:ext cx="10820400" cy="5486400"/>
          </a:xfrm>
          <a:prstGeom prst="rect">
            <a:avLst/>
          </a:prstGeom>
          <a:ln/>
        </p:spPr>
      </p:pic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058150" y="1809750"/>
            <a:ext cx="3448050" cy="3429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0" b="1">
                <a:solidFill>
                  <a:srgbClr val="E5484D">
                    <a:alpha val="15000"/>
                  </a:srgbClr>
                </a:solidFill>
                <a:latin typeface="JetBrains Mono"/>
                <a:ea typeface="JetBrains Mono"/>
              </a:rPr>
              <a:t>94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85800" y="1800225"/>
            <a:ext cx="781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F6BFF"/>
                </a:solidFill>
                <a:latin typeface="JetBrains Mono"/>
                <a:ea typeface="JetBrains Mono"/>
              </a:rPr>
              <a:t>CHAPTER 01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85800" y="2133600"/>
            <a:ext cx="7810500" cy="80962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800" b="1">
                <a:solidFill>
                  <a:srgbClr val="FFFFFF"/>
                </a:solidFill>
                <a:latin typeface="Inter"/>
                <a:ea typeface="Inter"/>
              </a:rPr>
              <a:t>The problem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685800" y="3114675"/>
            <a:ext cx="7810500" cy="4191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800">
                <a:solidFill>
                  <a:srgbClr val="94A3B8"/>
                </a:solidFill>
                <a:latin typeface="Inter"/>
                <a:ea typeface="Inter"/>
              </a:rPr>
              <a:t>The same error code, two opposite mistakes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685800" y="3838575"/>
            <a:ext cx="838200" cy="28575"/>
          </a:xfrm>
          <a:prstGeom prst="rect">
            <a:avLst/>
          </a:prstGeom>
          <a:solidFill>
            <a:srgbClr val="FFFFFF">
              <a:alpha val="28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85800" y="4038600"/>
            <a:ext cx="7239000" cy="1019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350">
                <a:solidFill>
                  <a:srgbClr val="C7D2E0"/>
                </a:solidFill>
                <a:latin typeface="Inter"/>
                <a:ea typeface="Inter"/>
              </a:rPr>
              <a:t>Calling a dying card healthy burns weeks of compute on it. Calling a healthy card dying pulls a working GPU out of the pool. Both are expensive, and telling the two apart is the whole problem.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10934700" y="6010275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45000"/>
                  </a:srgbClr>
                </a:solidFill>
                <a:latin typeface="JetBrains Mono"/>
                <a:ea typeface="JetBrains Mono"/>
              </a:rPr>
              <a:t>03 / 14</a:t>
            </a:r>
            <a:endParaRPr/>
          </a:p>
        </p:txBody>
      </p:sp>
    </p:spTree>
  </p:cSld>
</p:sld>
</file>

<file path=ppt/slides/slide4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72075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0B1220"/>
                </a:solidFill>
                <a:latin typeface="Inter"/>
                <a:ea typeface="Inter"/>
              </a:rPr>
              <a:t>One code, two opposite mistakes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9658350" y="809625"/>
            <a:ext cx="18478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Xid taxonomy · 24 codes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85800" y="1743075"/>
            <a:ext cx="6286500" cy="228600"/>
          </a:xfrm>
          <a:prstGeom prst="rect"/>
        </p:spPr>
        <p:txBody>
          <a:bodyPr wrap="none" lIns="0" tIns="0" rIns="0" bIns="0"/>
          <a:p>
            <a:pPr algn="ctr">
              <a:lnSpc>
                <a:spcPct val="150000"/>
              </a:lnSpc>
            </a:pPr>
            <a:r>
              <a:rPr lang="en-US" sz="975">
                <a:solidFill>
                  <a:srgbClr val="64748B"/>
                </a:solidFill>
                <a:latin typeface="Inter"/>
                <a:ea typeface="Inter"/>
              </a:rPr>
              <a:t>the operator sees exactly this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3276600" y="2047875"/>
            <a:ext cx="1104900" cy="409575"/>
          </a:xfrm>
          <a:prstGeom prst="roundRect">
            <a:avLst>
              <a:gd name="adj" fmla="val 13953"/>
            </a:avLst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3448050" y="2124075"/>
            <a:ext cx="762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JetBrains Mono"/>
                <a:ea typeface="JetBrains Mono"/>
              </a:rPr>
              <a:t>Xid 94</a:t>
            </a:r>
            <a:endParaRPr/>
          </a:p>
        </p:txBody>
      </p:sp>
      <p:pic>
        <p:nvPicPr>
          <p:cNvPr id="1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2457450"/>
            <a:ext cx="6286500" cy="742950"/>
          </a:xfrm>
          <a:prstGeom prst="rect">
            <a:avLst/>
          </a:prstGeom>
          <a:ln/>
        </p:spPr>
      </p:pic>
      <p:sp>
        <p:nvSpPr>
          <p:cNvPr id="169" name=""/>
          <p:cNvSpPr/>
          <p:nvPr/>
        </p:nvSpPr>
        <p:spPr>
          <a:xfrm rot="0" flipH="0" flipV="0">
            <a:off x="723900" y="3200400"/>
            <a:ext cx="3200400" cy="2343150"/>
          </a:xfrm>
          <a:prstGeom prst="roundRect">
            <a:avLst>
              <a:gd name="adj" fmla="val 3252"/>
            </a:avLst>
          </a:prstGeom>
          <a:solidFill>
            <a:srgbClr val="FDF3F3"/>
          </a:solidFill>
          <a:ln/>
        </p:spPr>
        <p:txBody>
          <a:bodyPr/>
          <a:p>
            <a:pPr/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723900" y="3200400"/>
            <a:ext cx="3200400" cy="2343150"/>
          </a:xfrm>
          <a:custGeom>
            <a:pathLst>
              <a:path w="336" h="2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242"/>
                </a:lnTo>
                <a:cubicBezTo>
                  <a:pt x="4" y="244"/>
                  <a:pt x="5" y="246"/>
                  <a:pt x="7" y="246"/>
                </a:cubicBezTo>
                <a:cubicBezTo>
                  <a:pt x="3" y="246"/>
                  <a:pt x="0" y="242"/>
                  <a:pt x="0" y="2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E5484D"/>
          </a:solidFill>
          <a:ln/>
        </p:spPr>
        <p:txBody>
          <a:bodyPr/>
          <a:p>
            <a:pPr/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95350" y="3371850"/>
            <a:ext cx="285750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425" b="1">
                <a:solidFill>
                  <a:srgbClr val="0B1220"/>
                </a:solidFill>
                <a:latin typeface="Inter"/>
                <a:ea typeface="Inter"/>
              </a:rPr>
              <a:t>Read as hardware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95350" y="3752850"/>
            <a:ext cx="28575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1A2434"/>
                </a:solidFill>
                <a:latin typeface="JetBrains Mono"/>
                <a:ea typeface="JetBrains Mono"/>
              </a:rPr>
              <a:t>cordon · file the RMA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895350" y="4124325"/>
            <a:ext cx="2857500" cy="9525"/>
          </a:xfrm>
          <a:prstGeom prst="rect">
            <a:avLst/>
          </a:prstGeom>
          <a:solidFill>
            <a:srgbClr val="E9C4C6"/>
          </a:solidFill>
          <a:ln/>
        </p:spPr>
        <p:txBody>
          <a:bodyPr/>
          <a:p>
            <a:pPr/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895350" y="4248150"/>
            <a:ext cx="28575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64748B"/>
                </a:solidFill>
                <a:latin typeface="Inter"/>
                <a:ea typeface="Inter"/>
              </a:rPr>
              <a:t>Cost: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895350" y="4514850"/>
            <a:ext cx="28575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 b="1">
                <a:solidFill>
                  <a:srgbClr val="E5484D"/>
                </a:solidFill>
                <a:latin typeface="Inter"/>
                <a:ea typeface="Inter"/>
              </a:rPr>
              <a:t>a healthy card is offline for weeks, and the capacity is gone with it.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4152900" y="3200400"/>
            <a:ext cx="2819400" cy="2343150"/>
          </a:xfrm>
          <a:prstGeom prst="roundRect">
            <a:avLst>
              <a:gd name="adj" fmla="val 3252"/>
            </a:avLst>
          </a:prstGeom>
          <a:solidFill>
            <a:srgbClr val="F1F4FA"/>
          </a:solidFill>
          <a:ln/>
        </p:spPr>
        <p:txBody>
          <a:bodyPr/>
          <a:p>
            <a:pPr/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4152900" y="3200400"/>
            <a:ext cx="2819400" cy="2343150"/>
          </a:xfrm>
          <a:custGeom>
            <a:pathLst>
              <a:path w="296" h="246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242"/>
                </a:lnTo>
                <a:cubicBezTo>
                  <a:pt x="4" y="244"/>
                  <a:pt x="5" y="246"/>
                  <a:pt x="7" y="246"/>
                </a:cubicBezTo>
                <a:cubicBezTo>
                  <a:pt x="3" y="246"/>
                  <a:pt x="0" y="242"/>
                  <a:pt x="0" y="23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2F6B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4324350" y="3371850"/>
            <a:ext cx="247650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425" b="1">
                <a:solidFill>
                  <a:srgbClr val="0B1220"/>
                </a:solidFill>
                <a:latin typeface="Inter"/>
                <a:ea typeface="Inter"/>
              </a:rPr>
              <a:t>Read as software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4324350" y="3752850"/>
            <a:ext cx="24765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050">
                <a:solidFill>
                  <a:srgbClr val="1A2434"/>
                </a:solidFill>
                <a:latin typeface="JetBrains Mono"/>
                <a:ea typeface="JetBrains Mono"/>
              </a:rPr>
              <a:t>retry · move on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4324350" y="4124325"/>
            <a:ext cx="2476500" cy="9525"/>
          </a:xfrm>
          <a:prstGeom prst="rect">
            <a:avLst/>
          </a:prstGeom>
          <a:solidFill>
            <a:srgbClr val="CBD8EC"/>
          </a:solidFill>
          <a:ln/>
        </p:spPr>
        <p:txBody>
          <a:bodyPr/>
          <a:p>
            <a:pPr/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4324350" y="4248150"/>
            <a:ext cx="247650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64748B"/>
                </a:solidFill>
                <a:latin typeface="Inter"/>
                <a:ea typeface="Inter"/>
              </a:rPr>
              <a:t>Cost: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4324350" y="4514850"/>
            <a:ext cx="24765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 b="1">
                <a:solidFill>
                  <a:srgbClr val="2F6BFF"/>
                </a:solidFill>
                <a:latin typeface="Inter"/>
                <a:ea typeface="Inter"/>
              </a:rPr>
              <a:t>you keep training on a degrading card until the error turns uncorrectable (Xid 95).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7315200" y="1504950"/>
            <a:ext cx="41910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500" b="1">
                <a:solidFill>
                  <a:srgbClr val="0B1220"/>
                </a:solidFill>
                <a:latin typeface="Inter"/>
                <a:ea typeface="Inter"/>
              </a:rPr>
              <a:t>Why the code cannot be the rule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7315200" y="2085975"/>
            <a:ext cx="57150" cy="57150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7486650" y="1990725"/>
            <a:ext cx="398145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2000"/>
              </a:lnSpc>
            </a:pPr>
            <a:r>
              <a:rPr lang="en-US" sz="1200">
                <a:solidFill>
                  <a:srgbClr val="1A2434"/>
                </a:solidFill>
                <a:latin typeface="Inter"/>
                <a:ea typeface="Inter"/>
              </a:rPr>
              <a:t>Xid 94 is a correctable ECC error. It tells you something went wrong; it does not tell you what to do.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7315200" y="28384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486650" y="2743200"/>
            <a:ext cx="398145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2000"/>
              </a:lnSpc>
            </a:pPr>
            <a:r>
              <a:rPr lang="en-US" sz="1200">
                <a:solidFill>
                  <a:srgbClr val="1A2434"/>
                </a:solidFill>
                <a:latin typeface="Inter"/>
                <a:ea typeface="Inter"/>
              </a:rPr>
              <a:t>What separates the two nodes is how often the code fired in 30 days, and whether correctable ECC is rising at the same time.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7315200" y="3886200"/>
            <a:ext cx="57150" cy="57150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7486650" y="3790950"/>
            <a:ext cx="398145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2000"/>
              </a:lnSpc>
            </a:pPr>
            <a:r>
              <a:rPr lang="en-US" sz="1200">
                <a:solidFill>
                  <a:srgbClr val="1A2434"/>
                </a:solidFill>
                <a:latin typeface="Inter"/>
                <a:ea typeface="Inter"/>
              </a:rPr>
              <a:t>A lookup table maps one code to one verdict. Comparing a count against a trend needs something that can hold two numbers at once.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7315200" y="4895850"/>
            <a:ext cx="4191000" cy="9525"/>
          </a:xfrm>
          <a:prstGeom prst="rect">
            <a:avLst/>
          </a:prstGeom>
          <a:solidFill>
            <a:srgbClr val="E6EBF3"/>
          </a:solidFill>
          <a:ln/>
        </p:spPr>
        <p:txBody>
          <a:bodyPr/>
          <a:p>
            <a:pPr/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7315200" y="5114925"/>
            <a:ext cx="41910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500" b="1">
                <a:solidFill>
                  <a:srgbClr val="0B1220"/>
                </a:solidFill>
                <a:latin typeface="Inter"/>
                <a:ea typeface="Inter"/>
              </a:rPr>
              <a:t>The code alone cannot choose between them. The 30-day trend can.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85800" y="6381750"/>
            <a:ext cx="2609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Training Failure Triage · AI Builder Cup 2026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0934700" y="6381750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04 / 14</a:t>
            </a:r>
            <a:endParaRPr/>
          </a:p>
        </p:txBody>
      </p:sp>
    </p:spTree>
  </p:cSld>
</p:sld>
</file>

<file path=ppt/slides/slide5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194" name="" descr="// 05 · 同一个码，相反的结论 —— 巨型数字 + 全宽证据条&#10;const FONT = 'Inter, &quot;Helvetica Neue&quot;, Arial, sans-serif';&#10;const MONO = '&quot;JetBrains Mono&quot;, &quot;SF Mono&quot;, Menlo, monospace';&#10;const INK = '#0B1220';&#10;const RED = '#E5484D';&#10;const GREEN = '#16B981';&#10;const DIM = '#64748B';&#10;const BODY = '#1A2434';&#10;&#10;const PAIR = [&#10;    {&#10;        big: '1', node: 'lyg2103', tint: 'rgba(22,185,129,0.07)', bar: GREEN, color: GREEN,&#10;        l1: 'Xid 94 in the last 30 days', l2: '1 correctable ECC event, flat', chip: 'hardware_watch · no RMA',&#10;    },&#10;    {&#10;        big: '53', node: 'lyg2112', tint: 'rgba(229,72,77,0.07)', bar: RED, color: RED,&#10;        l1: 'Xid 94 in the last 30 days', l2: '118 correctable ECC events, still rising', chip: 'hardware · RMA filed',&#10;    },&#10;];&#10;&#10;&lt;Slide style={{ width: 1280, height: 720, padding: '18px 72px', background: '#FFFFFF', fontFamily: FONT }}&gt;&#10;    &lt;Box style={{ width: 1136, height: 92, flexDirection: 'row', justifyContent: 'space-between', alignItems: 'flex-end' }}&gt;&#10;        &lt;Text style={{ fontSize: 34, fontWeight: 700, color: INK, lineHeight: 1.3 }}&gt;Same code. Opposite conclusions.&lt;/Text&gt;&#10;        &lt;Text style={{ fontFamily: MONO, fontSize: 14, color: DIM, lineHeight: 1.45 }}&gt;lyg2103 vs lyg2112 · 30-day window&lt;/Text&gt;&#10;    &lt;/Box&gt;&#10;&#10;    &lt;Box style={{ width: 1136, height: 544 }}&gt;&#10;&#10;        &lt;Box style={{ width: 1136, height: 175, flexDirection: 'row', gap: 24 }}&gt;&#10;            &lt;Box style={{ width: 489, padding: 16, borderRadius: 8, background: PAIR[0].tint, borderLeft: '4px solid ' + PAIR[0].bar, flexDirection: 'row', alignItems: 'center', gap: 18 }}&gt;&#10;                &lt;Text style={{ fontFamily: MONO, fontSize: 104, fontWeight: 700, color: PAIR[0].color, lineHeight: 1 }}&gt;{PAIR[0].big}&lt;/Text&gt;&#10;                &lt;Box style={{ gap: 4 }}&gt;&#10;                    &lt;Text style={{ fontFamily: MONO, fontSize: 18, fontWeight: 700, color: INK, lineHeight: 1.4 }}&gt;{PAIR[0].node}&lt;/Text&gt;&#10;                    &lt;Text style={{ fontSize: 14, color: DIM, lineHeight: 1.5 }}&gt;{PAIR[0].l1}&lt;/Text&gt;&#10;                    &lt;Text style={{ fontSize: 14, color: DIM, lineHeight: 1.5 }}&gt;{PAIR[0].l2}&lt;/Text&gt;&#10;                    &lt;Box style={{ marginTop: 6, paddingTop: 4, paddingBottom: 4, paddingLeft: 10, paddingRight: 10, borderRadius: 4, background: PAIR[0].bar }}&gt;&#10;                        &lt;Text style={{ fontFamily: MONO, fontSize: 13, color: '#FFFFFF' }}&gt;{PAIR[0].chip}&lt;/Text&gt;&#10;                    &lt;/Box&gt;&#10;                &lt;/Box&gt;&#10;            &lt;/Box&gt;&#10;&#10;            &lt;Box style={{ width: 623, padding: 16, borderRadius: 8, background: PAIR[1].tint, borderLeft: '4px solid ' + PAIR[1].bar, flexDirection: 'row', alignItems: 'center', gap: 18 }}&gt;&#10;                &lt;Text style={{ fontFamily: MONO, fontSize: 104, fontWeight: 700, color: PAIR[1].color, lineHeight: 1 }}&gt;{PAIR[1].big}&lt;/Text&gt;&#10;                &lt;Box style={{ gap: 4 }}&gt;&#10;                    &lt;Text style={{ fontFamily: MONO, fontSize: 18, fontWeight: 700, color: INK, lineHeight: 1.4 }}&gt;{PAIR[1].node}&lt;/Text&gt;&#10;                    &lt;Text style={{ fontSize: 14, color: DIM, lineHeight: 1.5 }}&gt;{PAIR[1].l1}&lt;/Text&gt;&#10;                    &lt;Text style={{ fontSize: 14, color: DIM, lineHeight: 1.5 }}&gt;{PAIR[1].l2}&lt;/Text&gt;&#10;                    &lt;Box style={{ marginTop: 6, paddingTop: 4, paddingBottom: 4, paddingLeft: 10, paddingRight: 10, borderRadius: 4, background: PAIR[1].bar }}&gt;&#10;                        &lt;Text style={{ fontFamily: MONO, fontSize: 13, color: '#FFFFFF' }}&gt;{PAIR[1].chip}&lt;/Text&gt;&#10;                    &lt;/Box&gt;&#10;                &lt;/Box&gt;&#10;            &lt;/Box&gt;&#10;        &lt;/Box&gt;&#10;&#10;        {/* 05 · 两行各自的裁图，中间明写省略了哪两行。&#10;            原来是「前五行」一张宽条 —— 那一版节点是并排的小卡片，五行只要 268px 高；&#10;            现在的值班页改成单栏后，每行要放名字 / 规格 / 状态 / 任务 / 异常信号，&#10;            五行有 551px 高，塞不进这个 3.85:1 的条里。&#10;            所以改成各裁一行、上下摆开，并**说清楚中间跳过了两行** ——&#10;            把 lyg2103 与 lyg2112 拼成相邻的两行，是拿画面造一个不存在的相邻关系。 */}&#10;        &lt;Box style={{ width: 1136, height: 291, marginTop: 16, alignItems: 'center' }}&gt;&#10;            &lt;Image src='assets/crop-node-lyg2103.png' style={{ width: 1120, height: 116, border: '1px solid #E9EDF4' }} /&gt;&#10;            &lt;Box style={{ width: 1120, height: 15, justifyContent: 'center' }}&gt;&#10;                &lt;Text style={{ fontSize: 11, color: DIM, lineHeight: 1.3 }}&gt;&#10;                    two rows in between (lyg2107, lyg2108), omitted — both rows above are from the same list&#10;                &lt;/Text&gt;&#10;            &lt;/Box&gt;&#10;            &lt;Image src='assets/crop-node-lyg2112.png' style={{ width: 1120, height: 158, border: '1px solid #E9EDF4' }} /&gt;&#10;        &lt;/Box&gt;&#10;&#10;        &lt;Box style={{ width: 1136, height: 46, marginTop: 16, justifyContent: 'center' }}&gt;&#10;            &lt;Text style={{ fontSize: 20, fontWeight: 600, color: BODY, lineHeight: 1.45 }}&gt;&#10;                Both nodes reported Xid 94. What separated them was &lt;span style={{ color: INK }}&gt;how often it fired, and whether the count was still climbing&lt;/span&gt;.&#10;            &lt;/Text&gt;&#10;        &lt;/Box&gt;&#10;&#10;    &lt;/Box&gt;&#10;&#10;    &lt;Box style={{ width: 1136, height: 48, flexDirection: 'row', justifyContent: 'space-between', alignItems: 'center' }}&gt;&#10;        &lt;Text style={{ fontSize: 14, color: DIM }}&gt;Both rows read live from the cluster tab, over the same 30-day window&lt;/Text&gt;&#10;        &lt;Text style={{ fontFamily: MONO, fontSize: 14, color: DIM }}&gt;05 / 14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362575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0B1220"/>
                </a:solidFill>
                <a:latin typeface="Inter"/>
                <a:ea typeface="Inter"/>
              </a:rPr>
              <a:t>Same code. Opposite conclusions.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8772525" y="809625"/>
            <a:ext cx="27336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lyg2103 vs lyg2112 · 30-day window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723900" y="1047750"/>
            <a:ext cx="4619625" cy="1666875"/>
          </a:xfrm>
          <a:prstGeom prst="roundRect">
            <a:avLst>
              <a:gd name="adj" fmla="val 4571"/>
            </a:avLst>
          </a:prstGeom>
          <a:solidFill>
            <a:srgbClr val="16B981">
              <a:alpha val="7000"/>
            </a:srgbClr>
          </a:solidFill>
          <a:ln/>
        </p:spPr>
        <p:txBody>
          <a:bodyPr/>
          <a:p/>
        </p:txBody>
      </p:sp>
      <p:sp>
        <p:nvSpPr>
          <p:cNvPr id="199" name=""/>
          <p:cNvSpPr/>
          <p:nvPr/>
        </p:nvSpPr>
        <p:spPr>
          <a:xfrm rot="0" flipH="0" flipV="0">
            <a:off x="723900" y="1047750"/>
            <a:ext cx="4619625" cy="1666875"/>
          </a:xfrm>
          <a:custGeom>
            <a:pathLst>
              <a:path w="485" h="175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71"/>
                </a:lnTo>
                <a:cubicBezTo>
                  <a:pt x="4" y="173"/>
                  <a:pt x="5" y="175"/>
                  <a:pt x="7" y="175"/>
                </a:cubicBezTo>
                <a:cubicBezTo>
                  <a:pt x="3" y="175"/>
                  <a:pt x="0" y="171"/>
                  <a:pt x="0" y="16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6B981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876300" y="1285875"/>
            <a:ext cx="600075" cy="11906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00" b="1">
                <a:solidFill>
                  <a:srgbClr val="16B981"/>
                </a:solidFill>
                <a:latin typeface="JetBrains Mono"/>
                <a:ea typeface="JetBrains Mono"/>
              </a:rPr>
              <a:t>1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647825" y="1285875"/>
            <a:ext cx="1914525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350" b="1">
                <a:solidFill>
                  <a:srgbClr val="0B1220"/>
                </a:solidFill>
                <a:latin typeface="JetBrains Mono"/>
                <a:ea typeface="JetBrains Mono"/>
              </a:rPr>
              <a:t>lyg2103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647825" y="1619250"/>
            <a:ext cx="19145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Xid 94 in the last 30 days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1647825" y="1905000"/>
            <a:ext cx="19145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1 correctable ECC event, flat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1647825" y="2247900"/>
            <a:ext cx="1914525" cy="228600"/>
          </a:xfrm>
          <a:prstGeom prst="roundRect">
            <a:avLst>
              <a:gd name="adj" fmla="val 16667"/>
            </a:avLst>
          </a:prstGeom>
          <a:solidFill>
            <a:srgbClr val="16B981"/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743075" y="2286000"/>
            <a:ext cx="1724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/>
                </a:solidFill>
                <a:latin typeface="JetBrains Mono"/>
                <a:ea typeface="JetBrains Mono"/>
              </a:rPr>
              <a:t>hardware_watch · no RMA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5610225" y="1047750"/>
            <a:ext cx="5895975" cy="1666875"/>
          </a:xfrm>
          <a:prstGeom prst="roundRect">
            <a:avLst>
              <a:gd name="adj" fmla="val 4571"/>
            </a:avLst>
          </a:prstGeom>
          <a:solidFill>
            <a:srgbClr val="E5484D">
              <a:alpha val="7000"/>
            </a:srgbClr>
          </a:solidFill>
          <a:ln/>
        </p:spPr>
        <p:txBody>
          <a:bodyPr/>
          <a:p/>
        </p:txBody>
      </p:sp>
      <p:sp>
        <p:nvSpPr>
          <p:cNvPr id="207" name=""/>
          <p:cNvSpPr/>
          <p:nvPr/>
        </p:nvSpPr>
        <p:spPr>
          <a:xfrm rot="0" flipH="0" flipV="0">
            <a:off x="5610225" y="1047750"/>
            <a:ext cx="5895975" cy="1666875"/>
          </a:xfrm>
          <a:custGeom>
            <a:pathLst>
              <a:path w="619" h="175">
                <a:moveTo>
                  <a:pt x="8" y="0"/>
                </a:moveTo>
                <a:cubicBezTo>
                  <a:pt x="6" y="0"/>
                  <a:pt x="4" y="2"/>
                  <a:pt x="4" y="4"/>
                </a:cubicBezTo>
                <a:lnTo>
                  <a:pt x="4" y="171"/>
                </a:lnTo>
                <a:cubicBezTo>
                  <a:pt x="4" y="173"/>
                  <a:pt x="5" y="175"/>
                  <a:pt x="7" y="175"/>
                </a:cubicBezTo>
                <a:cubicBezTo>
                  <a:pt x="3" y="175"/>
                  <a:pt x="0" y="171"/>
                  <a:pt x="0" y="16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E5484D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5762625" y="1285875"/>
            <a:ext cx="1200150" cy="11906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00" b="1">
                <a:solidFill>
                  <a:srgbClr val="E5484D"/>
                </a:solidFill>
                <a:latin typeface="JetBrains Mono"/>
                <a:ea typeface="JetBrains Mono"/>
              </a:rPr>
              <a:t>53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7134225" y="1285875"/>
            <a:ext cx="230505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350" b="1">
                <a:solidFill>
                  <a:srgbClr val="0B1220"/>
                </a:solidFill>
                <a:latin typeface="JetBrains Mono"/>
                <a:ea typeface="JetBrains Mono"/>
              </a:rPr>
              <a:t>lyg2112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7134225" y="1619250"/>
            <a:ext cx="23050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Xid 94 in the last 30 days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7134225" y="1905000"/>
            <a:ext cx="23050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118 correctable ECC events, still rising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7134225" y="2247900"/>
            <a:ext cx="2305050" cy="228600"/>
          </a:xfrm>
          <a:prstGeom prst="roundRect">
            <a:avLst>
              <a:gd name="adj" fmla="val 16667"/>
            </a:avLst>
          </a:prstGeom>
          <a:solidFill>
            <a:srgbClr val="E5484D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7229475" y="22860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FFFFFF"/>
                </a:solidFill>
                <a:latin typeface="JetBrains Mono"/>
                <a:ea typeface="JetBrains Mono"/>
              </a:rPr>
              <a:t>hardware · RMA filed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762000" y="2867025"/>
            <a:ext cx="10668000" cy="1104900"/>
          </a:xfrm>
          <a:prstGeom prst="rect">
            <a:avLst/>
          </a:prstGeom>
          <a:ln w="12700">
            <a:solidFill>
              <a:srgbClr val="E9EDF4"/>
            </a:solidFill>
            <a:prstDash val="solid"/>
          </a:ln>
        </p:spPr>
        <p:txBody>
          <a:bodyPr/>
          <a:p/>
        </p:txBody>
      </p:sp>
      <p:pic>
        <p:nvPicPr>
          <p:cNvPr id="215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762000" y="2867025"/>
            <a:ext cx="10668000" cy="1104900"/>
          </a:xfrm>
          <a:prstGeom prst="rect">
            <a:avLst/>
          </a:prstGeom>
          <a:ln/>
        </p:spPr>
      </p:pic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762000" y="39624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825">
                <a:solidFill>
                  <a:srgbClr val="64748B"/>
                </a:solidFill>
                <a:latin typeface="Inter"/>
                <a:ea typeface="Inter"/>
              </a:rPr>
              <a:t>two rows in between (lyg2107, lyg2108), omitted — both rows above are from the same list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762000" y="4114800"/>
            <a:ext cx="10668000" cy="1504950"/>
          </a:xfrm>
          <a:prstGeom prst="rect">
            <a:avLst/>
          </a:prstGeom>
          <a:ln w="12700">
            <a:solidFill>
              <a:srgbClr val="E9EDF4"/>
            </a:solidFill>
            <a:prstDash val="solid"/>
          </a:ln>
        </p:spPr>
        <p:txBody>
          <a:bodyPr/>
          <a:p/>
        </p:txBody>
      </p:sp>
      <p:pic>
        <p:nvPicPr>
          <p:cNvPr id="218" nam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0" flipH="0" flipV="0">
            <a:off x="762000" y="4114800"/>
            <a:ext cx="10668000" cy="1504950"/>
          </a:xfrm>
          <a:prstGeom prst="rect">
            <a:avLst/>
          </a:prstGeom>
          <a:ln/>
        </p:spPr>
      </p:pic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85800" y="5848350"/>
            <a:ext cx="108204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500" b="1">
                <a:solidFill>
                  <a:srgbClr val="1A2434"/>
                </a:solidFill>
                <a:latin typeface="Inter"/>
                <a:ea typeface="Inter"/>
              </a:rPr>
              <a:t xml:space="preserve">Both nodes reported Xid 94. What separated them was </a:t>
            </a:r>
            <a:r>
              <a:rPr lang="en-US" sz="1500" b="1">
                <a:solidFill>
                  <a:srgbClr val="0B1220"/>
                </a:solidFill>
                <a:latin typeface="Inter"/>
                <a:ea typeface="Inter"/>
              </a:rPr>
              <a:t>how often it fired, and whether the count was still climbing</a:t>
            </a:r>
            <a:r>
              <a:rPr lang="en-US" sz="1500" b="1">
                <a:solidFill>
                  <a:srgbClr val="1A2434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685800" y="6381750"/>
            <a:ext cx="421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Both rows read live from the cluster tab, over the same 30-day window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10934700" y="6381750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05 / 14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2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62000">
                <a:srgbClr val="131E33"/>
              </a:gs>
              <a:gs pos="100000">
                <a:srgbClr val="0B1220"/>
              </a:gs>
            </a:gsLst>
            <a:lin ang="4200000" scaled="1"/>
          </a:gradFill>
          <a:ln/>
        </p:spPr>
        <p:txBody>
          <a:bodyPr/>
          <a:p>
            <a:pPr/>
            <a:endParaRPr/>
          </a:p>
        </p:txBody>
      </p:sp>
      <p:pic>
        <p:nvPicPr>
          <p:cNvPr id="2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685800"/>
            <a:ext cx="10820400" cy="5486400"/>
          </a:xfrm>
          <a:prstGeom prst="rect">
            <a:avLst/>
          </a:prstGeom>
          <a:ln/>
        </p:spPr>
      </p:pic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8058150" y="1809750"/>
            <a:ext cx="3448050" cy="3429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0" b="1">
                <a:solidFill>
                  <a:srgbClr val="2F6BFF">
                    <a:alpha val="17000"/>
                  </a:srgbClr>
                </a:solidFill>
                <a:latin typeface="JetBrains Mono"/>
                <a:ea typeface="JetBrains Mono"/>
              </a:rPr>
              <a:t>17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85800" y="1800225"/>
            <a:ext cx="8001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F6BFF"/>
                </a:solidFill>
                <a:latin typeface="JetBrains Mono"/>
                <a:ea typeface="JetBrains Mono"/>
              </a:rPr>
              <a:t>CHAPTER 02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85800" y="2133600"/>
            <a:ext cx="8001000" cy="80962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800" b="1">
                <a:solidFill>
                  <a:srgbClr val="FFFFFF"/>
                </a:solidFill>
                <a:latin typeface="Inter"/>
                <a:ea typeface="Inter"/>
              </a:rPr>
              <a:t>What we built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85800" y="3114675"/>
            <a:ext cx="8001000" cy="4191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800">
                <a:solidFill>
                  <a:srgbClr val="94A3B8"/>
                </a:solidFill>
                <a:latin typeface="Inter"/>
                <a:ea typeface="Inter"/>
              </a:rPr>
              <a:t>An agent that runs a whole shift from a single click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685800" y="3838575"/>
            <a:ext cx="838200" cy="28575"/>
          </a:xfrm>
          <a:prstGeom prst="rect">
            <a:avLst/>
          </a:prstGeom>
          <a:solidFill>
            <a:srgbClr val="FFFFFF">
              <a:alpha val="28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85800" y="4038600"/>
            <a:ext cx="7429500" cy="1019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350">
                <a:solidFill>
                  <a:srgbClr val="C7D2E0"/>
                </a:solidFill>
                <a:latin typeface="Inter"/>
                <a:ea typeface="Inter"/>
              </a:rPr>
              <a:t xml:space="preserve">The shift recorded for our demo video made </a:t>
            </a:r>
            <a:r>
              <a:rPr lang="en-US" sz="1350">
                <a:solidFill>
                  <a:srgbClr val="FFFFFF"/>
                </a:solidFill>
                <a:latin typeface="Inter"/>
                <a:ea typeface="Inter"/>
              </a:rPr>
              <a:t>17</a:t>
            </a:r>
            <a:r>
              <a:rPr lang="en-US" sz="1350">
                <a:solidFill>
                  <a:srgbClr val="C7D2E0"/>
                </a:solidFill>
                <a:latin typeface="Inter"/>
                <a:ea typeface="Inter"/>
              </a:rPr>
              <a:t xml:space="preserve"> tool calls: one cluster scan, six node reads, the knowledge-base lookups, then the write, the ticket and the notification. The loop is capped at 12 turns, so a shift that runs long is continued from the calls already made instead of restarted.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0934700" y="6010275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45000"/>
                  </a:srgbClr>
                </a:solidFill>
                <a:latin typeface="JetBrains Mono"/>
                <a:ea typeface="JetBrains Mono"/>
              </a:rPr>
              <a:t>06 / 14</a:t>
            </a:r>
            <a:endParaRPr/>
          </a:p>
        </p:txBody>
      </p:sp>
    </p:spTree>
  </p:cSld>
</p:sld>
</file>

<file path=ppt/slides/slide7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2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2385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0B1220"/>
                </a:solidFill>
                <a:latin typeface="Inter"/>
                <a:ea typeface="Inter"/>
              </a:rPr>
              <a:t>No log was pasted in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448675" y="809625"/>
            <a:ext cx="305752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Cluster tab · read live from Firestore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685800" y="1228725"/>
            <a:ext cx="6276975" cy="4019550"/>
          </a:xfrm>
          <a:prstGeom prst="rect">
            <a:avLst/>
          </a:prstGeom>
          <a:ln w="12700">
            <a:solidFill>
              <a:srgbClr val="E9EDF4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237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685800" y="1228725"/>
            <a:ext cx="6276975" cy="4019550"/>
          </a:xfrm>
          <a:prstGeom prst="rect">
            <a:avLst/>
          </a:prstGeom>
          <a:ln/>
        </p:spPr>
      </p:pic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85800" y="5381625"/>
            <a:ext cx="627697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64748B"/>
                </a:solidFill>
                <a:latin typeface="Inter"/>
                <a:ea typeface="Inter"/>
              </a:rPr>
              <a:t>The cluster tab as it renders on load. The header reads: 6 nodes, 4 of them showing an anomaly, read live from Cloud Firestore. The interface is in Chinese because the on-call team is Chinese-speaking; every reading used in this deck is translated on the right.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7305675" y="1047750"/>
            <a:ext cx="4200525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500" b="1">
                <a:solidFill>
                  <a:srgbClr val="0B1220"/>
                </a:solidFill>
                <a:latin typeface="Inter"/>
                <a:ea typeface="Inter"/>
              </a:rPr>
              <a:t>Where those numbers come from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7305675" y="1514475"/>
            <a:ext cx="4200525" cy="9525"/>
          </a:xfrm>
          <a:prstGeom prst="rect">
            <a:avLst/>
          </a:prstGeom>
          <a:solidFill>
            <a:srgbClr val="E6EBF3"/>
          </a:solidFill>
          <a:ln/>
        </p:spPr>
        <p:txBody>
          <a:bodyPr/>
          <a:p>
            <a:pPr/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7305675" y="1657350"/>
            <a:ext cx="4200525" cy="838200"/>
          </a:xfrm>
          <a:custGeom>
            <a:pathLst>
              <a:path w="441" h="88">
                <a:moveTo>
                  <a:pt x="0" y="87"/>
                </a:moveTo>
                <a:lnTo>
                  <a:pt x="441" y="87"/>
                </a:lnTo>
                <a:lnTo>
                  <a:pt x="441" y="88"/>
                </a:lnTo>
                <a:lnTo>
                  <a:pt x="0" y="88"/>
                </a:lnTo>
                <a:close/>
              </a:path>
            </a:pathLst>
          </a:custGeom>
          <a:solidFill>
            <a:srgbClr val="EEF2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305675" y="1809750"/>
            <a:ext cx="590550" cy="53340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150" b="1">
                <a:solidFill>
                  <a:srgbClr val="0B1220"/>
                </a:solidFill>
                <a:latin typeface="JetBrains Mono"/>
                <a:ea typeface="JetBrains Mono"/>
              </a:rPr>
              <a:t>6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8086725" y="1933575"/>
            <a:ext cx="3333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1A2434"/>
                </a:solidFill>
                <a:latin typeface="Inter"/>
                <a:ea typeface="Inter"/>
              </a:rPr>
              <a:t>nodes in the demo cluster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7305675" y="2495550"/>
            <a:ext cx="4200525" cy="838200"/>
          </a:xfrm>
          <a:custGeom>
            <a:pathLst>
              <a:path w="441" h="88">
                <a:moveTo>
                  <a:pt x="0" y="87"/>
                </a:moveTo>
                <a:lnTo>
                  <a:pt x="441" y="87"/>
                </a:lnTo>
                <a:lnTo>
                  <a:pt x="441" y="88"/>
                </a:lnTo>
                <a:lnTo>
                  <a:pt x="0" y="88"/>
                </a:lnTo>
                <a:close/>
              </a:path>
            </a:pathLst>
          </a:custGeom>
          <a:solidFill>
            <a:srgbClr val="EEF2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305675" y="2647950"/>
            <a:ext cx="590550" cy="53340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150" b="1">
                <a:solidFill>
                  <a:srgbClr val="E5484D"/>
                </a:solidFill>
                <a:latin typeface="JetBrains Mono"/>
                <a:ea typeface="JetBrains Mono"/>
              </a:rPr>
              <a:t>4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8086725" y="2771775"/>
            <a:ext cx="3333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1A2434"/>
                </a:solidFill>
                <a:latin typeface="Inter"/>
                <a:ea typeface="Inter"/>
              </a:rPr>
              <a:t>of them showing an anomaly right now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7305675" y="3333750"/>
            <a:ext cx="4200525" cy="838200"/>
          </a:xfrm>
          <a:custGeom>
            <a:pathLst>
              <a:path w="441" h="88">
                <a:moveTo>
                  <a:pt x="0" y="87"/>
                </a:moveTo>
                <a:lnTo>
                  <a:pt x="441" y="87"/>
                </a:lnTo>
                <a:lnTo>
                  <a:pt x="441" y="88"/>
                </a:lnTo>
                <a:lnTo>
                  <a:pt x="0" y="88"/>
                </a:lnTo>
                <a:close/>
              </a:path>
            </a:pathLst>
          </a:custGeom>
          <a:solidFill>
            <a:srgbClr val="EEF2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7305675" y="3486150"/>
            <a:ext cx="590550" cy="53340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150" b="1">
                <a:solidFill>
                  <a:srgbClr val="16B981"/>
                </a:solidFill>
                <a:latin typeface="JetBrains Mono"/>
                <a:ea typeface="JetBrains Mono"/>
              </a:rPr>
              <a:t>0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8086725" y="3609975"/>
            <a:ext cx="33337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1A2434"/>
                </a:solidFill>
                <a:latin typeface="Inter"/>
                <a:ea typeface="Inter"/>
              </a:rPr>
              <a:t>log lines pasted in by the operator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305675" y="4362450"/>
            <a:ext cx="4200525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2434"/>
                </a:solidFill>
                <a:latin typeface="Inter"/>
                <a:ea typeface="Inter"/>
              </a:rPr>
              <a:t>Every figure above is read from Cloud Firestore when the page loads, and the header says so. The shift itself starts from a button: this build is a static site with no resident process, so a real deployment would have a scheduler fire it.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85800" y="6381750"/>
            <a:ext cx="421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Captured from the deployed page at gpu-waste-auditor-2026.web.app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0934700" y="6381750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07 / 14</a:t>
            </a:r>
            <a:endParaRPr/>
          </a:p>
        </p:txBody>
      </p:sp>
    </p:spTree>
  </p:cSld>
</p:sld>
</file>

<file path=ppt/slides/slide8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2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0386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0B1220"/>
                </a:solidFill>
                <a:latin typeface="Inter"/>
                <a:ea typeface="Inter"/>
              </a:rPr>
              <a:t>The writes actually landed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8686800" y="809625"/>
            <a:ext cx="281940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Operation log · write, then re-read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685800" y="1047750"/>
            <a:ext cx="10820400" cy="2514600"/>
          </a:xfrm>
          <a:prstGeom prst="rect">
            <a:avLst/>
          </a:prstGeom>
          <a:ln w="12700">
            <a:solidFill>
              <a:srgbClr val="E9EDF4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258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685800" y="1047750"/>
            <a:ext cx="10820400" cy="2514600"/>
          </a:xfrm>
          <a:prstGeom prst="rect">
            <a:avLst/>
          </a:prstGeom>
          <a:ln/>
        </p:spPr>
      </p:pic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685800" y="4076700"/>
            <a:ext cx="3143250" cy="12573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7800" b="1">
                <a:solidFill>
                  <a:srgbClr val="16B981"/>
                </a:solidFill>
                <a:latin typeface="JetBrains Mono"/>
                <a:ea typeface="JetBrains Mono"/>
              </a:rPr>
              <a:t>2 / 2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85800" y="5391150"/>
            <a:ext cx="31432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64748B"/>
                </a:solidFill>
                <a:latin typeface="Inter"/>
                <a:ea typeface="Inter"/>
              </a:rPr>
              <a:t>actions executed, then re-read from the server to confirm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4133850" y="3933825"/>
            <a:ext cx="1905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0B1220"/>
                </a:solidFill>
                <a:latin typeface="JetBrains Mono"/>
                <a:ea typeface="JetBrains Mono"/>
              </a:rPr>
              <a:t>lyg2112.cordoned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172200" y="3933825"/>
            <a:ext cx="495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64748B"/>
                </a:solidFill>
                <a:latin typeface="JetBrains Mono"/>
                <a:ea typeface="JetBrains Mono"/>
              </a:rPr>
              <a:t>false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800850" y="3933825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>
                <a:solidFill>
                  <a:srgbClr val="16B981"/>
                </a:solidFill>
                <a:latin typeface="JetBrains Mono"/>
                <a:ea typeface="JetBrains Mono"/>
              </a:rPr>
              <a:t>→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7038975" y="3933825"/>
            <a:ext cx="390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6B981"/>
                </a:solidFill>
                <a:latin typeface="JetBrains Mono"/>
                <a:ea typeface="JetBrains Mono"/>
              </a:rPr>
              <a:t>true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4133850" y="4248150"/>
            <a:ext cx="1905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0B1220"/>
                </a:solidFill>
                <a:latin typeface="JetBrains Mono"/>
                <a:ea typeface="JetBrains Mono"/>
              </a:rPr>
              <a:t>lyg2115.cordoned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172200" y="4248150"/>
            <a:ext cx="495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64748B"/>
                </a:solidFill>
                <a:latin typeface="JetBrains Mono"/>
                <a:ea typeface="JetBrains Mono"/>
              </a:rPr>
              <a:t>false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6800850" y="4248150"/>
            <a:ext cx="1047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75">
                <a:solidFill>
                  <a:srgbClr val="16B981"/>
                </a:solidFill>
                <a:latin typeface="JetBrains Mono"/>
                <a:ea typeface="JetBrains Mono"/>
              </a:rPr>
              <a:t>→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7038975" y="4248150"/>
            <a:ext cx="390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6B981"/>
                </a:solidFill>
                <a:latin typeface="JetBrains Mono"/>
                <a:ea typeface="JetBrains Mono"/>
              </a:rPr>
              <a:t>true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4133850" y="4600575"/>
            <a:ext cx="7372350" cy="9525"/>
          </a:xfrm>
          <a:prstGeom prst="rect">
            <a:avLst/>
          </a:prstGeom>
          <a:solidFill>
            <a:srgbClr val="E6EBF3"/>
          </a:solidFill>
          <a:ln/>
        </p:spPr>
        <p:txBody>
          <a:bodyPr/>
          <a:p>
            <a:pPr/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4133850" y="4762500"/>
            <a:ext cx="737235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500" b="1">
                <a:solidFill>
                  <a:srgbClr val="0B1220"/>
                </a:solidFill>
                <a:latin typeface="Inter"/>
                <a:ea typeface="Inter"/>
              </a:rPr>
              <a:t>A write is only logged as verified after the app reads the field back from Firestore.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4133850" y="5543550"/>
            <a:ext cx="737235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 xml:space="preserve">A write that returns success but leaves the value unchanged is logged as “verification failed” instead. Open the </a:t>
            </a:r>
            <a:r>
              <a:rPr lang="en-US" sz="1050">
                <a:solidFill>
                  <a:srgbClr val="1A2434"/>
                </a:solidFill>
                <a:latin typeface="Inter"/>
                <a:ea typeface="Inter"/>
              </a:rPr>
              <a:t>cluster</a:t>
            </a: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 xml:space="preserve"> collection in the Firebase console during a run and the two states move while you watch.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685800" y="6381750"/>
            <a:ext cx="4638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Both cordons are low-risk actions, so the agent was allowed to run them itself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0934700" y="6381750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08 / 14</a:t>
            </a:r>
            <a:endParaRPr/>
          </a:p>
        </p:txBody>
      </p:sp>
    </p:spTree>
  </p:cSld>
</p:sld>
</file>

<file path=ppt/slides/slide9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27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667375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0B1220"/>
                </a:solidFill>
                <a:latin typeface="Inter"/>
                <a:ea typeface="Inter"/>
              </a:rPr>
              <a:t>The model does not set the risk level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8448675" y="809625"/>
            <a:ext cx="305752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14 actions · 6 low / 5 medium / 3 high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685800" y="1047750"/>
            <a:ext cx="6667500" cy="590550"/>
          </a:xfrm>
          <a:custGeom>
            <a:pathLst>
              <a:path w="700" h="62">
                <a:moveTo>
                  <a:pt x="0" y="0"/>
                </a:moveTo>
                <a:lnTo>
                  <a:pt x="700" y="0"/>
                </a:lnTo>
                <a:lnTo>
                  <a:pt x="7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EF2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685800" y="1057275"/>
            <a:ext cx="704850" cy="304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 b="1">
                <a:solidFill>
                  <a:srgbClr val="16B981"/>
                </a:solidFill>
                <a:latin typeface="JetBrains Mono"/>
                <a:ea typeface="JetBrains Mono"/>
              </a:rPr>
              <a:t>LOW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1543050" y="1057275"/>
            <a:ext cx="381000" cy="3143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en-US" sz="1650" b="1">
                <a:solidFill>
                  <a:srgbClr val="0B1220"/>
                </a:solidFill>
                <a:latin typeface="JetBrains Mono"/>
                <a:ea typeface="JetBrains Mono"/>
              </a:rPr>
              <a:t>6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2076450" y="1057275"/>
            <a:ext cx="5257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1A2434"/>
                </a:solidFill>
                <a:latin typeface="Inter"/>
                <a:ea typeface="Inter"/>
              </a:rPr>
              <a:t>Task-local, reversible, never touches hardware or the system.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2076450" y="1314450"/>
            <a:ext cx="52578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64748B"/>
                </a:solidFill>
                <a:latin typeface="JetBrains Mono"/>
                <a:ea typeface="JetBrains Mono"/>
              </a:rPr>
              <a:t>the agent may run it itself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685800" y="1638300"/>
            <a:ext cx="6667500" cy="590550"/>
          </a:xfrm>
          <a:custGeom>
            <a:pathLst>
              <a:path w="700" h="62">
                <a:moveTo>
                  <a:pt x="0" y="0"/>
                </a:moveTo>
                <a:lnTo>
                  <a:pt x="700" y="0"/>
                </a:lnTo>
                <a:lnTo>
                  <a:pt x="7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EF2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85800" y="1647825"/>
            <a:ext cx="704850" cy="304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 b="1">
                <a:solidFill>
                  <a:srgbClr val="B26B00"/>
                </a:solidFill>
                <a:latin typeface="JetBrains Mono"/>
                <a:ea typeface="JetBrains Mono"/>
              </a:rPr>
              <a:t>MEDIUM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1543050" y="1647825"/>
            <a:ext cx="381000" cy="3143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en-US" sz="1650" b="1">
                <a:solidFill>
                  <a:srgbClr val="0B1220"/>
                </a:solidFill>
                <a:latin typeface="JetBrains Mono"/>
                <a:ea typeface="JetBrains Mono"/>
              </a:rPr>
              <a:t>5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2076450" y="1647825"/>
            <a:ext cx="5257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1A2434"/>
                </a:solidFill>
                <a:latin typeface="Inter"/>
                <a:ea typeface="Inter"/>
              </a:rPr>
              <a:t>Affects other jobs on the same node, or needs a short interruption.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2076450" y="1905000"/>
            <a:ext cx="52578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64748B"/>
                </a:solidFill>
                <a:latin typeface="JetBrains Mono"/>
                <a:ea typeface="JetBrains Mono"/>
              </a:rPr>
              <a:t>per-item approval + impact acknowledgement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685800" y="2228850"/>
            <a:ext cx="6667500" cy="590550"/>
          </a:xfrm>
          <a:custGeom>
            <a:pathLst>
              <a:path w="700" h="62">
                <a:moveTo>
                  <a:pt x="0" y="0"/>
                </a:moveTo>
                <a:lnTo>
                  <a:pt x="700" y="0"/>
                </a:lnTo>
                <a:lnTo>
                  <a:pt x="7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EF2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85800" y="2238375"/>
            <a:ext cx="704850" cy="304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 b="1">
                <a:solidFill>
                  <a:srgbClr val="E5484D"/>
                </a:solidFill>
                <a:latin typeface="JetBrains Mono"/>
                <a:ea typeface="JetBrains Mono"/>
              </a:rPr>
              <a:t>HIGH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1543050" y="2238375"/>
            <a:ext cx="381000" cy="3143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en-US" sz="1650" b="1">
                <a:solidFill>
                  <a:srgbClr val="0B1220"/>
                </a:solidFill>
                <a:latin typeface="JetBrains Mono"/>
                <a:ea typeface="JetBrains Mono"/>
              </a:rPr>
              <a:t>3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2076450" y="2238375"/>
            <a:ext cx="5257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1A2434"/>
                </a:solidFill>
                <a:latin typeface="Inter"/>
                <a:ea typeface="Inter"/>
              </a:rPr>
              <a:t>Irreversible, touches hardware assets, or crosses nodes.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2076450" y="2495550"/>
            <a:ext cx="52578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64748B"/>
                </a:solidFill>
                <a:latin typeface="JetBrains Mono"/>
                <a:ea typeface="JetBrains Mono"/>
              </a:rPr>
              <a:t>approval + change ticket + second confirmation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685800" y="2933700"/>
            <a:ext cx="66675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64748B"/>
                </a:solidFill>
                <a:latin typeface="Inter"/>
                <a:ea typeface="Inter"/>
              </a:rPr>
              <a:t xml:space="preserve">A fifteenth action is registered and deliberately withheld: </a:t>
            </a:r>
            <a:r>
              <a:rPr lang="en-US" sz="975">
                <a:solidFill>
                  <a:srgbClr val="1A2434"/>
                </a:solidFill>
                <a:latin typeface="Inter"/>
                <a:ea typeface="Inter"/>
              </a:rPr>
              <a:t>raise_nccl_timeout</a:t>
            </a:r>
            <a:r>
              <a:rPr lang="en-US" sz="975">
                <a:solidFill>
                  <a:srgbClr val="64748B"/>
                </a:solidFill>
                <a:latin typeface="Inter"/>
                <a:ea typeface="Inter"/>
              </a:rPr>
              <a:t>. Raising the timeout would suppress the symptom instead of fixing it, so the knowledge base marks it discouraged.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7658100" y="1047750"/>
            <a:ext cx="38481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350" b="1">
                <a:solidFill>
                  <a:srgbClr val="0B1220"/>
                </a:solidFill>
                <a:latin typeface="Inter"/>
                <a:ea typeface="Inter"/>
              </a:rPr>
              <a:t>The gate is a whitelist, not a prompt rule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7658100" y="1428750"/>
            <a:ext cx="3848100" cy="9525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753350" y="1524000"/>
            <a:ext cx="3657600" cy="762000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75">
                <a:solidFill>
                  <a:srgbClr val="E2E8F0"/>
                </a:solidFill>
                <a:latin typeface="JetBrains Mono"/>
                <a:ea typeface="JetBrains Mono"/>
              </a:rPr>
              <a:t xml:space="preserve">if (act.risk !== 'low') </a:t>
            </a:r>
            <a:r>
              <a:rPr lang="en-US" sz="975">
                <a:solidFill>
                  <a:srgbClr val="E2E8F0"/>
                </a:solidFill>
                <a:latin typeface="JetBrains Mono"/>
                <a:ea typeface="JetBrains Mono"/>
              </a:rPr>
              <a:t>{</a:t>
            </a:r>
            <a:endParaRPr/>
          </a:p>
          <a:p>
            <a:pPr>
              <a:lnSpc>
                <a:spcPct val="170000"/>
              </a:lnSpc>
            </a:pPr>
            <a:r>
              <a:rPr lang="en-US" sz="975">
                <a:solidFill>
                  <a:srgbClr val="E2E8F0"/>
                </a:solidFill>
                <a:latin typeface="JetBrains Mono"/>
                <a:ea typeface="JetBrains Mono"/>
              </a:rPr>
              <a:t xml:space="preserve">  </a:t>
            </a:r>
            <a:r>
              <a:rPr lang="en-US" sz="975">
                <a:solidFill>
                  <a:srgbClr val="E2E8F0"/>
                </a:solidFill>
                <a:latin typeface="JetBrains Mono"/>
                <a:ea typeface="JetBrains Mono"/>
              </a:rPr>
              <a:t xml:space="preserve">return </a:t>
            </a:r>
            <a:r>
              <a:rPr lang="en-US" sz="975">
                <a:solidFill>
                  <a:srgbClr val="E2E8F0"/>
                </a:solidFill>
                <a:latin typeface="JetBrains Mono"/>
                <a:ea typeface="JetBrains Mono"/>
              </a:rPr>
              <a:t>{</a:t>
            </a:r>
            <a:r>
              <a:rPr lang="en-US" sz="975">
                <a:solidFill>
                  <a:srgbClr val="E2E8F0"/>
                </a:solidFill>
                <a:latin typeface="JetBrains Mono"/>
                <a:ea typeface="JetBrains Mono"/>
              </a:rPr>
              <a:t xml:space="preserve"> refused: true </a:t>
            </a:r>
            <a:r>
              <a:rPr lang="en-US" sz="975">
                <a:solidFill>
                  <a:srgbClr val="E2E8F0"/>
                </a:solidFill>
                <a:latin typeface="JetBrains Mono"/>
                <a:ea typeface="JetBrains Mono"/>
              </a:rPr>
              <a:t>}</a:t>
            </a:r>
            <a:endParaRPr/>
          </a:p>
          <a:p>
            <a:pPr>
              <a:lnSpc>
                <a:spcPct val="170000"/>
              </a:lnSpc>
            </a:pPr>
            <a:r>
              <a:rPr lang="en-US" sz="975">
                <a:solidFill>
                  <a:srgbClr val="E2E8F0"/>
                </a:solidFill>
                <a:latin typeface="JetBrains Mono"/>
                <a:ea typeface="JetBrains Mono"/>
              </a:rPr>
              <a:t>}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7658100" y="2457450"/>
            <a:ext cx="38481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1A2434"/>
                </a:solidFill>
                <a:latin typeface="Inter"/>
                <a:ea typeface="Inter"/>
              </a:rPr>
              <a:t>The tool schema has no risk field, so the model has no way to call an action low-risk.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7658100" y="3038475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 b="1">
                <a:solidFill>
                  <a:srgbClr val="2F6BFF"/>
                </a:solidFill>
                <a:latin typeface="Inter"/>
                <a:ea typeface="Inter"/>
              </a:rPr>
              <a:t>A refused action is stopped inside the tool.</a:t>
            </a:r>
            <a:endParaRPr/>
          </a:p>
        </p:txBody>
      </p:sp>
      <p:sp>
        <p:nvSpPr>
          <p:cNvPr id="299" name=""/>
          <p:cNvSpPr/>
          <p:nvPr/>
        </p:nvSpPr>
        <p:spPr>
          <a:xfrm rot="0" flipH="0" flipV="0">
            <a:off x="876300" y="3876675"/>
            <a:ext cx="10439400" cy="2000250"/>
          </a:xfrm>
          <a:prstGeom prst="rect">
            <a:avLst/>
          </a:prstGeom>
          <a:ln w="12700">
            <a:solidFill>
              <a:srgbClr val="E9EDF4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300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876300" y="3876675"/>
            <a:ext cx="10439400" cy="2000250"/>
          </a:xfrm>
          <a:prstGeom prst="rect">
            <a:avLst/>
          </a:prstGeom>
          <a:ln/>
        </p:spPr>
      </p:pic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85800" y="6381750"/>
            <a:ext cx="432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The three levels above are the page’s own header, captured as it renders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0934700" y="6381750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09 / 14</a:t>
            </a:r>
            <a:endParaRPr/>
          </a:p>
        </p:txBody>
      </p:sp>
    </p:spTree>
  </p:cSld>
</p:sld>
</file>

<file path=ppt/slides/slide10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71247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0B1220"/>
                </a:solidFill>
                <a:latin typeface="Inter"/>
                <a:ea typeface="Inter"/>
              </a:rPr>
              <a:t>Where every number on this page comes from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848725" y="809625"/>
            <a:ext cx="26574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case-xid94-rising · single triage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685800" y="1362075"/>
            <a:ext cx="1133475" cy="361950"/>
          </a:xfrm>
          <a:prstGeom prst="roundRect">
            <a:avLst>
              <a:gd name="adj" fmla="val 15789"/>
            </a:avLst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38200" y="1438275"/>
            <a:ext cx="8286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JetBrains Mono"/>
                <a:ea typeface="JetBrains Mono"/>
              </a:rPr>
              <a:t>hardware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2047875" y="1362075"/>
            <a:ext cx="1238250" cy="361950"/>
          </a:xfrm>
          <a:prstGeom prst="roundRect">
            <a:avLst>
              <a:gd name="adj" fmla="val 15789"/>
            </a:avLst>
          </a:prstGeom>
          <a:solidFill>
            <a:srgbClr val="E5484D"/>
          </a:solidFill>
          <a:ln/>
        </p:spPr>
        <p:txBody>
          <a:bodyPr/>
          <a:p>
            <a:pPr/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2200275" y="1438275"/>
            <a:ext cx="933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JetBrains Mono"/>
                <a:ea typeface="JetBrains Mono"/>
              </a:rPr>
              <a:t>RMA filed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3514725" y="1133475"/>
            <a:ext cx="1657350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0B1220"/>
                </a:solidFill>
                <a:latin typeface="JetBrains Mono"/>
                <a:ea typeface="JetBrains Mono"/>
              </a:rPr>
              <a:t>0.95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5400675" y="1295400"/>
            <a:ext cx="275272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>
                <a:solidFill>
                  <a:srgbClr val="64748B"/>
                </a:solidFill>
                <a:latin typeface="Inter"/>
                <a:ea typeface="Inter"/>
              </a:rPr>
              <a:t>model confidence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5400675" y="1543050"/>
            <a:ext cx="275272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>
                <a:solidFill>
                  <a:srgbClr val="64748B"/>
                </a:solidFill>
                <a:latin typeface="Inter"/>
                <a:ea typeface="Inter"/>
              </a:rPr>
              <a:t>4 tool calls before it was allowed to answer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9572625" y="1419225"/>
            <a:ext cx="19335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expected: hardware · RMA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2038350"/>
            <a:ext cx="108204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64748B"/>
                </a:solidFill>
                <a:latin typeface="JetBrains Mono"/>
                <a:ea typeface="JetBrains Mono"/>
              </a:rPr>
              <a:t>AI tool-call trace: arguments printed exactly as they were sent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685800" y="2352675"/>
            <a:ext cx="10439400" cy="1943100"/>
          </a:xfrm>
          <a:prstGeom prst="rect">
            <a:avLst/>
          </a:prstGeom>
          <a:ln w="12700">
            <a:solidFill>
              <a:srgbClr val="E9EDF4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36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685800" y="2352675"/>
            <a:ext cx="10439400" cy="1943100"/>
          </a:xfrm>
          <a:prstGeom prst="rect">
            <a:avLst/>
          </a:prstGeom>
          <a:ln/>
        </p:spPr>
      </p:pic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85800" y="4629150"/>
            <a:ext cx="66675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500" b="1">
                <a:solidFill>
                  <a:srgbClr val="0B1220"/>
                </a:solidFill>
                <a:latin typeface="Inter"/>
                <a:ea typeface="Inter"/>
              </a:rPr>
              <a:t>Numbers come from tools, not from the model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85800" y="5057775"/>
            <a:ext cx="6667500" cy="561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2000"/>
              </a:lnSpc>
            </a:pPr>
            <a:r>
              <a:rPr lang="en-US" sz="1125">
                <a:solidFill>
                  <a:srgbClr val="1A2434"/>
                </a:solidFill>
                <a:latin typeface="Inter"/>
                <a:ea typeface="Inter"/>
              </a:rPr>
              <a:t xml:space="preserve">The model is not allowed to compute or recall a number. </a:t>
            </a:r>
            <a:r>
              <a:rPr lang="en-US" sz="1125">
                <a:solidFill>
                  <a:srgbClr val="0B1220"/>
                </a:solidFill>
                <a:latin typeface="Inter"/>
                <a:ea typeface="Inter"/>
              </a:rPr>
              <a:t>lookup_xid</a:t>
            </a:r>
            <a:r>
              <a:rPr lang="en-US" sz="1125">
                <a:solidFill>
                  <a:srgbClr val="1A2434"/>
                </a:solidFill>
                <a:latin typeface="Inter"/>
                <a:ea typeface="Inter"/>
              </a:rPr>
              <a:t xml:space="preserve"> reads the Xid knowledge base,</a:t>
            </a:r>
            <a:r>
              <a:rPr lang="en-US" sz="1125">
                <a:solidFill>
                  <a:srgbClr val="0B1220"/>
                </a:solidFill>
                <a:latin typeface="Inter"/>
                <a:ea typeface="Inter"/>
              </a:rPr>
              <a:t xml:space="preserve"> inspect_node</a:t>
            </a:r>
            <a:r>
              <a:rPr lang="en-US" sz="1125">
                <a:solidFill>
                  <a:srgbClr val="1A2434"/>
                </a:solidFill>
                <a:latin typeface="Inter"/>
                <a:ea typeface="Inter"/>
              </a:rPr>
              <a:t xml:space="preserve"> reads node telemetry. A value that was never fetched cannot appear in the conclusion.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696200" y="4629150"/>
            <a:ext cx="3810000" cy="2381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975">
                <a:solidFill>
                  <a:srgbClr val="2F6BFF"/>
                </a:solidFill>
                <a:latin typeface="JetBrains Mono"/>
                <a:ea typeface="JetBrains Mono"/>
              </a:rPr>
              <a:t>T1 · T2 · T3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7696200" y="4943475"/>
            <a:ext cx="3810000" cy="838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2000"/>
              </a:lnSpc>
            </a:pPr>
            <a:r>
              <a:rPr lang="en-US" sz="1125">
                <a:solidFill>
                  <a:srgbClr val="1A2434"/>
                </a:solidFill>
                <a:latin typeface="Inter"/>
                <a:ea typeface="Inter"/>
              </a:rPr>
              <a:t>Citation ids are attached by the app when a call actually executes. A reference the model invents is dropped, and the model is told it was dropped.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685800" y="6381750"/>
            <a:ext cx="4953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The model writes the verdict; the app supplies and checks everything underneath it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10934700" y="6381750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10 / 14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62000">
                <a:srgbClr val="131E33"/>
              </a:gs>
              <a:gs pos="100000">
                <a:srgbClr val="0B1220"/>
              </a:gs>
            </a:gsLst>
            <a:lin ang="4200000" scaled="1"/>
          </a:gradFill>
          <a:ln/>
        </p:spPr>
        <p:txBody>
          <a:bodyPr/>
          <a:p>
            <a:pPr/>
            <a:endParaRPr/>
          </a:p>
        </p:txBody>
      </p:sp>
      <p:pic>
        <p:nvPicPr>
          <p:cNvPr id="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685800"/>
            <a:ext cx="10820400" cy="5486400"/>
          </a:xfrm>
          <a:prstGeom prst="rect">
            <a:avLst/>
          </a:prstGeom>
          <a:ln/>
        </p:spPr>
      </p:pic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372350" y="914400"/>
            <a:ext cx="4133850" cy="2057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0" b="1">
                <a:solidFill>
                  <a:srgbClr val="2F6BFF">
                    <a:alpha val="18000"/>
                  </a:srgbClr>
                </a:solidFill>
                <a:latin typeface="JetBrains Mono"/>
                <a:ea typeface="JetBrains Mono"/>
              </a:rPr>
              <a:t>11 /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439275" y="2971800"/>
            <a:ext cx="2066925" cy="2057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0" b="1">
                <a:solidFill>
                  <a:srgbClr val="2F6BFF">
                    <a:alpha val="18000"/>
                  </a:srgbClr>
                </a:solidFill>
                <a:latin typeface="JetBrains Mono"/>
                <a:ea typeface="JetBrains Mono"/>
              </a:rPr>
              <a:t>14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8610600" y="5124450"/>
            <a:ext cx="28956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FFFFFF">
                    <a:alpha val="52000"/>
                  </a:srgbClr>
                </a:solidFill>
                <a:latin typeface="JetBrains Mono"/>
                <a:ea typeface="JetBrains Mono"/>
              </a:rPr>
              <a:t>rule baseline on the 14-case library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85800" y="1971675"/>
            <a:ext cx="7239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F6BFF"/>
                </a:solidFill>
                <a:latin typeface="JetBrains Mono"/>
                <a:ea typeface="JetBrains Mono"/>
              </a:rPr>
              <a:t>CHAPTER 03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85800" y="2305050"/>
            <a:ext cx="7239000" cy="80962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800" b="1">
                <a:solidFill>
                  <a:srgbClr val="FFFFFF"/>
                </a:solidFill>
                <a:latin typeface="Inter"/>
                <a:ea typeface="Inter"/>
              </a:rPr>
              <a:t>Evidence &amp; boundaries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3286125"/>
            <a:ext cx="7239000" cy="4191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800">
                <a:solidFill>
                  <a:srgbClr val="94A3B8"/>
                </a:solidFill>
                <a:latin typeface="Inter"/>
                <a:ea typeface="Inter"/>
              </a:rPr>
              <a:t>Reproducible numbers, stated limits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685800" y="4010025"/>
            <a:ext cx="838200" cy="28575"/>
          </a:xfrm>
          <a:prstGeom prst="rect">
            <a:avLst/>
          </a:prstGeom>
          <a:solidFill>
            <a:srgbClr val="FFFFFF">
              <a:alpha val="28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85800" y="4210050"/>
            <a:ext cx="70485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350">
                <a:solidFill>
                  <a:srgbClr val="C7D2E0"/>
                </a:solidFill>
                <a:latin typeface="Inter"/>
                <a:ea typeface="Inter"/>
              </a:rPr>
              <a:t>Every number in this chapter can be rerun from a script in the repository. Where we never ran a case, the table shows a blank rather than a plausible value.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10934700" y="6010275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45000"/>
                  </a:srgbClr>
                </a:solidFill>
                <a:latin typeface="JetBrains Mono"/>
                <a:ea typeface="JetBrains Mono"/>
              </a:rPr>
              <a:t>11 / 14</a:t>
            </a:r>
            <a:endParaRPr/>
          </a:p>
        </p:txBody>
      </p:sp>
    </p:spTree>
  </p:cSld>
</p:sld>
</file>

<file path=ppt/slides/slide12.xml><?xml version="1.0" encoding="utf-8"?>
<p:sld xmlns:r="http://schemas.openxmlformats.org/officeDocument/2006/relationships" xmlns:p="http://schemas.openxmlformats.org/presentationml/2006/main" xmlns:a="http://schemas.openxmlformats.org/drawingml/2006/main">
  <p:cSld>
    <p:spTree>
      <p:nvGrpSpPr>
        <p:cNvPr id="5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76725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0B1220"/>
                </a:solidFill>
                <a:latin typeface="Inter"/>
                <a:ea typeface="Inter"/>
              </a:rPr>
              <a:t>11 / 14, and you can rerun it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8124825" y="809625"/>
            <a:ext cx="3381375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Rule baseline · offline · zero model calls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85800" y="1047750"/>
            <a:ext cx="4305300" cy="11906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800" b="1">
                <a:solidFill>
                  <a:srgbClr val="0B1220"/>
                </a:solidFill>
                <a:latin typeface="JetBrains Mono"/>
                <a:ea typeface="JetBrains Mono"/>
              </a:rPr>
              <a:t xml:space="preserve">11 / </a:t>
            </a:r>
            <a:r>
              <a:rPr lang="en-US" sz="7800" b="1">
                <a:solidFill>
                  <a:srgbClr val="E5484D"/>
                </a:solidFill>
                <a:latin typeface="JetBrains Mono"/>
                <a:ea typeface="JetBrains Mono"/>
              </a:rPr>
              <a:t>14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2314575"/>
            <a:ext cx="43053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64748B"/>
                </a:solidFill>
                <a:latin typeface="JetBrains Mono"/>
                <a:ea typeface="JetBrains Mono"/>
              </a:rPr>
              <a:t>78.6% · classification only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685800" y="2743200"/>
            <a:ext cx="4305300" cy="9525"/>
          </a:xfrm>
          <a:prstGeom prst="rect">
            <a:avLst/>
          </a:prstGeom>
          <a:solidFill>
            <a:srgbClr val="E6EBF3"/>
          </a:solidFill>
          <a:ln/>
        </p:spPr>
        <p:txBody>
          <a:bodyPr/>
          <a:p>
            <a:pPr/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685800" y="2886075"/>
            <a:ext cx="4305300" cy="2667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00" b="1">
                <a:solidFill>
                  <a:srgbClr val="0B1220"/>
                </a:solidFill>
                <a:latin typeface="Inter"/>
                <a:ea typeface="Inter"/>
              </a:rPr>
              <a:t>The three it gets wrong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685800" y="3267075"/>
            <a:ext cx="43053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2F6BFF"/>
                </a:solidFill>
                <a:latin typeface="JetBrains Mono"/>
                <a:ea typeface="JetBrains Mono"/>
              </a:rPr>
              <a:t>case-xid48-dbe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3495675"/>
            <a:ext cx="43053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1A2434"/>
                </a:solidFill>
                <a:latin typeface="Inter"/>
                <a:ea typeface="Inter"/>
              </a:rPr>
              <a:t>a rising correctable-ECC trend read as an application bug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85800" y="3857625"/>
            <a:ext cx="43053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2F6BFF"/>
                </a:solidFill>
                <a:latin typeface="JetBrains Mono"/>
                <a:ea typeface="JetBrains Mono"/>
              </a:rPr>
              <a:t>case-xid94-rising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685800" y="4086225"/>
            <a:ext cx="43053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1A2434"/>
                </a:solidFill>
                <a:latin typeface="Inter"/>
                <a:ea typeface="Inter"/>
              </a:rPr>
              <a:t>the pair that needs the 30-day window, not the code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685800" y="4448175"/>
            <a:ext cx="4305300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2F6BFF"/>
                </a:solidFill>
                <a:latin typeface="JetBrains Mono"/>
                <a:ea typeface="JetBrains Mono"/>
              </a:rPr>
              <a:t>case-gpu-hang-deadlock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85800" y="4676775"/>
            <a:ext cx="43053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1A2434"/>
                </a:solidFill>
                <a:latin typeface="Inter"/>
                <a:ea typeface="Inter"/>
              </a:rPr>
              <a:t>a secondary hang taken for the root cause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685800" y="5076825"/>
            <a:ext cx="4305300" cy="476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975">
                <a:solidFill>
                  <a:srgbClr val="64748B"/>
                </a:solidFill>
                <a:latin typeface="Inter"/>
                <a:ea typeface="Inter"/>
              </a:rPr>
              <a:t>The baseline does two things only: vote over pre-analysis hits, and “hardware means file an RMA”.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5219700" y="1466850"/>
            <a:ext cx="6286500" cy="3810000"/>
          </a:xfrm>
          <a:prstGeom prst="rect">
            <a:avLst/>
          </a:prstGeom>
          <a:ln w="12700">
            <a:solidFill>
              <a:srgbClr val="E9EDF4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71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5219700" y="1466850"/>
            <a:ext cx="6286500" cy="3810000"/>
          </a:xfrm>
          <a:prstGeom prst="rect">
            <a:avLst/>
          </a:prstGeom>
          <a:ln/>
        </p:spPr>
      </p:pic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5219700" y="5372100"/>
            <a:ext cx="62865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64748B"/>
                </a:solidFill>
                <a:latin typeface="Inter"/>
                <a:ea typeface="Inter"/>
              </a:rPr>
              <a:t>Same case library, same scoring script. The AI column is blank wherever we did not run the AI, because a blank is the honest value there.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85800" y="6381750"/>
            <a:ext cx="521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Reproduced by scripts/verify_triage.mjs — the page and the script share one code path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0934700" y="6381750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12 / 14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7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076575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2550" b="1">
                <a:solidFill>
                  <a:srgbClr val="0B1220"/>
                </a:solidFill>
                <a:latin typeface="Inter"/>
                <a:ea typeface="Inter"/>
              </a:rPr>
              <a:t>Five layers, one rule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0534650" y="809625"/>
            <a:ext cx="971550" cy="23812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Architecture</a:t>
            </a:r>
            <a:endParaRPr/>
          </a:p>
        </p:txBody>
      </p:sp>
      <p:sp>
        <p:nvSpPr>
          <p:cNvPr id="79" name=""/>
          <p:cNvSpPr/>
          <p:nvPr/>
        </p:nvSpPr>
        <p:spPr>
          <a:xfrm rot="0" flipH="0" flipV="0">
            <a:off x="723900" y="1047750"/>
            <a:ext cx="6667500" cy="914400"/>
          </a:xfrm>
          <a:prstGeom prst="roundRect">
            <a:avLst>
              <a:gd name="adj" fmla="val 6250"/>
            </a:avLst>
          </a:prstGeom>
          <a:solidFill>
            <a:srgbClr val="F1F4FA"/>
          </a:solidFill>
          <a:ln/>
        </p:spPr>
        <p:txBody>
          <a:bodyPr/>
          <a:p>
            <a:pPr/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723900" y="1047750"/>
            <a:ext cx="6667500" cy="914400"/>
          </a:xfrm>
          <a:custGeom>
            <a:pathLst>
              <a:path w="700" h="96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94"/>
                </a:lnTo>
                <a:cubicBezTo>
                  <a:pt x="4" y="95"/>
                  <a:pt x="5" y="96"/>
                  <a:pt x="6" y="96"/>
                </a:cubicBezTo>
                <a:cubicBezTo>
                  <a:pt x="3" y="96"/>
                  <a:pt x="0" y="93"/>
                  <a:pt x="0" y="9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C3CFE2"/>
          </a:solidFill>
          <a:ln/>
        </p:spPr>
        <p:txBody>
          <a:bodyPr/>
          <a:p>
            <a:pPr/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876300" y="142875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4748B"/>
                </a:solidFill>
                <a:latin typeface="JetBrains Mono"/>
                <a:ea typeface="JetBrains Mono"/>
              </a:rPr>
              <a:t>01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1333500" y="1219200"/>
            <a:ext cx="5905500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B1220"/>
                </a:solidFill>
                <a:latin typeface="Inter"/>
                <a:ea typeface="Inter"/>
              </a:rPr>
              <a:t>Knowledge base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1333500" y="1543050"/>
            <a:ext cx="59055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24 Xid entries · 27 failure signatures · 6 diagnostic principles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723900" y="2057400"/>
            <a:ext cx="6667500" cy="914400"/>
          </a:xfrm>
          <a:prstGeom prst="roundRect">
            <a:avLst>
              <a:gd name="adj" fmla="val 6250"/>
            </a:avLst>
          </a:prstGeom>
          <a:solidFill>
            <a:srgbClr val="F1F4FA"/>
          </a:solidFill>
          <a:ln/>
        </p:spPr>
        <p:txBody>
          <a:bodyPr/>
          <a:p>
            <a:pPr/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723900" y="2057400"/>
            <a:ext cx="6667500" cy="914400"/>
          </a:xfrm>
          <a:custGeom>
            <a:pathLst>
              <a:path w="700" h="96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94"/>
                </a:lnTo>
                <a:cubicBezTo>
                  <a:pt x="4" y="95"/>
                  <a:pt x="5" y="96"/>
                  <a:pt x="6" y="96"/>
                </a:cubicBezTo>
                <a:cubicBezTo>
                  <a:pt x="3" y="96"/>
                  <a:pt x="0" y="93"/>
                  <a:pt x="0" y="9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C3CFE2"/>
          </a:solidFill>
          <a:ln/>
        </p:spPr>
        <p:txBody>
          <a:bodyPr/>
          <a:p>
            <a:pPr/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876300" y="24384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4748B"/>
                </a:solidFill>
                <a:latin typeface="JetBrains Mono"/>
                <a:ea typeface="JetBrains Mono"/>
              </a:rPr>
              <a:t>02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1333500" y="2228850"/>
            <a:ext cx="5905500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B1220"/>
                </a:solidFill>
                <a:latin typeface="Inter"/>
                <a:ea typeface="Inter"/>
              </a:rPr>
              <a:t>Deterministic pre-analysis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1333500" y="2552700"/>
            <a:ext cx="59055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version stack, memory accounting, structured facts — no model involved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723900" y="3067050"/>
            <a:ext cx="6667500" cy="914400"/>
          </a:xfrm>
          <a:prstGeom prst="roundRect">
            <a:avLst>
              <a:gd name="adj" fmla="val 6250"/>
            </a:avLst>
          </a:prstGeom>
          <a:solidFill>
            <a:srgbClr val="F1F4FA"/>
          </a:solidFill>
          <a:ln/>
        </p:spPr>
        <p:txBody>
          <a:bodyPr/>
          <a:p>
            <a:pPr/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723900" y="3067050"/>
            <a:ext cx="6667500" cy="914400"/>
          </a:xfrm>
          <a:custGeom>
            <a:pathLst>
              <a:path w="700" h="96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94"/>
                </a:lnTo>
                <a:cubicBezTo>
                  <a:pt x="4" y="95"/>
                  <a:pt x="5" y="96"/>
                  <a:pt x="6" y="96"/>
                </a:cubicBezTo>
                <a:cubicBezTo>
                  <a:pt x="3" y="96"/>
                  <a:pt x="0" y="93"/>
                  <a:pt x="0" y="9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C3CFE2"/>
          </a:solidFill>
          <a:ln/>
        </p:spPr>
        <p:txBody>
          <a:bodyPr/>
          <a:p>
            <a:pPr/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76300" y="344805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4748B"/>
                </a:solidFill>
                <a:latin typeface="JetBrains Mono"/>
                <a:ea typeface="JetBrains Mono"/>
              </a:rPr>
              <a:t>03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333500" y="3238500"/>
            <a:ext cx="5905500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B1220"/>
                </a:solidFill>
                <a:latin typeface="Inter"/>
                <a:ea typeface="Inter"/>
              </a:rPr>
              <a:t>Tools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1333500" y="3562350"/>
            <a:ext cx="59055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10 registered · 6 exposed in single triage · 10 in shift patrol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723900" y="4076700"/>
            <a:ext cx="6667500" cy="914400"/>
          </a:xfrm>
          <a:prstGeom prst="roundRect">
            <a:avLst>
              <a:gd name="adj" fmla="val 6250"/>
            </a:avLst>
          </a:prstGeom>
          <a:solidFill>
            <a:srgbClr val="2F6BFF">
              <a:alpha val="7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723900" y="4076700"/>
            <a:ext cx="6667500" cy="914400"/>
          </a:xfrm>
          <a:custGeom>
            <a:pathLst>
              <a:path w="700" h="96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94"/>
                </a:lnTo>
                <a:cubicBezTo>
                  <a:pt x="4" y="95"/>
                  <a:pt x="5" y="96"/>
                  <a:pt x="6" y="96"/>
                </a:cubicBezTo>
                <a:cubicBezTo>
                  <a:pt x="3" y="96"/>
                  <a:pt x="0" y="93"/>
                  <a:pt x="0" y="9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2F6BFF"/>
          </a:solidFill>
          <a:ln/>
        </p:spPr>
        <p:txBody>
          <a:bodyPr/>
          <a:p>
            <a:pPr/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876300" y="44577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2F6BFF"/>
                </a:solidFill>
                <a:latin typeface="JetBrains Mono"/>
                <a:ea typeface="JetBrains Mono"/>
              </a:rPr>
              <a:t>04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333500" y="4133850"/>
            <a:ext cx="5905500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B1220"/>
                </a:solidFill>
                <a:latin typeface="Inter"/>
                <a:ea typeface="Inter"/>
              </a:rPr>
              <a:t>Model loop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333500" y="4457700"/>
            <a:ext cx="59055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Gemini · at most 12 tool turns · calls already made are carried over if the model is swapped mid-shift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723900" y="5086350"/>
            <a:ext cx="6667500" cy="914400"/>
          </a:xfrm>
          <a:prstGeom prst="roundRect">
            <a:avLst>
              <a:gd name="adj" fmla="val 6250"/>
            </a:avLst>
          </a:prstGeom>
          <a:solidFill>
            <a:srgbClr val="F1F4FA"/>
          </a:solidFill>
          <a:ln/>
        </p:spPr>
        <p:txBody>
          <a:bodyPr/>
          <a:p>
            <a:pPr/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723900" y="5086350"/>
            <a:ext cx="6667500" cy="914400"/>
          </a:xfrm>
          <a:custGeom>
            <a:pathLst>
              <a:path w="700" h="96">
                <a:moveTo>
                  <a:pt x="6" y="0"/>
                </a:moveTo>
                <a:cubicBezTo>
                  <a:pt x="5" y="0"/>
                  <a:pt x="4" y="1"/>
                  <a:pt x="4" y="2"/>
                </a:cubicBezTo>
                <a:lnTo>
                  <a:pt x="4" y="94"/>
                </a:lnTo>
                <a:cubicBezTo>
                  <a:pt x="4" y="95"/>
                  <a:pt x="5" y="96"/>
                  <a:pt x="6" y="96"/>
                </a:cubicBezTo>
                <a:cubicBezTo>
                  <a:pt x="3" y="96"/>
                  <a:pt x="0" y="93"/>
                  <a:pt x="0" y="90"/>
                </a:cubicBezTo>
                <a:lnTo>
                  <a:pt x="0" y="6"/>
                </a:lnTo>
                <a:cubicBezTo>
                  <a:pt x="0" y="3"/>
                  <a:pt x="3" y="0"/>
                  <a:pt x="6" y="0"/>
                </a:cubicBezTo>
                <a:close/>
              </a:path>
            </a:pathLst>
          </a:custGeom>
          <a:solidFill>
            <a:srgbClr val="C3CFE2"/>
          </a:solidFill>
          <a:ln/>
        </p:spPr>
        <p:txBody>
          <a:bodyPr/>
          <a:p>
            <a:pPr/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876300" y="546735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4748B"/>
                </a:solidFill>
                <a:latin typeface="JetBrains Mono"/>
                <a:ea typeface="JetBrains Mono"/>
              </a:rPr>
              <a:t>05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1333500" y="5257800"/>
            <a:ext cx="5905500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B1220"/>
                </a:solidFill>
                <a:latin typeface="Inter"/>
                <a:ea typeface="Inter"/>
              </a:rPr>
              <a:t>Execution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1333500" y="5581650"/>
            <a:ext cx="59055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low risk only, then the value is re-read and logged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734300" y="1047750"/>
            <a:ext cx="3771900" cy="3714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650" b="1">
                <a:solidFill>
                  <a:srgbClr val="0B1220"/>
                </a:solidFill>
                <a:latin typeface="Inter"/>
                <a:ea typeface="Inter"/>
              </a:rPr>
              <a:t>One rule, enforced twice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7734300" y="1552575"/>
            <a:ext cx="3771900" cy="914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200">
                <a:solidFill>
                  <a:srgbClr val="1A2434"/>
                </a:solidFill>
                <a:latin typeface="Inter"/>
                <a:ea typeface="Inter"/>
              </a:rPr>
              <a:t>Numbers must come from a tool. Risk levels must come from the action library. The model is not allowed to declare either one.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734300" y="2600325"/>
            <a:ext cx="3771900" cy="914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200">
                <a:solidFill>
                  <a:srgbClr val="1A2434"/>
                </a:solidFill>
                <a:latin typeface="Inter"/>
                <a:ea typeface="Inter"/>
              </a:rPr>
              <a:t>Both rules are written in the prompt and re-checked in code. The prompt exists so the model understands the system; the code is what makes the rule hold.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7734300" y="3724275"/>
            <a:ext cx="3771900" cy="9525"/>
          </a:xfrm>
          <a:prstGeom prst="rect">
            <a:avLst/>
          </a:prstGeom>
          <a:solidFill>
            <a:srgbClr val="E6EBF3"/>
          </a:solidFill>
          <a:ln/>
        </p:spPr>
        <p:txBody>
          <a:bodyPr/>
          <a:p>
            <a:pPr/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734300" y="3943350"/>
            <a:ext cx="3771900" cy="657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425" b="1">
                <a:solidFill>
                  <a:srgbClr val="0B1220"/>
                </a:solidFill>
                <a:latin typeface="Inter"/>
                <a:ea typeface="Inter"/>
              </a:rPr>
              <a:t>Prompt rules can be argued with.</a:t>
            </a:r>
            <a:endParaRPr/>
          </a:p>
          <a:p>
            <a:pPr>
              <a:lnSpc>
                <a:spcPct val="150000"/>
              </a:lnSpc>
            </a:pPr>
            <a:r>
              <a:rPr lang="en-US" sz="1425" b="1">
                <a:solidFill>
                  <a:srgbClr val="0B1220"/>
                </a:solidFill>
                <a:latin typeface="Inter"/>
                <a:ea typeface="Inter"/>
              </a:rPr>
              <a:t>Code cannot.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85800" y="6381750"/>
            <a:ext cx="5076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</a:rPr>
              <a:t>A mode is a capability boundary: the tool list is cut to the mode before the loop starts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10934700" y="6381750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JetBrains Mono"/>
                <a:ea typeface="JetBrains Mono"/>
              </a:rPr>
              <a:t>13 / 14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1220"/>
              </a:gs>
              <a:gs pos="62000">
                <a:srgbClr val="131E33"/>
              </a:gs>
              <a:gs pos="100000">
                <a:srgbClr val="0B1220"/>
              </a:gs>
            </a:gsLst>
            <a:lin ang="4200000" scaled="1"/>
          </a:gradFill>
          <a:ln/>
        </p:spPr>
        <p:txBody>
          <a:bodyPr/>
          <a:p>
            <a:pPr/>
            <a:endParaRPr/>
          </a:p>
        </p:txBody>
      </p:sp>
      <p:pic>
        <p:nvPicPr>
          <p:cNvPr id="1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85800" y="685800"/>
            <a:ext cx="10820400" cy="5486400"/>
          </a:xfrm>
          <a:prstGeom prst="rect">
            <a:avLst/>
          </a:prstGeom>
          <a:ln/>
        </p:spPr>
      </p:pic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4629150" y="1552575"/>
            <a:ext cx="2943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2F6BFF"/>
                </a:solidFill>
                <a:latin typeface="JetBrains Mono"/>
                <a:ea typeface="JetBrains Mono"/>
              </a:rPr>
              <a:t>AI BUILDER CUP 2026 · JAPAC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333500" y="1905000"/>
            <a:ext cx="9525000" cy="742950"/>
          </a:xfrm>
          <a:prstGeom prst="rect"/>
        </p:spPr>
        <p:txBody>
          <a:bodyPr wrap="none" lIns="0" tIns="0" rIns="0" bIns="0"/>
          <a:p>
            <a:pPr algn="ctr">
              <a:lnSpc>
                <a:spcPct val="125000"/>
              </a:lnSpc>
            </a:pPr>
            <a:r>
              <a:rPr lang="en-US" sz="3900" b="1">
                <a:solidFill>
                  <a:srgbClr val="FFFFFF"/>
                </a:solidFill>
                <a:latin typeface="Inter"/>
                <a:ea typeface="Inter"/>
              </a:rPr>
              <a:t>Acted on, not just recommended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1905000" y="2838450"/>
            <a:ext cx="8382000" cy="7334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60000"/>
              </a:lnSpc>
            </a:pPr>
            <a:r>
              <a:rPr lang="en-US" sz="1500">
                <a:solidFill>
                  <a:srgbClr val="94A3B8"/>
                </a:solidFill>
                <a:latin typeface="Inter"/>
                <a:ea typeface="Inter"/>
              </a:rPr>
              <a:t>The demo run ends with a verdict, an operation log entry, and a read-back that proves the write landed.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5638800" y="3857625"/>
            <a:ext cx="914400" cy="28575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828800" y="4133850"/>
            <a:ext cx="258127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FFFFFF">
                    <a:alpha val="50000"/>
                  </a:srgbClr>
                </a:solidFill>
                <a:latin typeface="JetBrains Mono"/>
                <a:ea typeface="JetBrains Mono"/>
              </a:rPr>
              <a:t>live demo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828800" y="4419600"/>
            <a:ext cx="25812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FFFFFF"/>
                </a:solidFill>
                <a:latin typeface="JetBrains Mono"/>
                <a:ea typeface="JetBrains Mono"/>
              </a:rPr>
              <a:t>gpu-waste-auditor-2026.web.app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4733925" y="4133850"/>
            <a:ext cx="9525" cy="704850"/>
          </a:xfrm>
          <a:prstGeom prst="rect">
            <a:avLst/>
          </a:prstGeom>
          <a:solidFill>
            <a:srgbClr val="FFFFFF">
              <a:alpha val="16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5067300" y="4133850"/>
            <a:ext cx="5305425" cy="2286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975">
                <a:solidFill>
                  <a:srgbClr val="FFFFFF">
                    <a:alpha val="50000"/>
                  </a:srgbClr>
                </a:solidFill>
                <a:latin typeface="JetBrains Mono"/>
                <a:ea typeface="JetBrains Mono"/>
              </a:rPr>
              <a:t>rerun the numbers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5067300" y="4419600"/>
            <a:ext cx="5305425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C7D2E0"/>
                </a:solidFill>
                <a:latin typeface="JetBrains Mono"/>
                <a:ea typeface="JetBrains Mono"/>
              </a:rPr>
              <a:t>verify_triage.mjs</a:t>
            </a:r>
            <a:r>
              <a:rPr lang="en-US" sz="1050">
                <a:solidFill>
                  <a:srgbClr val="C7D2E0"/>
                </a:solidFill>
                <a:latin typeface="JetBrains Mono"/>
                <a:ea typeface="JetBrains Mono"/>
              </a:rPr>
              <a:t xml:space="preserve">  </a:t>
            </a:r>
            <a:r>
              <a:rPr lang="en-US" sz="1050">
                <a:solidFill>
                  <a:srgbClr val="FFFFFF">
                    <a:alpha val="50000"/>
                  </a:srgbClr>
                </a:solidFill>
                <a:latin typeface="JetBrains Mono"/>
                <a:ea typeface="JetBrains Mono"/>
              </a:rPr>
              <a:t>rule baseline and result invariants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5067300" y="4733925"/>
            <a:ext cx="5305425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C7D2E0"/>
                </a:solidFill>
                <a:latin typeface="JetBrains Mono"/>
                <a:ea typeface="JetBrains Mono"/>
              </a:rPr>
              <a:t>verify_pipeline.mjs</a:t>
            </a:r>
            <a:r>
              <a:rPr lang="en-US" sz="1050">
                <a:solidFill>
                  <a:srgbClr val="C7D2E0"/>
                </a:solidFill>
                <a:latin typeface="JetBrains Mono"/>
                <a:ea typeface="JetBrains Mono"/>
              </a:rPr>
              <a:t xml:space="preserve">  </a:t>
            </a:r>
            <a:r>
              <a:rPr lang="en-US" sz="1050">
                <a:solidFill>
                  <a:srgbClr val="FFFFFF">
                    <a:alpha val="50000"/>
                  </a:srgbClr>
                </a:solidFill>
                <a:latin typeface="JetBrains Mono"/>
                <a:ea typeface="JetBrains Mono"/>
              </a:rPr>
              <a:t>81 / 81, fake transport and in-memory cluster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067300" y="5048250"/>
            <a:ext cx="5305425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C7D2E0"/>
                </a:solidFill>
                <a:latin typeface="JetBrains Mono"/>
                <a:ea typeface="JetBrains Mono"/>
              </a:rPr>
              <a:t>browser_check.mjs</a:t>
            </a:r>
            <a:r>
              <a:rPr lang="en-US" sz="1050">
                <a:solidFill>
                  <a:srgbClr val="C7D2E0"/>
                </a:solidFill>
                <a:latin typeface="JetBrains Mono"/>
                <a:ea typeface="JetBrains Mono"/>
              </a:rPr>
              <a:t xml:space="preserve">  </a:t>
            </a:r>
            <a:r>
              <a:rPr lang="en-US" sz="1050">
                <a:solidFill>
                  <a:srgbClr val="FFFFFF">
                    <a:alpha val="50000"/>
                  </a:srgbClr>
                </a:solidFill>
                <a:latin typeface="JetBrains Mono"/>
                <a:ea typeface="JetBrains Mono"/>
              </a:rPr>
              <a:t>31 / 31, real Chrome against real Firestore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85800" y="6010275"/>
            <a:ext cx="2609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45000"/>
                  </a:srgbClr>
                </a:solidFill>
                <a:latin typeface="Inter"/>
                <a:ea typeface="Inter"/>
              </a:rPr>
              <a:t>Training Failure Triage · AI Builder Cup 2026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0934700" y="6010275"/>
            <a:ext cx="571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45000"/>
                  </a:srgbClr>
                </a:solidFill>
                <a:latin typeface="JetBrains Mono"/>
                <a:ea typeface="JetBrains Mono"/>
              </a:rPr>
              <a:t>14 / 14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2026-10-14T19:58:21Z</dcterms:created>
  <dcterms:modified xsi:type="dcterms:W3CDTF">2026-10-14T19:58:21Z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{"AIGC":{"Label":"1","ContentProducer":"00119111010856365494821B355","ProduceID":"01a13957c12274a99961c5003bd08336","ReservedCode1":"","ContentPropagator":"00119111010856365494821B355","PropagateID":"01a13957c12274a99961c5003bd08336","ReservedCode2":""}}</vt:lpwstr>
  </property>
</Properties>
</file>